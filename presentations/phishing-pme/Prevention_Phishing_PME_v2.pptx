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custShowLst>
    <p:custShow name="Version Direction (20 min)" id="0">
      <p:sldLst>
        <p:sld r:id="rId2"/>
        <p:sld r:id="rId3"/>
        <p:sld r:id="rId6"/>
        <p:sld r:id="rId7"/>
        <p:sld r:id="rId8"/>
        <p:sld r:id="rId9"/>
        <p:sld r:id="rId10"/>
        <p:sld r:id="rId12"/>
        <p:sld r:id="rId16"/>
        <p:sld r:id="rId17"/>
        <p:sld r:id="rId25"/>
        <p:sld r:id="rId26"/>
        <p:sld r:id="rId27"/>
        <p:sld r:id="rId28"/>
        <p:sld r:id="rId29"/>
        <p:sld r:id="rId31"/>
      </p:sldLst>
    </p:custShow>
    <p:custShow name="Version Équipes (30 min)" id="1">
      <p:sldLst>
        <p:sld r:id="rId2"/>
        <p:sld r:id="rId4"/>
        <p:sld r:id="rId5"/>
        <p:sld r:id="rId6"/>
        <p:sld r:id="rId7"/>
        <p:sld r:id="rId11"/>
        <p:sld r:id="rId13"/>
        <p:sld r:id="rId14"/>
        <p:sld r:id="rId15"/>
        <p:sld r:id="rId16"/>
        <p:sld r:id="rId17"/>
        <p:sld r:id="rId18"/>
        <p:sld r:id="rId19"/>
        <p:sld r:id="rId20"/>
        <p:sld r:id="rId21"/>
        <p:sld r:id="rId22"/>
        <p:sld r:id="rId23"/>
        <p:sld r:id="rId24"/>
        <p:sld r:id="rId25"/>
        <p:sld r:id="rId26"/>
        <p:sld r:id="rId30"/>
        <p:sld r:id="rId31"/>
      </p:sldLst>
    </p:custShow>
  </p:custShow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240e3f3-3cf6-633e-c774-65b334966491}">
          <p14:sldIdLst>
            <p14:sldId id="256"/>
            <p14:sldId id="257"/>
            <p14:sldId id="258"/>
          </p14:sldIdLst>
        </p14:section>
        <p14:section name="01 · La menace" id="{d17d8513-be47-6985-6b36-81916b86ad9c}">
          <p14:sldIdLst>
            <p14:sldId id="259"/>
            <p14:sldId id="260"/>
            <p14:sldId id="261"/>
            <p14:sldId id="262"/>
            <p14:sldId id="263"/>
            <p14:sldId id="264"/>
            <p14:sldId id="265"/>
            <p14:sldId id="266"/>
          </p14:sldIdLst>
        </p14:section>
        <p14:section name="02 · Reconnaître" id="{d59323fe-ede4-7b79-14f9-9bbb8c9beeae}">
          <p14:sldIdLst>
            <p14:sldId id="267"/>
            <p14:sldId id="268"/>
            <p14:sldId id="269"/>
            <p14:sldId id="270"/>
            <p14:sldId id="271"/>
            <p14:sldId id="272"/>
            <p14:sldId id="273"/>
          </p14:sldIdLst>
        </p14:section>
        <p14:section name="03 · Réflexes" id="{e62cb861-65c0-0d17-1fea-f451856110d0}">
          <p14:sldIdLst>
            <p14:sldId id="274"/>
            <p14:sldId id="275"/>
            <p14:sldId id="276"/>
            <p14:sldId id="277"/>
          </p14:sldIdLst>
        </p14:section>
        <p14:section name="04 · Plan d'action" id="{fe2578df-801b-9723-bfd3-6a9b727c6533}">
          <p14:sldIdLst>
            <p14:sldId id="278"/>
            <p14:sldId id="279"/>
            <p14:sldId id="280"/>
            <p14:sldId id="281"/>
            <p14:sldId id="282"/>
            <p14:sldId id="283"/>
          </p14:sldIdLst>
        </p14:section>
        <p14:section name="Conclusion" id="{46ca8c85-4691-661f-1e3c-e752e5344a36}">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2024</c:v>
                </c:pt>
              </c:strCache>
            </c:strRef>
          </c:tx>
          <c:spPr>
            <a:solidFill>
              <a:srgbClr val="A9B8C6"/>
            </a:solidFill>
            <a:effectLst/>
          </c:spPr>
          <c:invertIfNegative val="0"/>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cat>
            <c:multiLvlStrRef>
              <c:f>Sheet1!$A$2:$A$4</c:f>
              <c:multiLvlStrCache>
                <c:ptCount val="3"/>
                <c:lvl>
                  <c:pt idx="0">
                    <c:v>Phishing</c:v>
                  </c:pt>
                  <c:pt idx="1">
                    <c:v>Failles de sécurité</c:v>
                  </c:pt>
                  <c:pt idx="2">
                    <c:v>Sites infectés</c:v>
                  </c:pt>
                </c:lvl>
              </c:multiLvlStrCache>
            </c:multiLvlStrRef>
          </c:cat>
          <c:val>
            <c:numRef>
              <c:f>Sheet1!$B$2:$B$4</c:f>
              <c:numCache>
                <c:formatCode>General</c:formatCode>
                <c:ptCount val="3"/>
                <c:pt idx="0">
                  <c:v>24</c:v>
                </c:pt>
                <c:pt idx="1">
                  <c:v>14</c:v>
                </c:pt>
                <c:pt idx="2">
                  <c:v>5</c:v>
                </c:pt>
              </c:numCache>
            </c:numRef>
          </c:val>
        </c:ser>
        <c:ser>
          <c:idx val="1"/>
          <c:order val="1"/>
          <c:tx>
            <c:strRef>
              <c:f>Sheet1!$C$1</c:f>
              <c:strCache>
                <c:ptCount val="1"/>
                <c:pt idx="0">
                  <c:v>2025</c:v>
                </c:pt>
              </c:strCache>
            </c:strRef>
          </c:tx>
          <c:spPr>
            <a:solidFill>
              <a:srgbClr val="E8531F"/>
            </a:solidFill>
            <a:effectLst/>
          </c:spPr>
          <c:invertIfNegative val="0"/>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cat>
            <c:multiLvlStrRef>
              <c:f>Sheet1!$A$2:$A$4</c:f>
              <c:multiLvlStrCache>
                <c:ptCount val="3"/>
                <c:lvl>
                  <c:pt idx="0">
                    <c:v>Phishing</c:v>
                  </c:pt>
                  <c:pt idx="1">
                    <c:v>Failles de sécurité</c:v>
                  </c:pt>
                  <c:pt idx="2">
                    <c:v>Sites infectés</c:v>
                  </c:pt>
                </c:lvl>
              </c:multiLvlStrCache>
            </c:multiLvlStrRef>
          </c:cat>
          <c:val>
            <c:numRef>
              <c:f>Sheet1!$C$2:$C$4</c:f>
              <c:numCache>
                <c:formatCode>General</c:formatCode>
                <c:ptCount val="3"/>
                <c:pt idx="0">
                  <c:v>43</c:v>
                </c:pt>
                <c:pt idx="1">
                  <c:v>18</c:v>
                </c:pt>
                <c:pt idx="2">
                  <c:v>11</c:v>
                </c:pt>
              </c:numCache>
            </c:numRef>
          </c:val>
        </c:ser>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4212E"/>
                </a:solidFill>
                <a:latin typeface="+mn-lt"/>
              </a:defRPr>
            </a:pPr>
            <a:endParaRPr lang="en-US"/>
          </a:p>
        </c:txPr>
        <c:crossAx val="2094734552"/>
        <c:crosses val="autoZero"/>
        <c:auto val="1"/>
        <c:lblAlgn val="ctr"/>
        <c:noMultiLvlLbl val="1"/>
      </c:catAx>
      <c:valAx>
        <c:axId val="2094734552"/>
        <c:scaling>
          <c:orientation val="minMax"/>
          <c:max val="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E6A8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Part des demandes</c:v>
                </c:pt>
              </c:strCache>
            </c:strRef>
          </c:tx>
          <c:spPr>
            <a:solidFill>
              <a:srgbClr val="4E6A84"/>
            </a:solidFill>
            <a:effectLst/>
          </c:spPr>
          <c:invertIfNegative val="0"/>
          <c:dLbls>
            <c:numFmt formatCode="[&gt;=16]0&quot; %&quot;;0.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dPt>
            <c:idx val="0"/>
            <c:invertIfNegative val="0"/>
            <c:bubble3D val="0"/>
            <c:spPr>
              <a:solidFill>
                <a:srgbClr val="4E6A84"/>
              </a:solidFill>
              <a:effectLst/>
            </c:spPr>
          </c:dPt>
          <c:dPt>
            <c:idx val="1"/>
            <c:invertIfNegative val="0"/>
            <c:bubble3D val="0"/>
            <c:spPr>
              <a:solidFill>
                <a:srgbClr val="E8531F"/>
              </a:solidFill>
              <a:effectLst/>
            </c:spPr>
          </c:dPt>
          <c:dPt>
            <c:idx val="2"/>
            <c:invertIfNegative val="0"/>
            <c:bubble3D val="0"/>
            <c:spPr>
              <a:solidFill>
                <a:srgbClr val="4E6A84"/>
              </a:solidFill>
              <a:effectLst/>
            </c:spPr>
          </c:dPt>
          <c:dPt>
            <c:idx val="3"/>
            <c:invertIfNegative val="0"/>
            <c:bubble3D val="0"/>
            <c:spPr>
              <a:solidFill>
                <a:srgbClr val="4E6A84"/>
              </a:solidFill>
              <a:effectLst/>
            </c:spPr>
          </c:dPt>
          <c:cat>
            <c:multiLvlStrRef>
              <c:f>Sheet1!$A$2:$A$5</c:f>
              <c:multiLvlStrCache>
                <c:ptCount val="4"/>
                <c:lvl>
                  <c:pt idx="0">
                    <c:v>Piratage de compte</c:v>
                  </c:pt>
                  <c:pt idx="1">
                    <c:v>Hameçonnage</c:v>
                  </c:pt>
                  <c:pt idx="2">
                    <c:v>Faux ordres de virement</c:v>
                  </c:pt>
                  <c:pt idx="3">
                    <c:v>Rançongiciels</c:v>
                  </c:pt>
                </c:lvl>
              </c:multiLvlStrCache>
            </c:multiLvlStrRef>
          </c:cat>
          <c:val>
            <c:numRef>
              <c:f>Sheet1!$B$2:$B$5</c:f>
              <c:numCache>
                <c:formatCode>General</c:formatCode>
                <c:ptCount val="4"/>
                <c:pt idx="0">
                  <c:v>21</c:v>
                </c:pt>
                <c:pt idx="1">
                  <c:v>16</c:v>
                </c:pt>
                <c:pt idx="2">
                  <c:v>13.5</c:v>
                </c:pt>
                <c:pt idx="3">
                  <c:v>8.1</c:v>
                </c:pt>
              </c:numCache>
            </c:numRef>
          </c:val>
        </c:ser>
        <c:dLbls>
          <c:numFmt formatCode="[&gt;=16]0&quot; %&quot;;0.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4212E"/>
                </a:solidFill>
                <a:latin typeface="+mn-lt"/>
              </a:defRPr>
            </a:pPr>
            <a:endParaRPr lang="en-US"/>
          </a:p>
        </c:txPr>
        <c:crossAx val="2094734552"/>
        <c:crosses val="autoZero"/>
        <c:auto val="1"/>
        <c:lblAlgn val="ctr"/>
        <c:noMultiLvlLbl val="1"/>
      </c:catAx>
      <c:valAx>
        <c:axId val="2094734552"/>
        <c:scaling>
          <c:orientation val="minMax"/>
          <c:max val="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PME équipées</c:v>
                </c:pt>
              </c:strCache>
            </c:strRef>
          </c:tx>
          <c:spPr>
            <a:solidFill>
              <a:srgbClr val="0F7C76"/>
            </a:solidFill>
            <a:effectLst/>
          </c:spPr>
          <c:invertIfNegative val="0"/>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dPt>
            <c:idx val="0"/>
            <c:invertIfNegative val="0"/>
            <c:bubble3D val="0"/>
            <c:spPr>
              <a:solidFill>
                <a:srgbClr val="0F7C76"/>
              </a:solidFill>
              <a:effectLst/>
            </c:spPr>
          </c:dPt>
          <c:dPt>
            <c:idx val="1"/>
            <c:invertIfNegative val="0"/>
            <c:bubble3D val="0"/>
            <c:spPr>
              <a:solidFill>
                <a:srgbClr val="0F7C76"/>
              </a:solidFill>
              <a:effectLst/>
            </c:spPr>
          </c:dPt>
          <c:dPt>
            <c:idx val="2"/>
            <c:invertIfNegative val="0"/>
            <c:bubble3D val="0"/>
            <c:spPr>
              <a:solidFill>
                <a:srgbClr val="0F7C76"/>
              </a:solidFill>
              <a:effectLst/>
            </c:spPr>
          </c:dPt>
          <c:dPt>
            <c:idx val="3"/>
            <c:invertIfNegative val="0"/>
            <c:bubble3D val="0"/>
            <c:spPr>
              <a:solidFill>
                <a:srgbClr val="E8531F"/>
              </a:solidFill>
              <a:effectLst/>
            </c:spPr>
          </c:dPt>
          <c:dPt>
            <c:idx val="4"/>
            <c:invertIfNegative val="0"/>
            <c:bubble3D val="0"/>
            <c:spPr>
              <a:solidFill>
                <a:srgbClr val="0F7C76"/>
              </a:solidFill>
              <a:effectLst/>
            </c:spPr>
          </c:dPt>
          <c:cat>
            <c:multiLvlStrRef>
              <c:f>Sheet1!$A$2:$A$6</c:f>
              <c:multiLvlStrCache>
                <c:ptCount val="5"/>
                <c:lvl>
                  <c:pt idx="0">
                    <c:v>Sauvegardes</c:v>
                  </c:pt>
                  <c:pt idx="1">
                    <c:v>Politique de mots de passe</c:v>
                  </c:pt>
                  <c:pt idx="2">
                    <c:v>Gestionnaire de mots de passe</c:v>
                  </c:pt>
                  <c:pt idx="3">
                    <c:v>Double authentification (MFA)</c:v>
                  </c:pt>
                  <c:pt idx="4">
                    <c:v>Détection des attaques</c:v>
                  </c:pt>
                </c:lvl>
              </c:multiLvlStrCache>
            </c:multiLvlStrRef>
          </c:cat>
          <c:val>
            <c:numRef>
              <c:f>Sheet1!$B$2:$B$6</c:f>
              <c:numCache>
                <c:formatCode>General</c:formatCode>
                <c:ptCount val="5"/>
                <c:pt idx="0">
                  <c:v>78</c:v>
                </c:pt>
                <c:pt idx="1">
                  <c:v>51</c:v>
                </c:pt>
                <c:pt idx="2">
                  <c:v>46</c:v>
                </c:pt>
                <c:pt idx="3">
                  <c:v>26</c:v>
                </c:pt>
                <c:pt idx="4">
                  <c:v>16</c:v>
                </c:pt>
              </c:numCache>
            </c:numRef>
          </c:val>
        </c:ser>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4212E"/>
                </a:solidFill>
                <a:latin typeface="+mn-lt"/>
              </a:defRPr>
            </a:pPr>
            <a:endParaRPr lang="en-US"/>
          </a:p>
        </c:txPr>
        <c:crossAx val="2094734552"/>
        <c:crosses val="autoZero"/>
        <c:auto val="1"/>
        <c:lblAlgn val="ctr"/>
        <c:noMultiLvlLbl val="1"/>
      </c:catAx>
      <c:valAx>
        <c:axId val="2094734552"/>
        <c:scaling>
          <c:orientation val="minMax"/>
          <c:max val="9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Accès initial</c:v>
                </c:pt>
              </c:strCache>
            </c:strRef>
          </c:tx>
          <c:spPr>
            <a:solidFill>
              <a:srgbClr val="4E6A84"/>
            </a:solidFill>
            <a:effectLst/>
          </c:spPr>
          <c:invertIfNegative val="0"/>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dPt>
            <c:idx val="0"/>
            <c:invertIfNegative val="0"/>
            <c:bubble3D val="0"/>
            <c:spPr>
              <a:solidFill>
                <a:srgbClr val="4E6A84"/>
              </a:solidFill>
              <a:effectLst/>
            </c:spPr>
          </c:dPt>
          <c:dPt>
            <c:idx val="1"/>
            <c:invertIfNegative val="0"/>
            <c:bubble3D val="0"/>
            <c:spPr>
              <a:solidFill>
                <a:srgbClr val="4E6A84"/>
              </a:solidFill>
              <a:effectLst/>
            </c:spPr>
          </c:dPt>
          <c:dPt>
            <c:idx val="2"/>
            <c:invertIfNegative val="0"/>
            <c:bubble3D val="0"/>
            <c:spPr>
              <a:solidFill>
                <a:srgbClr val="E8531F"/>
              </a:solidFill>
              <a:effectLst/>
            </c:spPr>
          </c:dPt>
          <c:cat>
            <c:multiLvlStrRef>
              <c:f>Sheet1!$A$2:$A$4</c:f>
              <c:multiLvlStrCache>
                <c:ptCount val="3"/>
                <c:lvl>
                  <c:pt idx="0">
                    <c:v>Identifiants volés</c:v>
                  </c:pt>
                  <c:pt idx="1">
                    <c:v>Failles exploitées</c:v>
                  </c:pt>
                  <c:pt idx="2">
                    <c:v>Phishing</c:v>
                  </c:pt>
                </c:lvl>
              </c:multiLvlStrCache>
            </c:multiLvlStrRef>
          </c:cat>
          <c:val>
            <c:numRef>
              <c:f>Sheet1!$B$2:$B$4</c:f>
              <c:numCache>
                <c:formatCode>General</c:formatCode>
                <c:ptCount val="3"/>
                <c:pt idx="0">
                  <c:v>22</c:v>
                </c:pt>
                <c:pt idx="1">
                  <c:v>20</c:v>
                </c:pt>
                <c:pt idx="2">
                  <c:v>16</c:v>
                </c:pt>
              </c:numCache>
            </c:numRef>
          </c:val>
        </c:ser>
        <c:dLbls>
          <c:numFmt formatCode="0&quot; %&quot;" sourceLinked="0"/>
          <c:txPr>
            <a:bodyPr/>
            <a:lstStyle/>
            <a:p>
              <a:pPr>
                <a:defRPr b="0" i="0" strike="noStrike" sz="1300" u="none">
                  <a:solidFill>
                    <a:srgbClr val="1421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4212E"/>
                </a:solidFill>
                <a:latin typeface="+mn-lt"/>
              </a:defRPr>
            </a:pPr>
            <a:endParaRPr lang="en-US"/>
          </a:p>
        </c:txPr>
        <c:crossAx val="2094734552"/>
        <c:crosses val="autoZero"/>
        <c:auto val="1"/>
        <c:lblAlgn val="ctr"/>
        <c:noMultiLvlLbl val="1"/>
      </c:catAx>
      <c:valAx>
        <c:axId val="2094734552"/>
        <c:scaling>
          <c:orientation val="minMax"/>
          <c:max val="2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30 min avec le quiz (version Équipes) ou 20 min (version Direction).
Deux diaporamas personnalisés sont prêts dans ce fichier : Diaporama &gt; Diaporama personnalisé &gt; « Version Direction » ou « Version Équipes ». Le diaporama complet reste disponible.
Accroche (Équipes) : « Levez la main si vous avez reçu un e-mail ou un SMS suspect cette semaine. » Presque toutes les mains se lèvent : le sujet concerne tout le monde.
Accroche (Direction) : « Le phishing est devenu en un an la première cause d'incident déclarée par les PME. Je vais vous montrer pourquoi, ce que cela peut coûter, et trois décisions simples pour réduire ce risque.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clé pour la direction : tout est là en une minute.
1. La menace : le phishing est passé de 24 % à 43 % des causes d'incident identifiées par les PME victimes en un an (baromètre Cybermalveillance.gouv.fr / OpinionWay 2025).
2. Le paradoxe : 58 % des PME se jugent bien protégées, mais 80 % reconnaissent ne pas être prêtes (49 %) ou ne pas savoir (31 %).
3. L'enjeu financier : les demandes d'assistance pour faux ordres de virement ont progressé de 93 % en 2025 (rapport d'activité Cybermalveillance.gouv.fr).
4. La réponse : trois décisions peu coûteuses, détaillées en fin de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Annoncez le déroulé et la règle du jeu : questions bienvenues à tout moment, le quiz est anonyme et sans piège.
Version Direction : on passe vite sur la partie 02 et on s'attarde sur la partie 04 (décisions).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 Commençons par les faits. Tous les chiffres viennent de sources publiques, listées en fin de présentation.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attaquants cherchent la facilité, pas la taille. Une PME a souvent peu de procédures écrites, peu de budget sécurité et des circuits de validation courts : c'est exactement ce que visent les fraudeurs.
Question à poser : « Qui pense que notre entreprise est trop petite pour intéresser un pirate ? »
Chiffres : baromètre Cybermalveillance.gouv.fr / OpinionWay, octobre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Parmi les PME victimes d'un incident, 7 sur 10 savent en identifier la cause. Le phishing arrive très loin devant : 43 %, contre 24 % l'année précédente. Les failles de sécurité passent de 14 à 18 %, les sites infectés de 5 à 11 %.
Attention : plusieurs causes pouvaient être citées, d'où un total qui ne fait pas 100 % ; c'est pourquoi on compare les évolutions et non des parts d'un camembert.
Tous publics confondus, les demandes d'assistance pour hameçonnage ont bondi de 70 % en 2025 (rapport d'activité Cybermalveillance.gouv.fr, mars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les motifs des demandes d'assistance des entreprises et associations auprès de Cybermalveillance.gouv.fr en 2025 : piratage de compte 21 % (+52 %), hameçonnage 16 % (+29 %), faux ordres de virement 13,5 % (+93 %), rançongiciels 8,1 %.
Le message : ces menaces sont liées. Le phishing vole un identifiant, l'identifiant ouvre la messagerie, la messagerie permet le faux virement ou l'installation d'un rançongiciel.
Le chiffre à faire retenir à la direction : +93 % de faux ordres de virement en un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du sujet pour une direction : la confiance progresse beaucoup plus vite que la préparation réelle.
58 % des PME se jugent bien protégées (39 % en 2024), mais 80 % ne se sentent pas prêtes face à une attaque et 6 sur 10 ne sauraient pas en évaluer les conséquences.
Question à poser à la direction : « Si notre messagerie était bloquée demain matin, savons-nous combien de temps nous tiendrions, et qui fait quoi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sauvegardes sont largement répandues (78 %), mais la double authentification, qui est la parade la plus directe au vol d'identifiants par phishing, ne concerne que 26 % des PME (+6 points en un an).
Une étude de Microsoft Research (2023) portant sur des millions de comptes montre que le MFA réduit le risque de compromission de 99,2 %.
Nuance importante : tous les MFA ne se valent pas. Le code par SMS reste contournable (voir la diapositive sur l'IA) ; une application d'authentification ou une clé de sécurité est préférable.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Selon le Verizon DBIR 2025, environ 60 % des violations impliquent un facteur humain. Pour l'accès initial, les identifiants volés arrivent en tête (22 %), devant les failles exploitées (20 %) et le phishing (16 %). Or une grande partie des identifiants volés l'ont été… par phishing.
Point contre-intuitif à souligner : la formation fait peu baisser le taux de clic, mais elle multiplie par 4 le taux de signalement (21 % contre 5 %). L'objectif n'est donc pas la perfection mais la vitesse d'alerte.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à fort impact pour la direction, et souvent méconnue.
1. Depuis avril 2023 (loi LOPMI), l'indemnisation par une assurance cyber des pertes liées à une cyberattaque est conditionnée au dépôt d'une plainte au plus tard 72 heures après la découverte de l'attaque. Cette règle est d'ordre public : le contrat ne peut pas y déroger.
2. Le RGPD impose de notifier la CNIL dans les 72 heures en cas de violation de données personnelles présentant un risque pour les personnes.
Conséquence directe : un collaborateur qui cache un clic par peur ou par honte peut faire perdre l'indemnisation. D'où l'importance d'une culture du signalement sans sanction.
À vérifier avec notre assureur : avons-nous une garantie cyber, et quelles sont ses conditions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 Passons à la pratique. Comment repérer un message piégé, et pourquoi l'intelligence artificielle change les règles du jeu.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Parcourez les 5 indices dans l'ordre, en montrant chaque numéro dans l'e-mail.
1. L'adresse « micr0soft » utilise un zéro à la place du « o ». Toujours lire le domaine après le @, pas le nom affiché.
2. Urgence et menace : « sous 24 h », « suspendu ». C'est le levier n°1 de manipulation.
3. Pièce jointe .zip non attendue : ne jamais l'ouvrir.
4. « Cher utilisateur » : un vrai service vous appelle par votre nom. Les fautes (« à été », « verifier ») sont encore un indice, MAIS avec l'IA elles disparaissent : leur absence ne prouve rien.
5. Le bouton cache une adresse raccourcie. Démonstration : survoler un lien avec la souris (ou appui long sur mobile) affiche la vraie destination.
Rappel : en cas de doute, on ne clique pas, on vérifie, on signale.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phishing ne passe plus seulement par l'e-mail : SMS, téléphone, QR codes et messageries professionnelles sont aussi utilisés, souvent combinés (un e-mail suivi d'un appel « pour confirmer »).
La fraude au président est en général la plus coûteuse pour une PME : elle joue sur l'autorité, l'urgence et la confidentialité.
Le quishing est en forte progression : un QR code ne montre pas son adresse avant d'être scanné.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 nouvelle donne » : c'est ce que la plupart des formations n'abordent pas encore.
1. L'IA générative écrit des messages sans fautes, dans un français parfait, personnalisés grâce aux données issues des fuites massives de 2025 (opérateurs, distributeurs, mutuelles…). Le conseil « repérez les fautes » ne suffit plus.
2. Affaire Arup (janvier 2024) : un salarié du bureau de Hong Kong a effectué 15 virements pour environ 200 millions de dollars de Hong Kong (≈ 25 M$) après une visioconférence où le directeur financier et plusieurs collègues étaient générés par IA. Une voix peut aujourd'hui être clonée à partir de quelques secondes d'enregistrement.
3. Les kits « adversary-in-the-middle » relaient en temps réel le mot de passe ET le code MFA. Les clés de sécurité et les passkeys (FIDO2) résistent à cette technique.
La parade universelle : vérifier toute demande d'argent, d'identifiants, urgente ou secrète par un autre canal, connu à l'avance.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Scénario illustratif, inspiré de cas très fréquents en PME. Racontez-le comme une histoire, étape par étape.
Point clé : la fraude réussit parce que personne ne vérifie par un autre canal. Le mail du « fournisseur » peut même venir de sa vraie adresse s'il a lui-même été piraté.
Les trois parades coupent la chaîne à trois endroits : le MFA empêche l'intrusion, la double validation bloque le changement de RIB, le rappel sur un numéro connu démasque la fraude.
Si un virement frauduleux part : appeler immédiatement la banque pour demander un rappel des fonds. Chaque heure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Laissez 2 à 3 minutes. Faites voter à main levée pour chaque e-mail, ou par sondage Teams si la session est à distance.
Ne donnez pas les réponses tout de suite : demandez d'abord « Quel indice vous a fait douter ? ». Les réponses sont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1 : PIÉGÉ. Le domaine n'est pas impots.gouv.fr, l'administration n'envoie pas de lien pour un remboursement, et le délai de 24 h sert à vous presser.
E-mail 2 : LÉGITIME a priori : collègue connu, domaine de l'entreprise, réunion attendue. Mais si la pièce jointe demande de « se reconnecter pour l'ouvrir », c'est un signal d'alerte : un compte de collègue peut être piraté.
E-mail 3 : PIÉGÉ. Fraude au président typique : adresse externe, urgence, confidentialité et surtout « ne m'appelez pas », qui empêche la vérification.
Faites le lien avec la diapositive « La direction, premier rempart » : la direction s'engage à ne jamais demander de virement de cette façon.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 On sait reconnaître une attaque. Voyons maintenant les réflexes, y compris quand on a cliqué, car ça arrive à tout le monde.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réflexes tiennent sur une affiche A4 fournie avec cette présentation : proposez de l'imprimer et de l'afficher près des postes de travail, de la photocopieuse et de la machine à café.
Insistez sur le dernier : signaler n'est jamais ridicule. Une fausse alerte coûte 2 minutes ; une vraie alerte non signalée peut coûter des semaines.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on ne cache rien. Plus l'alerte est rapide, plus les dégâts sont limités.
Étape 2 : on déconnecte du réseau mais on n'éteint pas, pour préserver les traces utiles à l'enquête.
Étape 5 : 17Cyber.gouv.fr est le guichet officiel (police, gendarmerie et Cybermalveillance.gouv.fr), ouvert 24 h/24. En cas de préjudice, déposer plainte dans les 72 heures, condition de l'indemnisation par l'assurance cyber.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réflexe est toujours interne : le service informatique. Complétez ici le numéro de poste et l'adresse de signalement de l'entreprise avant la session.
17Cyber.gouv.fr : guichet unique lancé fin 2024 par la police, la gendarmerie et Cybermalveillance.gouv.fr, disponible 24 h/24.
signal-spam.fr pour les e-mails, 33700 pour les SMS et appels frauduleux (transfert gratuit).
Le QR code est un exercice : invitez la salle à le scanner SANS ouvrir le lien, et à vérifier que l'adresse affichée est bien 17cyber.gouv.fr. C'est exactement le réflexe à avoir face à un QR code inconnu.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 Les réflexes individuels ne suffisent pas : il faut des procédures et quelques outils. Voici le plan proposé.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la plus importante pour la direction, et celle que l'on oublie presque toujours.
La fraude au président fonctionne parce qu'un collaborateur n'ose pas contester ou vérifier un ordre venant d'en haut. Le seul antidote est que la direction autorise explicitement, et à l'avance, cette vérification.
Proposition concrète : un court message de la direction à tous les collaborateurs reprenant l'engagement n°1, et une procédure écrite de validation des virements.
Avant de montrer cette diapositive en version Équipes, s'assurer que la direction a validé ces engagements.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plan réaliste pour une PME : commencer par ce qui coûte peu et protège beaucoup.
30 jours : MFA (seules 26 % des PME l'ont activé) et double validation des virements : ce sont les deux mesures qui auraient bloqué le scénario du faux RIB.
90 jours : SPF, DKIM et DMARC sont des réglages DNS gratuits qui empêchent un fraudeur d'envoyer des e-mails « depuis » notre domaine à nos clients et fournisseurs. Peu d'entreprises y pensent.
12 mois : installer la culture. Les simulations servent à mesurer et à entraîner, jamais à sanctionner. Les clés de sécurité et passkeys (FIDO2) résistent aux kits qui contournent le MFA par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pour la direction : l'essentiel de la protection contre le phishing ne coûte presque rien. Ce sont des procédures et des réglages, pas des investissements lourds.
La double validation des virements est gratuite et aurait bloqué la majorité des fraudes au faux RIB.
Le MFA est généralement inclus dans les abonnements Microsoft 365 ou Google Workspace.
DMARC est un simple enregistrement DNS ; il faut seulement un peu de temps pour l'activer progressivement sans bloquer nos propres e-mails.
SensCyber est le programme d'e-sensibilisation gratuit de Cybermalveillance.gouv.fr (3 modules de 25 à 45 minutes, avec attestation).
Ces estimations sont indicatives : à affiner avec nos outils et nos prestataires.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ne se mesure pas ne progresse pas. Quatre indicateurs simples suffisent, et ils se lisent en 30 secondes.
Le plus important n'est pas le taux de clic mais le taux de signalement : l'objectif est d'avoir plus de personnes qui signalent que de personnes qui cliquent.
Les cibles sont des propositions à valider avec la direction, pas des normes.
Repère : Verizon DBIR 2025, 21 % de signalement chez les collaborateurs récemment formés contre 5 % en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de décision : laissez-la affichée pendant la discussion.
Formulez une demande claire : « Pouvons-nous valider ces trois décisions aujourd'hui, et fixer le point d'étape à 90 jours ? »
Si la direction hésite sur le coût : rappeler que les deux premières décisions sont quasiment gratuites et qu'elles auraient bloqué le scénario du faux RIB.
Si la direction hésite sur la contrainte : rappeler que la fraude au président cible d'abord… la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en trois idées : s'arrêter et vérifier, protéger les accès, signaler vite.
Faites répéter la devise : « Dans le doute : je ne clique pas, je vérifie, je signale.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fréquentes à anticiper :
« Et si je me trompe en signalant un vrai e-mail ? » Aucun problème : c'est exactement ce qu'on attend.
« Le MFA, c'est contraignant ? » Quelques secondes par connexion, et souvent une seule fois par appareil.
« On a un antivirus, ça ne suffit pas ? » Non : le phishing vise la personne, pas la machine. Un mot de passe saisi sur un faux site ne déclenche aucun antivirus.
« Les simulations, c'est pour piéger les gens ? » Non : elles servent à s'entraîner et à mesurer, jamais à sanctionner.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sources sont publiques. Les chiffres ont été vérifiés en octobre 2026 ; les mettre à jour à chaque nouvelle édition du baromètre (en général à l'automne) et du rapport d'activité (au printemps).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_MENAC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400" b="1" spc="15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Sensibilisation au phishing · Octobre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_PROTECTION">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400" b="1" spc="15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Sensibilisation au phishing · Octobre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_SOMBRE">
    <p:bg>
      <p:bgPr>
        <a:solidFill>
          <a:srgbClr val="0E223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400" b="1" spc="15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Sensibilisation au phishing · Octobre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p:bg>
      <p:bgPr>
        <a:solidFill>
          <a:srgbClr val="0E223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4008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114800"/>
            <a:ext cx="640080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p:bg>
      <p:bgPr>
        <a:solidFill>
          <a:srgbClr val="0E223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154680"/>
            <a:ext cx="6949440" cy="868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114800"/>
            <a:ext cx="676656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5.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6.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3.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3.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5.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920240"/>
            <a:ext cx="6858000" cy="320040"/>
          </a:xfrm>
          <a:prstGeom prst="rect">
            <a:avLst/>
          </a:prstGeom>
          <a:noFill/>
          <a:ln/>
        </p:spPr>
        <p:txBody>
          <a:bodyPr wrap="square" lIns="0" tIns="0" rIns="0" bIns="0" rtlCol="0" anchor="t"/>
          <a:lstStyle/>
          <a:p>
            <a:pPr indent="0" marL="0">
              <a:buNone/>
            </a:pPr>
            <a:r>
              <a:rPr lang="en-US" sz="1400" b="1" spc="150" kern="0" dirty="0">
                <a:solidFill>
                  <a:schemeClr val="accent1"/>
                </a:solidFill>
              </a:rPr>
              <a:t>OCTOBRE 2026 · MOIS EUROPÉEN DE LA CYBERSÉCURITÉ</a:t>
            </a:r>
            <a:endParaRPr lang="en-US" sz="1400" dirty="0"/>
          </a:p>
        </p:txBody>
      </p:sp>
      <p:sp>
        <p:nvSpPr>
          <p:cNvPr id="3" name="Text 0"/>
          <p:cNvSpPr/>
          <p:nvPr>
            <p:ph idx="100" type="title" hasCustomPrompt="1"/>
          </p:nvPr>
        </p:nvSpPr>
        <p:spPr>
          <a:xfrm>
            <a:off x="731520" y="2011680"/>
            <a:ext cx="6400800" cy="1828800"/>
          </a:xfrm>
          <a:prstGeom prst="rect">
            <a:avLst/>
          </a:prstGeom>
          <a:noFill/>
          <a:ln/>
        </p:spPr>
        <p:txBody>
          <a:bodyPr wrap="square" lIns="0" tIns="0" rIns="0" bIns="0" rtlCol="0" anchor="b"/>
          <a:lstStyle/>
          <a:p>
            <a:pPr algn="l" indent="0" marL="0">
              <a:buNone/>
            </a:pPr>
            <a:r>
              <a:rPr lang="en-US" sz="4400" b="1" dirty="0">
                <a:solidFill>
                  <a:schemeClr val="bg1"/>
                </a:solidFill>
              </a:rPr>
              <a:t>Phishing : ne mordez pas à l'hameçon</a:t>
            </a:r>
            <a:endParaRPr lang="en-US" sz="4400" dirty="0"/>
          </a:p>
        </p:txBody>
      </p:sp>
      <p:sp>
        <p:nvSpPr>
          <p:cNvPr id="4" name="Text 0"/>
          <p:cNvSpPr/>
          <p:nvPr>
            <p:ph idx="101" type="body" hasCustomPrompt="1"/>
          </p:nvPr>
        </p:nvSpPr>
        <p:spPr>
          <a:xfrm>
            <a:off x="731520" y="4114800"/>
            <a:ext cx="6400800" cy="822960"/>
          </a:xfrm>
          <a:prstGeom prst="rect">
            <a:avLst/>
          </a:prstGeom>
          <a:noFill/>
          <a:ln/>
        </p:spPr>
        <p:txBody>
          <a:bodyPr wrap="square" lIns="0" tIns="0" rIns="0" bIns="0" rtlCol="0" anchor="t"/>
          <a:lstStyle/>
          <a:p>
            <a:pPr algn="l" indent="0" marL="0">
              <a:buNone/>
            </a:pPr>
            <a:r>
              <a:rPr lang="en-US" sz="2000" dirty="0">
                <a:solidFill>
                  <a:schemeClr val="bg2"/>
                </a:solidFill>
              </a:rPr>
              <a:t>Sensibilisation et plan d'action pour l'entreprise</a:t>
            </a:r>
            <a:endParaRPr lang="en-US" sz="2000" dirty="0"/>
          </a:p>
        </p:txBody>
      </p:sp>
      <p:sp>
        <p:nvSpPr>
          <p:cNvPr id="5" name="Text 3"/>
          <p:cNvSpPr txBox="1"/>
          <p:nvPr/>
        </p:nvSpPr>
        <p:spPr>
          <a:xfrm>
            <a:off x="731520" y="5074920"/>
            <a:ext cx="5486400" cy="594360"/>
          </a:xfrm>
          <a:prstGeom prst="rect">
            <a:avLst/>
          </a:prstGeom>
          <a:noFill/>
          <a:ln/>
        </p:spPr>
        <p:txBody>
          <a:bodyPr wrap="square" lIns="0" tIns="0" rIns="0" bIns="0" rtlCol="0" anchor="t"/>
          <a:lstStyle/>
          <a:p>
            <a:pPr indent="0" marL="0">
              <a:buNone/>
            </a:pPr>
            <a:r>
              <a:rPr lang="en-US" sz="1500" b="1" dirty="0">
                <a:solidFill>
                  <a:schemeClr val="bg1"/>
                </a:solidFill>
              </a:rPr>
              <a:t>Tafré Mefré</a:t>
            </a:r>
            <a:endParaRPr lang="en-US" sz="1500" dirty="0"/>
          </a:p>
          <a:p>
            <a:pPr indent="0" marL="0">
              <a:buNone/>
            </a:pPr>
            <a:r>
              <a:rPr lang="en-US" sz="1500" dirty="0">
                <a:solidFill>
                  <a:schemeClr val="bg2"/>
                </a:solidFill>
              </a:rPr>
              <a:t>Service informatique</a:t>
            </a:r>
            <a:endParaRPr lang="en-US" sz="1500" dirty="0"/>
          </a:p>
        </p:txBody>
      </p:sp>
      <p:sp>
        <p:nvSpPr>
          <p:cNvPr id="6" name="a2|orbite"/>
          <p:cNvSpPr/>
          <p:nvPr/>
        </p:nvSpPr>
        <p:spPr>
          <a:xfrm>
            <a:off x="7534656" y="1316736"/>
            <a:ext cx="4224528" cy="4224528"/>
          </a:xfrm>
          <a:prstGeom prst="ellipse">
            <a:avLst/>
          </a:prstGeom>
          <a:noFill/>
          <a:ln w="12700">
            <a:solidFill>
              <a:srgbClr val="FFFFFF">
                <a:alpha val="25000"/>
              </a:srgbClr>
            </a:solidFill>
            <a:prstDash val="dash"/>
          </a:ln>
        </p:spPr>
      </p:sp>
      <p:sp>
        <p:nvSpPr>
          <p:cNvPr id="7" name="a1|disque"/>
          <p:cNvSpPr/>
          <p:nvPr/>
        </p:nvSpPr>
        <p:spPr>
          <a:xfrm>
            <a:off x="8046720" y="1828800"/>
            <a:ext cx="3200400" cy="3200400"/>
          </a:xfrm>
          <a:prstGeom prst="ellipse">
            <a:avLst/>
          </a:prstGeom>
          <a:solidFill>
            <a:schemeClr val="accent1"/>
          </a:solidFill>
          <a:ln/>
        </p:spPr>
      </p:sp>
      <p:pic>
        <p:nvPicPr>
          <p:cNvPr id="8" name="a1|hameçon" descr="Hameçon, symbole du phishing">    </p:cNvPr>
          <p:cNvPicPr>
            <a:picLocks noChangeAspect="1"/>
          </p:cNvPicPr>
          <p:nvPr/>
        </p:nvPicPr>
        <p:blipFill>
          <a:blip r:embed="rId1"/>
          <a:stretch>
            <a:fillRect/>
          </a:stretch>
        </p:blipFill>
        <p:spPr>
          <a:xfrm>
            <a:off x="8750808" y="2532888"/>
            <a:ext cx="1792224" cy="1792224"/>
          </a:xfrm>
          <a:prstGeom prst="rect">
            <a:avLst/>
          </a:prstGeom>
        </p:spPr>
      </p:pic>
      <p:sp>
        <p:nvSpPr>
          <p:cNvPr id="9" name="a3|canal"/>
          <p:cNvSpPr/>
          <p:nvPr/>
        </p:nvSpPr>
        <p:spPr>
          <a:xfrm>
            <a:off x="7560039" y="1860839"/>
            <a:ext cx="713232" cy="713232"/>
          </a:xfrm>
          <a:prstGeom prst="ellipse">
            <a:avLst/>
          </a:prstGeom>
          <a:solidFill>
            <a:schemeClr val="accent2"/>
          </a:solidFill>
          <a:ln/>
        </p:spPr>
      </p:sp>
      <p:pic>
        <p:nvPicPr>
          <p:cNvPr id="10" name="a3|canal"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738347" y="2039147"/>
            <a:ext cx="356616" cy="356616"/>
          </a:xfrm>
          <a:prstGeom prst="rect">
            <a:avLst/>
          </a:prstGeom>
        </p:spPr>
      </p:pic>
      <p:sp>
        <p:nvSpPr>
          <p:cNvPr id="11" name="a3|canal"/>
          <p:cNvSpPr/>
          <p:nvPr/>
        </p:nvSpPr>
        <p:spPr>
          <a:xfrm>
            <a:off x="10908392" y="1714647"/>
            <a:ext cx="713232" cy="713232"/>
          </a:xfrm>
          <a:prstGeom prst="ellipse">
            <a:avLst/>
          </a:prstGeom>
          <a:solidFill>
            <a:schemeClr val="accent3"/>
          </a:solidFill>
          <a:ln/>
        </p:spPr>
      </p:sp>
      <p:pic>
        <p:nvPicPr>
          <p:cNvPr id="12" name="a3|canal"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86700" y="1892955"/>
            <a:ext cx="356616" cy="356616"/>
          </a:xfrm>
          <a:prstGeom prst="rect">
            <a:avLst/>
          </a:prstGeom>
        </p:spPr>
      </p:pic>
      <p:sp>
        <p:nvSpPr>
          <p:cNvPr id="13" name="a3|canal"/>
          <p:cNvSpPr/>
          <p:nvPr/>
        </p:nvSpPr>
        <p:spPr>
          <a:xfrm>
            <a:off x="10908392" y="4430121"/>
            <a:ext cx="713232" cy="713232"/>
          </a:xfrm>
          <a:prstGeom prst="ellipse">
            <a:avLst/>
          </a:prstGeom>
          <a:solidFill>
            <a:schemeClr val="accent2"/>
          </a:solidFill>
          <a:ln/>
        </p:spPr>
      </p:sp>
      <p:pic>
        <p:nvPicPr>
          <p:cNvPr id="14" name="a3|canal"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86700" y="4608429"/>
            <a:ext cx="356616" cy="356616"/>
          </a:xfrm>
          <a:prstGeom prst="rect">
            <a:avLst/>
          </a:prstGeom>
        </p:spPr>
      </p:pic>
      <p:sp>
        <p:nvSpPr>
          <p:cNvPr id="15" name="a3|canal"/>
          <p:cNvSpPr/>
          <p:nvPr/>
        </p:nvSpPr>
        <p:spPr>
          <a:xfrm>
            <a:off x="7672216" y="4430121"/>
            <a:ext cx="713232" cy="713232"/>
          </a:xfrm>
          <a:prstGeom prst="ellipse">
            <a:avLst/>
          </a:prstGeom>
          <a:solidFill>
            <a:schemeClr val="accent3"/>
          </a:solidFill>
          <a:ln/>
        </p:spPr>
      </p:sp>
      <p:pic>
        <p:nvPicPr>
          <p:cNvPr id="16" name="a3|canal"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850524" y="4608429"/>
            <a:ext cx="356616" cy="35661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50"/>
                                        <p:tgtEl>
                                          <p:spTgt spid="8"/>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nodeType="withEffect">
                                  <p:stCondLst>
                                    <p:cond delay="5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nodeType="withEffect">
                                  <p:stCondLst>
                                    <p:cond delay="5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nodeType="withEffect">
                                  <p:stCondLst>
                                    <p:cond delay="5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9" grpId="0" animBg="1"/>
      <p:bldP spid="11" grpId="0" animBg="1"/>
      <p:bldP spid="13"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SYNTHÈSE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L'essentiel en une minute</a:t>
            </a:r>
            <a:endParaRPr lang="en-US" sz="3600" dirty="0"/>
          </a:p>
        </p:txBody>
      </p:sp>
      <p:sp>
        <p:nvSpPr>
          <p:cNvPr id="4" name="a1|carte"/>
          <p:cNvSpPr/>
          <p:nvPr/>
        </p:nvSpPr>
        <p:spPr>
          <a:xfrm>
            <a:off x="548640" y="1645920"/>
            <a:ext cx="2606040" cy="3429000"/>
          </a:xfrm>
          <a:prstGeom prst="roundRect">
            <a:avLst>
              <a:gd name="adj" fmla="val 3509"/>
            </a:avLst>
          </a:prstGeom>
          <a:solidFill>
            <a:schemeClr val="bg2"/>
          </a:solidFill>
          <a:ln/>
        </p:spPr>
      </p:sp>
      <p:sp>
        <p:nvSpPr>
          <p:cNvPr id="5" name="a1|icône"/>
          <p:cNvSpPr/>
          <p:nvPr/>
        </p:nvSpPr>
        <p:spPr>
          <a:xfrm>
            <a:off x="822960" y="1920240"/>
            <a:ext cx="566928" cy="566928"/>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4692" y="2061972"/>
            <a:ext cx="283464" cy="283464"/>
          </a:xfrm>
          <a:prstGeom prst="rect">
            <a:avLst/>
          </a:prstGeom>
        </p:spPr>
      </p:pic>
      <p:sp>
        <p:nvSpPr>
          <p:cNvPr id="7" name="a1|label"/>
          <p:cNvSpPr txBox="1"/>
          <p:nvPr/>
        </p:nvSpPr>
        <p:spPr>
          <a:xfrm>
            <a:off x="822960" y="2697480"/>
            <a:ext cx="21031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LA MENACE</a:t>
            </a:r>
            <a:endParaRPr lang="en-US" sz="1200" dirty="0"/>
          </a:p>
        </p:txBody>
      </p:sp>
      <p:sp>
        <p:nvSpPr>
          <p:cNvPr id="8" name="a1|chiffre"/>
          <p:cNvSpPr txBox="1"/>
          <p:nvPr/>
        </p:nvSpPr>
        <p:spPr>
          <a:xfrm>
            <a:off x="822960" y="2971800"/>
            <a:ext cx="2103120" cy="777240"/>
          </a:xfrm>
          <a:prstGeom prst="rect">
            <a:avLst/>
          </a:prstGeom>
          <a:noFill/>
          <a:ln/>
        </p:spPr>
        <p:txBody>
          <a:bodyPr wrap="square" lIns="0" tIns="0" rIns="0" bIns="0" rtlCol="0" anchor="t"/>
          <a:lstStyle/>
          <a:p>
            <a:pPr indent="0" marL="0">
              <a:buNone/>
            </a:pPr>
            <a:r>
              <a:rPr lang="en-US" sz="4400" b="1" dirty="0">
                <a:solidFill>
                  <a:schemeClr val="accent1"/>
                </a:solidFill>
              </a:rPr>
              <a:t>43 %</a:t>
            </a:r>
            <a:endParaRPr lang="en-US" sz="4400" dirty="0"/>
          </a:p>
        </p:txBody>
      </p:sp>
      <p:sp>
        <p:nvSpPr>
          <p:cNvPr id="9" name="a1|texte"/>
          <p:cNvSpPr txBox="1"/>
          <p:nvPr/>
        </p:nvSpPr>
        <p:spPr>
          <a:xfrm>
            <a:off x="822960" y="3794760"/>
            <a:ext cx="2103120" cy="1188720"/>
          </a:xfrm>
          <a:prstGeom prst="rect">
            <a:avLst/>
          </a:prstGeom>
          <a:noFill/>
          <a:ln/>
        </p:spPr>
        <p:txBody>
          <a:bodyPr wrap="square" lIns="0" tIns="0" rIns="0" bIns="0" rtlCol="0" anchor="t"/>
          <a:lstStyle/>
          <a:p>
            <a:pPr indent="0" marL="0">
              <a:buNone/>
            </a:pPr>
            <a:r>
              <a:rPr lang="en-US" sz="1500" dirty="0">
                <a:solidFill>
                  <a:schemeClr val="tx1"/>
                </a:solidFill>
              </a:rPr>
              <a:t>des incidents identifiés par les PME victimes viennent du phishing (24 % un an plus tôt).</a:t>
            </a:r>
            <a:endParaRPr lang="en-US" sz="1500" dirty="0"/>
          </a:p>
        </p:txBody>
      </p:sp>
      <p:sp>
        <p:nvSpPr>
          <p:cNvPr id="10" name="a2|carte"/>
          <p:cNvSpPr/>
          <p:nvPr/>
        </p:nvSpPr>
        <p:spPr>
          <a:xfrm>
            <a:off x="3377794" y="1645920"/>
            <a:ext cx="2606040" cy="3429000"/>
          </a:xfrm>
          <a:prstGeom prst="roundRect">
            <a:avLst>
              <a:gd name="adj" fmla="val 3509"/>
            </a:avLst>
          </a:prstGeom>
          <a:solidFill>
            <a:schemeClr val="bg2"/>
          </a:solidFill>
          <a:ln/>
        </p:spPr>
      </p:sp>
      <p:sp>
        <p:nvSpPr>
          <p:cNvPr id="11" name="a2|icône"/>
          <p:cNvSpPr/>
          <p:nvPr/>
        </p:nvSpPr>
        <p:spPr>
          <a:xfrm>
            <a:off x="3652114" y="1920240"/>
            <a:ext cx="566928" cy="566928"/>
          </a:xfrm>
          <a:prstGeom prst="ellipse">
            <a:avLst/>
          </a:prstGeom>
          <a:solidFill>
            <a:schemeClr val="tx2"/>
          </a:solidFill>
          <a:ln/>
        </p:spPr>
      </p:sp>
      <p:pic>
        <p:nvPicPr>
          <p:cNvPr id="12"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793846" y="2061972"/>
            <a:ext cx="283464" cy="283464"/>
          </a:xfrm>
          <a:prstGeom prst="rect">
            <a:avLst/>
          </a:prstGeom>
        </p:spPr>
      </p:pic>
      <p:sp>
        <p:nvSpPr>
          <p:cNvPr id="13" name="a2|label"/>
          <p:cNvSpPr txBox="1"/>
          <p:nvPr/>
        </p:nvSpPr>
        <p:spPr>
          <a:xfrm>
            <a:off x="3652114" y="2697480"/>
            <a:ext cx="2103120" cy="274320"/>
          </a:xfrm>
          <a:prstGeom prst="rect">
            <a:avLst/>
          </a:prstGeom>
          <a:noFill/>
          <a:ln/>
        </p:spPr>
        <p:txBody>
          <a:bodyPr wrap="square" lIns="0" tIns="0" rIns="0" bIns="0" rtlCol="0" anchor="t"/>
          <a:lstStyle/>
          <a:p>
            <a:pPr indent="0" marL="0">
              <a:buNone/>
            </a:pPr>
            <a:r>
              <a:rPr lang="en-US" sz="1200" b="1" spc="100" kern="0" dirty="0">
                <a:solidFill>
                  <a:schemeClr val="tx2"/>
                </a:solidFill>
              </a:rPr>
              <a:t>LE PARADOXE</a:t>
            </a:r>
            <a:endParaRPr lang="en-US" sz="1200" dirty="0"/>
          </a:p>
        </p:txBody>
      </p:sp>
      <p:sp>
        <p:nvSpPr>
          <p:cNvPr id="14" name="a2|chiffre"/>
          <p:cNvSpPr txBox="1"/>
          <p:nvPr/>
        </p:nvSpPr>
        <p:spPr>
          <a:xfrm>
            <a:off x="3652114" y="2971800"/>
            <a:ext cx="2103120" cy="777240"/>
          </a:xfrm>
          <a:prstGeom prst="rect">
            <a:avLst/>
          </a:prstGeom>
          <a:noFill/>
          <a:ln/>
        </p:spPr>
        <p:txBody>
          <a:bodyPr wrap="square" lIns="0" tIns="0" rIns="0" bIns="0" rtlCol="0" anchor="t"/>
          <a:lstStyle/>
          <a:p>
            <a:pPr indent="0" marL="0">
              <a:buNone/>
            </a:pPr>
            <a:r>
              <a:rPr lang="en-US" sz="4400" b="1" dirty="0">
                <a:solidFill>
                  <a:schemeClr val="tx2"/>
                </a:solidFill>
              </a:rPr>
              <a:t>58 %</a:t>
            </a:r>
            <a:endParaRPr lang="en-US" sz="4400" dirty="0"/>
          </a:p>
        </p:txBody>
      </p:sp>
      <p:sp>
        <p:nvSpPr>
          <p:cNvPr id="15" name="a2|texte"/>
          <p:cNvSpPr txBox="1"/>
          <p:nvPr/>
        </p:nvSpPr>
        <p:spPr>
          <a:xfrm>
            <a:off x="3652114" y="3794760"/>
            <a:ext cx="2103120" cy="1188720"/>
          </a:xfrm>
          <a:prstGeom prst="rect">
            <a:avLst/>
          </a:prstGeom>
          <a:noFill/>
          <a:ln/>
        </p:spPr>
        <p:txBody>
          <a:bodyPr wrap="square" lIns="0" tIns="0" rIns="0" bIns="0" rtlCol="0" anchor="t"/>
          <a:lstStyle/>
          <a:p>
            <a:pPr indent="0" marL="0">
              <a:buNone/>
            </a:pPr>
            <a:r>
              <a:rPr lang="en-US" sz="1500" dirty="0">
                <a:solidFill>
                  <a:schemeClr val="tx1"/>
                </a:solidFill>
              </a:rPr>
              <a:t>des PME se jugent bien protégées… mais 80 % ne se sentent pas prêtes face à une attaque.</a:t>
            </a:r>
            <a:endParaRPr lang="en-US" sz="1500" dirty="0"/>
          </a:p>
        </p:txBody>
      </p:sp>
      <p:sp>
        <p:nvSpPr>
          <p:cNvPr id="16" name="a3|carte"/>
          <p:cNvSpPr/>
          <p:nvPr/>
        </p:nvSpPr>
        <p:spPr>
          <a:xfrm>
            <a:off x="6206947" y="1645920"/>
            <a:ext cx="2606040" cy="3429000"/>
          </a:xfrm>
          <a:prstGeom prst="roundRect">
            <a:avLst>
              <a:gd name="adj" fmla="val 3509"/>
            </a:avLst>
          </a:prstGeom>
          <a:solidFill>
            <a:schemeClr val="bg2"/>
          </a:solidFill>
          <a:ln/>
        </p:spPr>
      </p:sp>
      <p:sp>
        <p:nvSpPr>
          <p:cNvPr id="17" name="a3|icône"/>
          <p:cNvSpPr/>
          <p:nvPr/>
        </p:nvSpPr>
        <p:spPr>
          <a:xfrm>
            <a:off x="6481267" y="1920240"/>
            <a:ext cx="566928" cy="566928"/>
          </a:xfrm>
          <a:prstGeom prst="ellipse">
            <a:avLst/>
          </a:prstGeom>
          <a:solidFill>
            <a:schemeClr val="accent1"/>
          </a:solidFill>
          <a:ln/>
        </p:spPr>
      </p:sp>
      <p:pic>
        <p:nvPicPr>
          <p:cNvPr id="18"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22999" y="2061972"/>
            <a:ext cx="283464" cy="283464"/>
          </a:xfrm>
          <a:prstGeom prst="rect">
            <a:avLst/>
          </a:prstGeom>
        </p:spPr>
      </p:pic>
      <p:sp>
        <p:nvSpPr>
          <p:cNvPr id="19" name="a3|label"/>
          <p:cNvSpPr txBox="1"/>
          <p:nvPr/>
        </p:nvSpPr>
        <p:spPr>
          <a:xfrm>
            <a:off x="6481267" y="2697480"/>
            <a:ext cx="21031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L'ENJEU</a:t>
            </a:r>
            <a:endParaRPr lang="en-US" sz="1200" dirty="0"/>
          </a:p>
        </p:txBody>
      </p:sp>
      <p:sp>
        <p:nvSpPr>
          <p:cNvPr id="20" name="a3|chiffre"/>
          <p:cNvSpPr txBox="1"/>
          <p:nvPr/>
        </p:nvSpPr>
        <p:spPr>
          <a:xfrm>
            <a:off x="6481267" y="2971800"/>
            <a:ext cx="2103120" cy="777240"/>
          </a:xfrm>
          <a:prstGeom prst="rect">
            <a:avLst/>
          </a:prstGeom>
          <a:noFill/>
          <a:ln/>
        </p:spPr>
        <p:txBody>
          <a:bodyPr wrap="square" lIns="0" tIns="0" rIns="0" bIns="0" rtlCol="0" anchor="t"/>
          <a:lstStyle/>
          <a:p>
            <a:pPr indent="0" marL="0">
              <a:buNone/>
            </a:pPr>
            <a:r>
              <a:rPr lang="en-US" sz="4400" b="1" dirty="0">
                <a:solidFill>
                  <a:schemeClr val="accent1"/>
                </a:solidFill>
              </a:rPr>
              <a:t>+93 %</a:t>
            </a:r>
            <a:endParaRPr lang="en-US" sz="4400" dirty="0"/>
          </a:p>
        </p:txBody>
      </p:sp>
      <p:sp>
        <p:nvSpPr>
          <p:cNvPr id="21" name="a3|texte"/>
          <p:cNvSpPr txBox="1"/>
          <p:nvPr/>
        </p:nvSpPr>
        <p:spPr>
          <a:xfrm>
            <a:off x="6481267" y="3794760"/>
            <a:ext cx="2103120" cy="1188720"/>
          </a:xfrm>
          <a:prstGeom prst="rect">
            <a:avLst/>
          </a:prstGeom>
          <a:noFill/>
          <a:ln/>
        </p:spPr>
        <p:txBody>
          <a:bodyPr wrap="square" lIns="0" tIns="0" rIns="0" bIns="0" rtlCol="0" anchor="t"/>
          <a:lstStyle/>
          <a:p>
            <a:pPr indent="0" marL="0">
              <a:buNone/>
            </a:pPr>
            <a:r>
              <a:rPr lang="en-US" sz="1500" dirty="0">
                <a:solidFill>
                  <a:schemeClr val="tx1"/>
                </a:solidFill>
              </a:rPr>
              <a:t>de demandes d'assistance pour faux ordres de virement en un an.</a:t>
            </a:r>
            <a:endParaRPr lang="en-US" sz="1500" dirty="0"/>
          </a:p>
        </p:txBody>
      </p:sp>
      <p:sp>
        <p:nvSpPr>
          <p:cNvPr id="22" name="a4|carte"/>
          <p:cNvSpPr/>
          <p:nvPr/>
        </p:nvSpPr>
        <p:spPr>
          <a:xfrm>
            <a:off x="9036101" y="1645920"/>
            <a:ext cx="2606040" cy="3429000"/>
          </a:xfrm>
          <a:prstGeom prst="roundRect">
            <a:avLst>
              <a:gd name="adj" fmla="val 3509"/>
            </a:avLst>
          </a:prstGeom>
          <a:solidFill>
            <a:schemeClr val="bg2"/>
          </a:solidFill>
          <a:ln/>
        </p:spPr>
      </p:sp>
      <p:sp>
        <p:nvSpPr>
          <p:cNvPr id="23" name="a4|icône"/>
          <p:cNvSpPr/>
          <p:nvPr/>
        </p:nvSpPr>
        <p:spPr>
          <a:xfrm>
            <a:off x="9310421" y="1920240"/>
            <a:ext cx="566928" cy="566928"/>
          </a:xfrm>
          <a:prstGeom prst="ellipse">
            <a:avLst/>
          </a:prstGeom>
          <a:solidFill>
            <a:schemeClr val="accent2"/>
          </a:solidFill>
          <a:ln/>
        </p:spPr>
      </p:sp>
      <p:pic>
        <p:nvPicPr>
          <p:cNvPr id="24" name="a4|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52153" y="2061972"/>
            <a:ext cx="283464" cy="283464"/>
          </a:xfrm>
          <a:prstGeom prst="rect">
            <a:avLst/>
          </a:prstGeom>
        </p:spPr>
      </p:pic>
      <p:sp>
        <p:nvSpPr>
          <p:cNvPr id="25" name="a4|label"/>
          <p:cNvSpPr txBox="1"/>
          <p:nvPr/>
        </p:nvSpPr>
        <p:spPr>
          <a:xfrm>
            <a:off x="9310421" y="2697480"/>
            <a:ext cx="21031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LA RÉPONSE</a:t>
            </a:r>
            <a:endParaRPr lang="en-US" sz="1200" dirty="0"/>
          </a:p>
        </p:txBody>
      </p:sp>
      <p:sp>
        <p:nvSpPr>
          <p:cNvPr id="26" name="a4|chiffre"/>
          <p:cNvSpPr txBox="1"/>
          <p:nvPr/>
        </p:nvSpPr>
        <p:spPr>
          <a:xfrm>
            <a:off x="9310421" y="2971800"/>
            <a:ext cx="2103120" cy="777240"/>
          </a:xfrm>
          <a:prstGeom prst="rect">
            <a:avLst/>
          </a:prstGeom>
          <a:noFill/>
          <a:ln/>
        </p:spPr>
        <p:txBody>
          <a:bodyPr wrap="square" lIns="0" tIns="0" rIns="0" bIns="0" rtlCol="0" anchor="t"/>
          <a:lstStyle/>
          <a:p>
            <a:pPr indent="0" marL="0">
              <a:buNone/>
            </a:pPr>
            <a:r>
              <a:rPr lang="en-US" sz="4400" b="1" dirty="0">
                <a:solidFill>
                  <a:schemeClr val="accent2"/>
                </a:solidFill>
              </a:rPr>
              <a:t>3</a:t>
            </a:r>
            <a:endParaRPr lang="en-US" sz="4400" dirty="0"/>
          </a:p>
        </p:txBody>
      </p:sp>
      <p:sp>
        <p:nvSpPr>
          <p:cNvPr id="27" name="a4|texte"/>
          <p:cNvSpPr txBox="1"/>
          <p:nvPr/>
        </p:nvSpPr>
        <p:spPr>
          <a:xfrm>
            <a:off x="9310421" y="3794760"/>
            <a:ext cx="2103120" cy="1188720"/>
          </a:xfrm>
          <a:prstGeom prst="rect">
            <a:avLst/>
          </a:prstGeom>
          <a:noFill/>
          <a:ln/>
        </p:spPr>
        <p:txBody>
          <a:bodyPr wrap="square" lIns="0" tIns="0" rIns="0" bIns="0" rtlCol="0" anchor="t"/>
          <a:lstStyle/>
          <a:p>
            <a:pPr indent="0" marL="0">
              <a:buNone/>
            </a:pPr>
            <a:r>
              <a:rPr lang="en-US" sz="1500" dirty="0">
                <a:solidFill>
                  <a:schemeClr val="tx1"/>
                </a:solidFill>
              </a:rPr>
              <a:t>décisions simples et peu coûteuses : MFA, double validation des virements, culture du signalement.</a:t>
            </a:r>
            <a:endParaRPr lang="en-US" sz="1500" dirty="0"/>
          </a:p>
        </p:txBody>
      </p:sp>
      <p:sp>
        <p:nvSpPr>
          <p:cNvPr id="28" name="a5|message"/>
          <p:cNvSpPr/>
          <p:nvPr/>
        </p:nvSpPr>
        <p:spPr>
          <a:xfrm>
            <a:off x="548640" y="5303520"/>
            <a:ext cx="11094415" cy="566928"/>
          </a:xfrm>
          <a:prstGeom prst="roundRect">
            <a:avLst>
              <a:gd name="adj" fmla="val 16129"/>
            </a:avLst>
          </a:prstGeom>
          <a:solidFill>
            <a:schemeClr val="tx2"/>
          </a:solidFill>
          <a:ln/>
        </p:spPr>
      </p:sp>
      <p:sp>
        <p:nvSpPr>
          <p:cNvPr id="29" name="a5|message"/>
          <p:cNvSpPr txBox="1"/>
          <p:nvPr/>
        </p:nvSpPr>
        <p:spPr>
          <a:xfrm>
            <a:off x="822960" y="5303520"/>
            <a:ext cx="10545775" cy="566928"/>
          </a:xfrm>
          <a:prstGeom prst="rect">
            <a:avLst/>
          </a:prstGeom>
          <a:noFill/>
          <a:ln/>
        </p:spPr>
        <p:txBody>
          <a:bodyPr wrap="square" lIns="0" tIns="0" rIns="0" bIns="0" rtlCol="0" anchor="ctr"/>
          <a:lstStyle/>
          <a:p>
            <a:pPr indent="0" marL="0">
              <a:buNone/>
            </a:pPr>
            <a:r>
              <a:rPr lang="en-US" sz="1500" b="1" dirty="0">
                <a:solidFill>
                  <a:schemeClr val="accent4"/>
                </a:solidFill>
              </a:rPr>
              <a:t>Message clé : </a:t>
            </a:r>
            <a:pPr indent="0" marL="0">
              <a:buNone/>
            </a:pPr>
            <a:r>
              <a:rPr lang="en-US" sz="1500" dirty="0">
                <a:solidFill>
                  <a:schemeClr val="bg1"/>
                </a:solidFill>
              </a:rPr>
              <a:t>le phishing se combat d'abord par des réflexes et des procédures, pas seulement par des outils.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7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7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nodeType="withEffect">
                                  <p:stCondLst>
                                    <p:cond delay="75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75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7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75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10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10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SOMMAIRE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Au programme</a:t>
            </a:r>
            <a:endParaRPr lang="en-US" sz="3600" dirty="0"/>
          </a:p>
        </p:txBody>
      </p:sp>
      <p:sp>
        <p:nvSpPr>
          <p:cNvPr id="4" name="a1|ligne"/>
          <p:cNvSpPr/>
          <p:nvPr/>
        </p:nvSpPr>
        <p:spPr>
          <a:xfrm>
            <a:off x="548640" y="1645920"/>
            <a:ext cx="7498080" cy="914400"/>
          </a:xfrm>
          <a:prstGeom prst="roundRect">
            <a:avLst>
              <a:gd name="adj" fmla="val 10000"/>
            </a:avLst>
          </a:prstGeom>
          <a:solidFill>
            <a:schemeClr val="bg2"/>
          </a:solidFill>
          <a:ln/>
        </p:spPr>
      </p:sp>
      <p:sp>
        <p:nvSpPr>
          <p:cNvPr id="5" name="a1|num"/>
          <p:cNvSpPr txBox="1"/>
          <p:nvPr/>
        </p:nvSpPr>
        <p:spPr>
          <a:xfrm>
            <a:off x="822960" y="1645920"/>
            <a:ext cx="914400" cy="914400"/>
          </a:xfrm>
          <a:prstGeom prst="rect">
            <a:avLst/>
          </a:prstGeom>
          <a:noFill/>
          <a:ln/>
        </p:spPr>
        <p:txBody>
          <a:bodyPr wrap="square" lIns="0" tIns="0" rIns="0" bIns="0" rtlCol="0" anchor="ctr"/>
          <a:lstStyle/>
          <a:p>
            <a:pPr indent="0" marL="0">
              <a:buNone/>
            </a:pPr>
            <a:r>
              <a:rPr lang="en-US" sz="3400" b="1" dirty="0">
                <a:solidFill>
                  <a:schemeClr val="accent1"/>
                </a:solidFill>
              </a:rPr>
              <a:t>01</a:t>
            </a:r>
            <a:endParaRPr lang="en-US" sz="3400" dirty="0"/>
          </a:p>
        </p:txBody>
      </p:sp>
      <p:sp>
        <p:nvSpPr>
          <p:cNvPr id="6" name="a1|titre"/>
          <p:cNvSpPr txBox="1"/>
          <p:nvPr/>
        </p:nvSpPr>
        <p:spPr>
          <a:xfrm>
            <a:off x="1828800" y="1801368"/>
            <a:ext cx="4846320" cy="329184"/>
          </a:xfrm>
          <a:prstGeom prst="rect">
            <a:avLst/>
          </a:prstGeom>
          <a:noFill/>
          <a:ln/>
        </p:spPr>
        <p:txBody>
          <a:bodyPr wrap="square" lIns="0" tIns="0" rIns="0" bIns="0" rtlCol="0" anchor="t"/>
          <a:lstStyle/>
          <a:p>
            <a:pPr indent="0" marL="0">
              <a:buNone/>
            </a:pPr>
            <a:r>
              <a:rPr lang="en-US" sz="1900" b="1" dirty="0">
                <a:solidFill>
                  <a:schemeClr val="tx2"/>
                </a:solidFill>
              </a:rPr>
              <a:t>La menace en chiffres</a:t>
            </a:r>
            <a:endParaRPr lang="en-US" sz="1900" dirty="0"/>
          </a:p>
        </p:txBody>
      </p:sp>
      <p:sp>
        <p:nvSpPr>
          <p:cNvPr id="7" name="a1|desc"/>
          <p:cNvSpPr txBox="1"/>
          <p:nvPr/>
        </p:nvSpPr>
        <p:spPr>
          <a:xfrm>
            <a:off x="1828800" y="2148840"/>
            <a:ext cx="4846320" cy="274320"/>
          </a:xfrm>
          <a:prstGeom prst="rect">
            <a:avLst/>
          </a:prstGeom>
          <a:noFill/>
          <a:ln/>
        </p:spPr>
        <p:txBody>
          <a:bodyPr wrap="square" lIns="0" tIns="0" rIns="0" bIns="0" rtlCol="0" anchor="t"/>
          <a:lstStyle/>
          <a:p>
            <a:pPr indent="0" marL="0">
              <a:buNone/>
            </a:pPr>
            <a:r>
              <a:rPr lang="en-US" sz="1400" dirty="0">
                <a:solidFill>
                  <a:schemeClr val="accent3"/>
                </a:solidFill>
              </a:rPr>
              <a:t>Pourquoi les PME sont devenues la cible privilégiée</a:t>
            </a:r>
            <a:endParaRPr lang="en-US" sz="1400" dirty="0"/>
          </a:p>
        </p:txBody>
      </p:sp>
      <p:sp>
        <p:nvSpPr>
          <p:cNvPr id="8" name="a1|durée"/>
          <p:cNvSpPr/>
          <p:nvPr/>
        </p:nvSpPr>
        <p:spPr>
          <a:xfrm>
            <a:off x="6812280" y="1920240"/>
            <a:ext cx="1005840" cy="365760"/>
          </a:xfrm>
          <a:prstGeom prst="roundRect">
            <a:avLst>
              <a:gd name="adj" fmla="val 50000"/>
            </a:avLst>
          </a:prstGeom>
          <a:solidFill>
            <a:schemeClr val="bg1"/>
          </a:solidFill>
          <a:ln/>
        </p:spPr>
        <p:txBody>
          <a:bodyPr wrap="square" lIns="0" tIns="0" rIns="0" bIns="0" rtlCol="0" anchor="ctr"/>
          <a:lstStyle/>
          <a:p>
            <a:pPr algn="ctr" indent="0" marL="0">
              <a:buNone/>
            </a:pPr>
            <a:r>
              <a:rPr lang="en-US" sz="1300" b="1" dirty="0">
                <a:solidFill>
                  <a:schemeClr val="tx2"/>
                </a:solidFill>
              </a:rPr>
              <a:t>6 min</a:t>
            </a:r>
            <a:endParaRPr lang="en-US" sz="1300" dirty="0"/>
          </a:p>
        </p:txBody>
      </p:sp>
      <p:sp>
        <p:nvSpPr>
          <p:cNvPr id="9" name="a2|ligne"/>
          <p:cNvSpPr/>
          <p:nvPr/>
        </p:nvSpPr>
        <p:spPr>
          <a:xfrm>
            <a:off x="548640" y="2715768"/>
            <a:ext cx="7498080" cy="914400"/>
          </a:xfrm>
          <a:prstGeom prst="roundRect">
            <a:avLst>
              <a:gd name="adj" fmla="val 10000"/>
            </a:avLst>
          </a:prstGeom>
          <a:solidFill>
            <a:schemeClr val="bg2"/>
          </a:solidFill>
          <a:ln/>
        </p:spPr>
      </p:sp>
      <p:sp>
        <p:nvSpPr>
          <p:cNvPr id="10" name="a2|num"/>
          <p:cNvSpPr txBox="1"/>
          <p:nvPr/>
        </p:nvSpPr>
        <p:spPr>
          <a:xfrm>
            <a:off x="822960" y="2715768"/>
            <a:ext cx="914400" cy="914400"/>
          </a:xfrm>
          <a:prstGeom prst="rect">
            <a:avLst/>
          </a:prstGeom>
          <a:noFill/>
          <a:ln/>
        </p:spPr>
        <p:txBody>
          <a:bodyPr wrap="square" lIns="0" tIns="0" rIns="0" bIns="0" rtlCol="0" anchor="ctr"/>
          <a:lstStyle/>
          <a:p>
            <a:pPr indent="0" marL="0">
              <a:buNone/>
            </a:pPr>
            <a:r>
              <a:rPr lang="en-US" sz="3400" b="1" dirty="0">
                <a:solidFill>
                  <a:schemeClr val="accent1"/>
                </a:solidFill>
              </a:rPr>
              <a:t>02</a:t>
            </a:r>
            <a:endParaRPr lang="en-US" sz="3400" dirty="0"/>
          </a:p>
        </p:txBody>
      </p:sp>
      <p:sp>
        <p:nvSpPr>
          <p:cNvPr id="11" name="a2|titre"/>
          <p:cNvSpPr txBox="1"/>
          <p:nvPr/>
        </p:nvSpPr>
        <p:spPr>
          <a:xfrm>
            <a:off x="1828800" y="2871216"/>
            <a:ext cx="4846320" cy="329184"/>
          </a:xfrm>
          <a:prstGeom prst="rect">
            <a:avLst/>
          </a:prstGeom>
          <a:noFill/>
          <a:ln/>
        </p:spPr>
        <p:txBody>
          <a:bodyPr wrap="square" lIns="0" tIns="0" rIns="0" bIns="0" rtlCol="0" anchor="t"/>
          <a:lstStyle/>
          <a:p>
            <a:pPr indent="0" marL="0">
              <a:buNone/>
            </a:pPr>
            <a:r>
              <a:rPr lang="en-US" sz="1900" b="1" dirty="0">
                <a:solidFill>
                  <a:schemeClr val="tx2"/>
                </a:solidFill>
              </a:rPr>
              <a:t>Reconnaître une attaque</a:t>
            </a:r>
            <a:endParaRPr lang="en-US" sz="1900" dirty="0"/>
          </a:p>
        </p:txBody>
      </p:sp>
      <p:sp>
        <p:nvSpPr>
          <p:cNvPr id="12" name="a2|desc"/>
          <p:cNvSpPr txBox="1"/>
          <p:nvPr/>
        </p:nvSpPr>
        <p:spPr>
          <a:xfrm>
            <a:off x="1828800" y="3218688"/>
            <a:ext cx="4846320" cy="274320"/>
          </a:xfrm>
          <a:prstGeom prst="rect">
            <a:avLst/>
          </a:prstGeom>
          <a:noFill/>
          <a:ln/>
        </p:spPr>
        <p:txBody>
          <a:bodyPr wrap="square" lIns="0" tIns="0" rIns="0" bIns="0" rtlCol="0" anchor="t"/>
          <a:lstStyle/>
          <a:p>
            <a:pPr indent="0" marL="0">
              <a:buNone/>
            </a:pPr>
            <a:r>
              <a:rPr lang="en-US" sz="1400" dirty="0">
                <a:solidFill>
                  <a:schemeClr val="accent3"/>
                </a:solidFill>
              </a:rPr>
              <a:t>Les indices, les nouvelles ruses de l'IA, le quiz</a:t>
            </a:r>
            <a:endParaRPr lang="en-US" sz="1400" dirty="0"/>
          </a:p>
        </p:txBody>
      </p:sp>
      <p:sp>
        <p:nvSpPr>
          <p:cNvPr id="13" name="a2|durée"/>
          <p:cNvSpPr/>
          <p:nvPr/>
        </p:nvSpPr>
        <p:spPr>
          <a:xfrm>
            <a:off x="6812280" y="2990088"/>
            <a:ext cx="1005840" cy="365760"/>
          </a:xfrm>
          <a:prstGeom prst="roundRect">
            <a:avLst>
              <a:gd name="adj" fmla="val 50000"/>
            </a:avLst>
          </a:prstGeom>
          <a:solidFill>
            <a:schemeClr val="bg1"/>
          </a:solidFill>
          <a:ln/>
        </p:spPr>
        <p:txBody>
          <a:bodyPr wrap="square" lIns="0" tIns="0" rIns="0" bIns="0" rtlCol="0" anchor="ctr"/>
          <a:lstStyle/>
          <a:p>
            <a:pPr algn="ctr" indent="0" marL="0">
              <a:buNone/>
            </a:pPr>
            <a:r>
              <a:rPr lang="en-US" sz="1300" b="1" dirty="0">
                <a:solidFill>
                  <a:schemeClr val="tx2"/>
                </a:solidFill>
              </a:rPr>
              <a:t>10 min</a:t>
            </a:r>
            <a:endParaRPr lang="en-US" sz="1300" dirty="0"/>
          </a:p>
        </p:txBody>
      </p:sp>
      <p:sp>
        <p:nvSpPr>
          <p:cNvPr id="14" name="a3|ligne"/>
          <p:cNvSpPr/>
          <p:nvPr/>
        </p:nvSpPr>
        <p:spPr>
          <a:xfrm>
            <a:off x="548640" y="3785616"/>
            <a:ext cx="7498080" cy="914400"/>
          </a:xfrm>
          <a:prstGeom prst="roundRect">
            <a:avLst>
              <a:gd name="adj" fmla="val 10000"/>
            </a:avLst>
          </a:prstGeom>
          <a:solidFill>
            <a:schemeClr val="bg2"/>
          </a:solidFill>
          <a:ln/>
        </p:spPr>
      </p:sp>
      <p:sp>
        <p:nvSpPr>
          <p:cNvPr id="15" name="a3|num"/>
          <p:cNvSpPr txBox="1"/>
          <p:nvPr/>
        </p:nvSpPr>
        <p:spPr>
          <a:xfrm>
            <a:off x="822960" y="3785616"/>
            <a:ext cx="914400" cy="914400"/>
          </a:xfrm>
          <a:prstGeom prst="rect">
            <a:avLst/>
          </a:prstGeom>
          <a:noFill/>
          <a:ln/>
        </p:spPr>
        <p:txBody>
          <a:bodyPr wrap="square" lIns="0" tIns="0" rIns="0" bIns="0" rtlCol="0" anchor="ctr"/>
          <a:lstStyle/>
          <a:p>
            <a:pPr indent="0" marL="0">
              <a:buNone/>
            </a:pPr>
            <a:r>
              <a:rPr lang="en-US" sz="3400" b="1" dirty="0">
                <a:solidFill>
                  <a:schemeClr val="accent2"/>
                </a:solidFill>
              </a:rPr>
              <a:t>03</a:t>
            </a:r>
            <a:endParaRPr lang="en-US" sz="3400" dirty="0"/>
          </a:p>
        </p:txBody>
      </p:sp>
      <p:sp>
        <p:nvSpPr>
          <p:cNvPr id="16" name="a3|titre"/>
          <p:cNvSpPr txBox="1"/>
          <p:nvPr/>
        </p:nvSpPr>
        <p:spPr>
          <a:xfrm>
            <a:off x="1828800" y="3941064"/>
            <a:ext cx="4846320" cy="329184"/>
          </a:xfrm>
          <a:prstGeom prst="rect">
            <a:avLst/>
          </a:prstGeom>
          <a:noFill/>
          <a:ln/>
        </p:spPr>
        <p:txBody>
          <a:bodyPr wrap="square" lIns="0" tIns="0" rIns="0" bIns="0" rtlCol="0" anchor="t"/>
          <a:lstStyle/>
          <a:p>
            <a:pPr indent="0" marL="0">
              <a:buNone/>
            </a:pPr>
            <a:r>
              <a:rPr lang="en-US" sz="1900" b="1" dirty="0">
                <a:solidFill>
                  <a:schemeClr val="tx2"/>
                </a:solidFill>
              </a:rPr>
              <a:t>Les bons réflexes</a:t>
            </a:r>
            <a:endParaRPr lang="en-US" sz="1900" dirty="0"/>
          </a:p>
        </p:txBody>
      </p:sp>
      <p:sp>
        <p:nvSpPr>
          <p:cNvPr id="17" name="a3|desc"/>
          <p:cNvSpPr txBox="1"/>
          <p:nvPr/>
        </p:nvSpPr>
        <p:spPr>
          <a:xfrm>
            <a:off x="1828800" y="4288536"/>
            <a:ext cx="4846320" cy="274320"/>
          </a:xfrm>
          <a:prstGeom prst="rect">
            <a:avLst/>
          </a:prstGeom>
          <a:noFill/>
          <a:ln/>
        </p:spPr>
        <p:txBody>
          <a:bodyPr wrap="square" lIns="0" tIns="0" rIns="0" bIns="0" rtlCol="0" anchor="t"/>
          <a:lstStyle/>
          <a:p>
            <a:pPr indent="0" marL="0">
              <a:buNone/>
            </a:pPr>
            <a:r>
              <a:rPr lang="en-US" sz="1400" dirty="0">
                <a:solidFill>
                  <a:schemeClr val="accent3"/>
                </a:solidFill>
              </a:rPr>
              <a:t>Avant, pendant et après un clic</a:t>
            </a:r>
            <a:endParaRPr lang="en-US" sz="1400" dirty="0"/>
          </a:p>
        </p:txBody>
      </p:sp>
      <p:sp>
        <p:nvSpPr>
          <p:cNvPr id="18" name="a3|durée"/>
          <p:cNvSpPr/>
          <p:nvPr/>
        </p:nvSpPr>
        <p:spPr>
          <a:xfrm>
            <a:off x="6812280" y="4059936"/>
            <a:ext cx="1005840" cy="365760"/>
          </a:xfrm>
          <a:prstGeom prst="roundRect">
            <a:avLst>
              <a:gd name="adj" fmla="val 50000"/>
            </a:avLst>
          </a:prstGeom>
          <a:solidFill>
            <a:schemeClr val="bg1"/>
          </a:solidFill>
          <a:ln/>
        </p:spPr>
        <p:txBody>
          <a:bodyPr wrap="square" lIns="0" tIns="0" rIns="0" bIns="0" rtlCol="0" anchor="ctr"/>
          <a:lstStyle/>
          <a:p>
            <a:pPr algn="ctr" indent="0" marL="0">
              <a:buNone/>
            </a:pPr>
            <a:r>
              <a:rPr lang="en-US" sz="1300" b="1" dirty="0">
                <a:solidFill>
                  <a:schemeClr val="tx2"/>
                </a:solidFill>
              </a:rPr>
              <a:t>7 min</a:t>
            </a:r>
            <a:endParaRPr lang="en-US" sz="1300" dirty="0"/>
          </a:p>
        </p:txBody>
      </p:sp>
      <p:sp>
        <p:nvSpPr>
          <p:cNvPr id="19" name="a4|ligne"/>
          <p:cNvSpPr/>
          <p:nvPr/>
        </p:nvSpPr>
        <p:spPr>
          <a:xfrm>
            <a:off x="548640" y="4855464"/>
            <a:ext cx="7498080" cy="914400"/>
          </a:xfrm>
          <a:prstGeom prst="roundRect">
            <a:avLst>
              <a:gd name="adj" fmla="val 10000"/>
            </a:avLst>
          </a:prstGeom>
          <a:solidFill>
            <a:schemeClr val="bg2"/>
          </a:solidFill>
          <a:ln/>
        </p:spPr>
      </p:sp>
      <p:sp>
        <p:nvSpPr>
          <p:cNvPr id="20" name="a4|num"/>
          <p:cNvSpPr txBox="1"/>
          <p:nvPr/>
        </p:nvSpPr>
        <p:spPr>
          <a:xfrm>
            <a:off x="822960" y="4855464"/>
            <a:ext cx="914400" cy="914400"/>
          </a:xfrm>
          <a:prstGeom prst="rect">
            <a:avLst/>
          </a:prstGeom>
          <a:noFill/>
          <a:ln/>
        </p:spPr>
        <p:txBody>
          <a:bodyPr wrap="square" lIns="0" tIns="0" rIns="0" bIns="0" rtlCol="0" anchor="ctr"/>
          <a:lstStyle/>
          <a:p>
            <a:pPr indent="0" marL="0">
              <a:buNone/>
            </a:pPr>
            <a:r>
              <a:rPr lang="en-US" sz="3400" b="1" dirty="0">
                <a:solidFill>
                  <a:schemeClr val="accent2"/>
                </a:solidFill>
              </a:rPr>
              <a:t>04</a:t>
            </a:r>
            <a:endParaRPr lang="en-US" sz="3400" dirty="0"/>
          </a:p>
        </p:txBody>
      </p:sp>
      <p:sp>
        <p:nvSpPr>
          <p:cNvPr id="21" name="a4|titre"/>
          <p:cNvSpPr txBox="1"/>
          <p:nvPr/>
        </p:nvSpPr>
        <p:spPr>
          <a:xfrm>
            <a:off x="1828800" y="5010912"/>
            <a:ext cx="4846320" cy="329184"/>
          </a:xfrm>
          <a:prstGeom prst="rect">
            <a:avLst/>
          </a:prstGeom>
          <a:noFill/>
          <a:ln/>
        </p:spPr>
        <p:txBody>
          <a:bodyPr wrap="square" lIns="0" tIns="0" rIns="0" bIns="0" rtlCol="0" anchor="t"/>
          <a:lstStyle/>
          <a:p>
            <a:pPr indent="0" marL="0">
              <a:buNone/>
            </a:pPr>
            <a:r>
              <a:rPr lang="en-US" sz="1900" b="1" dirty="0">
                <a:solidFill>
                  <a:schemeClr val="tx2"/>
                </a:solidFill>
              </a:rPr>
              <a:t>Plan d'action</a:t>
            </a:r>
            <a:endParaRPr lang="en-US" sz="1900" dirty="0"/>
          </a:p>
        </p:txBody>
      </p:sp>
      <p:sp>
        <p:nvSpPr>
          <p:cNvPr id="22" name="a4|desc"/>
          <p:cNvSpPr txBox="1"/>
          <p:nvPr/>
        </p:nvSpPr>
        <p:spPr>
          <a:xfrm>
            <a:off x="1828800" y="5358384"/>
            <a:ext cx="4846320" cy="274320"/>
          </a:xfrm>
          <a:prstGeom prst="rect">
            <a:avLst/>
          </a:prstGeom>
          <a:noFill/>
          <a:ln/>
        </p:spPr>
        <p:txBody>
          <a:bodyPr wrap="square" lIns="0" tIns="0" rIns="0" bIns="0" rtlCol="0" anchor="t"/>
          <a:lstStyle/>
          <a:p>
            <a:pPr indent="0" marL="0">
              <a:buNone/>
            </a:pPr>
            <a:r>
              <a:rPr lang="en-US" sz="1400" dirty="0">
                <a:solidFill>
                  <a:schemeClr val="accent3"/>
                </a:solidFill>
              </a:rPr>
              <a:t>Ce que l'entreprise met en place</a:t>
            </a:r>
            <a:endParaRPr lang="en-US" sz="1400" dirty="0"/>
          </a:p>
        </p:txBody>
      </p:sp>
      <p:sp>
        <p:nvSpPr>
          <p:cNvPr id="23" name="a4|durée"/>
          <p:cNvSpPr/>
          <p:nvPr/>
        </p:nvSpPr>
        <p:spPr>
          <a:xfrm>
            <a:off x="6812280" y="5129784"/>
            <a:ext cx="1005840" cy="365760"/>
          </a:xfrm>
          <a:prstGeom prst="roundRect">
            <a:avLst>
              <a:gd name="adj" fmla="val 50000"/>
            </a:avLst>
          </a:prstGeom>
          <a:solidFill>
            <a:schemeClr val="bg1"/>
          </a:solidFill>
          <a:ln/>
        </p:spPr>
        <p:txBody>
          <a:bodyPr wrap="square" lIns="0" tIns="0" rIns="0" bIns="0" rtlCol="0" anchor="ctr"/>
          <a:lstStyle/>
          <a:p>
            <a:pPr algn="ctr" indent="0" marL="0">
              <a:buNone/>
            </a:pPr>
            <a:r>
              <a:rPr lang="en-US" sz="1300" b="1" dirty="0">
                <a:solidFill>
                  <a:schemeClr val="tx2"/>
                </a:solidFill>
              </a:rPr>
              <a:t>7 min</a:t>
            </a:r>
            <a:endParaRPr lang="en-US" sz="1300" dirty="0"/>
          </a:p>
        </p:txBody>
      </p:sp>
      <p:sp>
        <p:nvSpPr>
          <p:cNvPr id="24" name="a5|panneau"/>
          <p:cNvSpPr/>
          <p:nvPr/>
        </p:nvSpPr>
        <p:spPr>
          <a:xfrm>
            <a:off x="8321040" y="1645920"/>
            <a:ext cx="3322015" cy="4270248"/>
          </a:xfrm>
          <a:prstGeom prst="roundRect">
            <a:avLst>
              <a:gd name="adj" fmla="val 2753"/>
            </a:avLst>
          </a:prstGeom>
          <a:solidFill>
            <a:schemeClr val="tx2"/>
          </a:solidFill>
          <a:ln/>
        </p:spPr>
      </p:sp>
      <p:sp>
        <p:nvSpPr>
          <p:cNvPr id="25" name="a5|icône"/>
          <p:cNvSpPr/>
          <p:nvPr/>
        </p:nvSpPr>
        <p:spPr>
          <a:xfrm>
            <a:off x="8595360" y="1920240"/>
            <a:ext cx="566928" cy="566928"/>
          </a:xfrm>
          <a:prstGeom prst="ellipse">
            <a:avLst/>
          </a:prstGeom>
          <a:solidFill>
            <a:schemeClr val="accent1"/>
          </a:solidFill>
          <a:ln/>
        </p:spPr>
      </p:sp>
      <p:pic>
        <p:nvPicPr>
          <p:cNvPr id="26" name="a5|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37092" y="2061972"/>
            <a:ext cx="283464" cy="283464"/>
          </a:xfrm>
          <a:prstGeom prst="rect">
            <a:avLst/>
          </a:prstGeom>
        </p:spPr>
      </p:pic>
      <p:sp>
        <p:nvSpPr>
          <p:cNvPr id="27" name="a5|f"/>
          <p:cNvSpPr txBox="1"/>
          <p:nvPr/>
        </p:nvSpPr>
        <p:spPr>
          <a:xfrm>
            <a:off x="8595360" y="2697480"/>
            <a:ext cx="2743200" cy="365760"/>
          </a:xfrm>
          <a:prstGeom prst="rect">
            <a:avLst/>
          </a:prstGeom>
          <a:noFill/>
          <a:ln/>
        </p:spPr>
        <p:txBody>
          <a:bodyPr wrap="square" lIns="0" tIns="0" rIns="0" bIns="0" rtlCol="0" anchor="t"/>
          <a:lstStyle/>
          <a:p>
            <a:pPr indent="0" marL="0">
              <a:buNone/>
            </a:pPr>
            <a:r>
              <a:rPr lang="en-US" sz="2000" b="1" dirty="0">
                <a:solidFill>
                  <a:schemeClr val="bg1"/>
                </a:solidFill>
              </a:rPr>
              <a:t>Format</a:t>
            </a:r>
            <a:endParaRPr lang="en-US" sz="2000" dirty="0"/>
          </a:p>
        </p:txBody>
      </p:sp>
      <p:sp>
        <p:nvSpPr>
          <p:cNvPr id="28" name="a5|liste"/>
          <p:cNvSpPr txBox="1"/>
          <p:nvPr/>
        </p:nvSpPr>
        <p:spPr>
          <a:xfrm>
            <a:off x="8595360" y="3154680"/>
            <a:ext cx="278892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30 minutes + questions</a:t>
            </a:r>
            <a:endParaRPr lang="en-US" sz="1500" dirty="0"/>
          </a:p>
          <a:p>
            <a:pPr marL="342900" indent="-342900">
              <a:spcAft>
                <a:spcPts val="800"/>
              </a:spcAft>
              <a:buSzPct val="100000"/>
              <a:buChar char="•"/>
            </a:pPr>
            <a:r>
              <a:rPr lang="en-US" sz="1500" dirty="0">
                <a:solidFill>
                  <a:schemeClr val="bg1"/>
                </a:solidFill>
              </a:rPr>
              <a:t>Un quiz pour s'entraîner</a:t>
            </a:r>
            <a:endParaRPr lang="en-US" sz="1500" dirty="0"/>
          </a:p>
          <a:p>
            <a:pPr marL="342900" indent="-342900">
              <a:spcAft>
                <a:spcPts val="800"/>
              </a:spcAft>
              <a:buSzPct val="100000"/>
              <a:buChar char="•"/>
            </a:pPr>
            <a:r>
              <a:rPr lang="en-US" sz="1500" dirty="0">
                <a:solidFill>
                  <a:schemeClr val="bg1"/>
                </a:solidFill>
              </a:rPr>
              <a:t>Une affiche A4 à garder</a:t>
            </a:r>
            <a:endParaRPr lang="en-US" sz="1500" dirty="0"/>
          </a:p>
          <a:p>
            <a:pPr marL="342900" indent="-342900">
              <a:spcAft>
                <a:spcPts val="800"/>
              </a:spcAft>
              <a:buSzPct val="100000"/>
              <a:buChar char="•"/>
            </a:pPr>
            <a:r>
              <a:rPr lang="en-US" sz="1500" dirty="0">
                <a:solidFill>
                  <a:schemeClr val="bg1"/>
                </a:solidFill>
              </a:rPr>
              <a:t>Une version Direction de 20 minutes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7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75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7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7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10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10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10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10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a1|numéro"/>
          <p:cNvSpPr txBox="1"/>
          <p:nvPr/>
        </p:nvSpPr>
        <p:spPr>
          <a:xfrm>
            <a:off x="731520" y="132588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01</a:t>
            </a:r>
            <a:endParaRPr lang="en-US" sz="12000" dirty="0"/>
          </a:p>
        </p:txBody>
      </p:sp>
      <p:sp>
        <p:nvSpPr>
          <p:cNvPr id="3" name="Text 0"/>
          <p:cNvSpPr/>
          <p:nvPr>
            <p:ph idx="100" type="title" hasCustomPrompt="1"/>
          </p:nvPr>
        </p:nvSpPr>
        <p:spPr>
          <a:xfrm>
            <a:off x="731520" y="3154680"/>
            <a:ext cx="6949440" cy="868680"/>
          </a:xfrm>
          <a:prstGeom prst="rect">
            <a:avLst/>
          </a:prstGeom>
          <a:noFill/>
          <a:ln/>
        </p:spPr>
        <p:txBody>
          <a:bodyPr wrap="square" lIns="0" tIns="0" rIns="0" bIns="0" rtlCol="0" anchor="t"/>
          <a:lstStyle/>
          <a:p>
            <a:pPr algn="l" indent="0" marL="0">
              <a:buNone/>
            </a:pPr>
            <a:r>
              <a:rPr lang="en-US" sz="4400" b="1" dirty="0">
                <a:solidFill>
                  <a:schemeClr val="bg1"/>
                </a:solidFill>
              </a:rPr>
              <a:t>La menace en chiffres</a:t>
            </a:r>
            <a:endParaRPr lang="en-US" sz="4400" dirty="0"/>
          </a:p>
        </p:txBody>
      </p:sp>
      <p:sp>
        <p:nvSpPr>
          <p:cNvPr id="4" name="Text 0"/>
          <p:cNvSpPr/>
          <p:nvPr>
            <p:ph idx="101" type="body" hasCustomPrompt="1"/>
          </p:nvPr>
        </p:nvSpPr>
        <p:spPr>
          <a:xfrm>
            <a:off x="731520" y="4114800"/>
            <a:ext cx="6766560" cy="822960"/>
          </a:xfrm>
          <a:prstGeom prst="rect">
            <a:avLst/>
          </a:prstGeom>
          <a:noFill/>
          <a:ln/>
        </p:spPr>
        <p:txBody>
          <a:bodyPr wrap="square" lIns="0" tIns="0" rIns="0" bIns="0" rtlCol="0" anchor="t"/>
          <a:lstStyle/>
          <a:p>
            <a:pPr algn="l" indent="0" marL="0">
              <a:buNone/>
            </a:pPr>
            <a:r>
              <a:rPr lang="en-US" sz="2000" dirty="0">
                <a:solidFill>
                  <a:schemeClr val="bg2"/>
                </a:solidFill>
              </a:rPr>
              <a:t>Pourquoi les PME sont devenues la cible privilégiée</a:t>
            </a:r>
            <a:endParaRPr lang="en-US" sz="2000" dirty="0"/>
          </a:p>
        </p:txBody>
      </p:sp>
      <p:pic>
        <p:nvPicPr>
          <p:cNvPr id="5" name="a1|illustration" descr="">
            <a:extLst>
              <a:ext uri="{C183D7F6-B498-43B3-948B-1728B52AA6E4}">
                <adec:decorative xmlns:adec="http://schemas.microsoft.com/office/drawing/2017/decorative" val="1"/>
              </a:ext>
            </a:extLst>
          </p:cNvPr>
          <p:cNvPicPr>
            <a:picLocks noChangeAspect="1"/>
          </p:cNvPicPr>
          <p:nvPr/>
        </p:nvPicPr>
        <p:blipFill>
          <a:blip r:embed="rId1">
            <a:alphaModFix amt="12000"/>
          </a:blip>
          <a:stretch>
            <a:fillRect/>
          </a:stretch>
        </p:blipFill>
        <p:spPr>
          <a:xfrm>
            <a:off x="8183880" y="1417320"/>
            <a:ext cx="3291840" cy="3291840"/>
          </a:xfrm>
          <a:prstGeom prst="rect">
            <a:avLst/>
          </a:prstGeom>
        </p:spPr>
      </p:pic>
      <p:sp>
        <p:nvSpPr>
          <p:cNvPr id="6" name="Text 3"/>
          <p:cNvSpPr txBox="1"/>
          <p:nvPr/>
        </p:nvSpPr>
        <p:spPr>
          <a:xfrm>
            <a:off x="731520" y="5897880"/>
            <a:ext cx="2377440" cy="320040"/>
          </a:xfrm>
          <a:prstGeom prst="rect">
            <a:avLst/>
          </a:prstGeom>
          <a:noFill/>
          <a:ln/>
        </p:spPr>
        <p:txBody>
          <a:bodyPr wrap="square" lIns="0" tIns="0" rIns="0" bIns="0" rtlCol="0" anchor="ctr"/>
          <a:lstStyle/>
          <a:p>
            <a:pPr indent="0" marL="0">
              <a:buNone/>
            </a:pPr>
            <a:r>
              <a:rPr lang="en-US" sz="1300" b="1" dirty="0">
                <a:solidFill>
                  <a:schemeClr val="bg1"/>
                </a:solidFill>
              </a:rPr>
              <a:t>01  La menace</a:t>
            </a:r>
            <a:endParaRPr lang="en-US" sz="1300" dirty="0"/>
          </a:p>
        </p:txBody>
      </p:sp>
      <p:sp>
        <p:nvSpPr>
          <p:cNvPr id="7" name="Text 4"/>
          <p:cNvSpPr txBox="1"/>
          <p:nvPr/>
        </p:nvSpPr>
        <p:spPr>
          <a:xfrm>
            <a:off x="32461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02  Reconnaître</a:t>
            </a:r>
            <a:endParaRPr lang="en-US" sz="1300" dirty="0"/>
          </a:p>
        </p:txBody>
      </p:sp>
      <p:sp>
        <p:nvSpPr>
          <p:cNvPr id="8" name="Text 5"/>
          <p:cNvSpPr txBox="1"/>
          <p:nvPr/>
        </p:nvSpPr>
        <p:spPr>
          <a:xfrm>
            <a:off x="57607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03  Réflexes</a:t>
            </a:r>
            <a:endParaRPr lang="en-US" sz="1300" dirty="0"/>
          </a:p>
        </p:txBody>
      </p:sp>
      <p:sp>
        <p:nvSpPr>
          <p:cNvPr id="9" name="Text 6"/>
          <p:cNvSpPr txBox="1"/>
          <p:nvPr/>
        </p:nvSpPr>
        <p:spPr>
          <a:xfrm>
            <a:off x="82753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04  Plan d'action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Les PME, une cible de choix</a:t>
            </a:r>
            <a:endParaRPr lang="en-US" sz="3600" dirty="0"/>
          </a:p>
        </p:txBody>
      </p:sp>
      <p:sp>
        <p:nvSpPr>
          <p:cNvPr id="4" name="a1|carte"/>
          <p:cNvSpPr/>
          <p:nvPr/>
        </p:nvSpPr>
        <p:spPr>
          <a:xfrm>
            <a:off x="548640" y="1645920"/>
            <a:ext cx="3547872" cy="3246120"/>
          </a:xfrm>
          <a:prstGeom prst="roundRect">
            <a:avLst>
              <a:gd name="adj" fmla="val 2817"/>
            </a:avLst>
          </a:prstGeom>
          <a:solidFill>
            <a:schemeClr val="bg2"/>
          </a:solidFill>
          <a:ln/>
        </p:spPr>
      </p:sp>
      <p:sp>
        <p:nvSpPr>
          <p:cNvPr id="5" name="a1|icône"/>
          <p:cNvSpPr/>
          <p:nvPr/>
        </p:nvSpPr>
        <p:spPr>
          <a:xfrm>
            <a:off x="868680" y="1920240"/>
            <a:ext cx="603504" cy="603504"/>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19556" y="2071116"/>
            <a:ext cx="301752" cy="301752"/>
          </a:xfrm>
          <a:prstGeom prst="rect">
            <a:avLst/>
          </a:prstGeom>
        </p:spPr>
      </p:pic>
      <p:sp>
        <p:nvSpPr>
          <p:cNvPr id="7" name="a1|chiffre"/>
          <p:cNvSpPr txBox="1"/>
          <p:nvPr/>
        </p:nvSpPr>
        <p:spPr>
          <a:xfrm>
            <a:off x="868680" y="2651760"/>
            <a:ext cx="2926080" cy="868680"/>
          </a:xfrm>
          <a:prstGeom prst="rect">
            <a:avLst/>
          </a:prstGeom>
          <a:noFill/>
          <a:ln/>
        </p:spPr>
        <p:txBody>
          <a:bodyPr wrap="square" lIns="0" tIns="0" rIns="0" bIns="0" rtlCol="0" anchor="t"/>
          <a:lstStyle/>
          <a:p>
            <a:pPr indent="0" marL="0">
              <a:buNone/>
            </a:pPr>
            <a:r>
              <a:rPr lang="en-US" sz="5200" b="1" dirty="0">
                <a:solidFill>
                  <a:schemeClr val="accent1"/>
                </a:solidFill>
              </a:rPr>
              <a:t>44 %</a:t>
            </a:r>
            <a:endParaRPr lang="en-US" sz="5200" dirty="0"/>
          </a:p>
        </p:txBody>
      </p:sp>
      <p:sp>
        <p:nvSpPr>
          <p:cNvPr id="8" name="a1|texte"/>
          <p:cNvSpPr txBox="1"/>
          <p:nvPr/>
        </p:nvSpPr>
        <p:spPr>
          <a:xfrm>
            <a:off x="868680" y="3566160"/>
            <a:ext cx="2926080" cy="822960"/>
          </a:xfrm>
          <a:prstGeom prst="rect">
            <a:avLst/>
          </a:prstGeom>
          <a:noFill/>
          <a:ln/>
        </p:spPr>
        <p:txBody>
          <a:bodyPr wrap="square" lIns="0" tIns="0" rIns="0" bIns="0" rtlCol="0" anchor="t"/>
          <a:lstStyle/>
          <a:p>
            <a:pPr indent="0" marL="0">
              <a:buNone/>
            </a:pPr>
            <a:r>
              <a:rPr lang="en-US" sz="1500" dirty="0">
                <a:solidFill>
                  <a:schemeClr val="tx1"/>
                </a:solidFill>
              </a:rPr>
              <a:t>des dirigeants de TPE-PME s'estiment fortement exposés aux menaces numériques</a:t>
            </a:r>
            <a:endParaRPr lang="en-US" sz="1500" dirty="0"/>
          </a:p>
        </p:txBody>
      </p:sp>
      <p:sp>
        <p:nvSpPr>
          <p:cNvPr id="9" name="a1|repère"/>
          <p:cNvSpPr txBox="1"/>
          <p:nvPr/>
        </p:nvSpPr>
        <p:spPr>
          <a:xfrm>
            <a:off x="868680" y="4434840"/>
            <a:ext cx="2926080" cy="274320"/>
          </a:xfrm>
          <a:prstGeom prst="rect">
            <a:avLst/>
          </a:prstGeom>
          <a:noFill/>
          <a:ln/>
        </p:spPr>
        <p:txBody>
          <a:bodyPr wrap="square" lIns="0" tIns="0" rIns="0" bIns="0" rtlCol="0" anchor="t"/>
          <a:lstStyle/>
          <a:p>
            <a:pPr indent="0" marL="0">
              <a:buNone/>
            </a:pPr>
            <a:r>
              <a:rPr lang="en-US" sz="1200" i="1" dirty="0">
                <a:solidFill>
                  <a:schemeClr val="accent3"/>
                </a:solidFill>
              </a:rPr>
              <a:t>38 % en 2024</a:t>
            </a:r>
            <a:endParaRPr lang="en-US" sz="1200" dirty="0"/>
          </a:p>
        </p:txBody>
      </p:sp>
      <p:sp>
        <p:nvSpPr>
          <p:cNvPr id="10" name="a2|carte"/>
          <p:cNvSpPr/>
          <p:nvPr/>
        </p:nvSpPr>
        <p:spPr>
          <a:xfrm>
            <a:off x="4321454" y="1645920"/>
            <a:ext cx="3547872" cy="3246120"/>
          </a:xfrm>
          <a:prstGeom prst="roundRect">
            <a:avLst>
              <a:gd name="adj" fmla="val 2817"/>
            </a:avLst>
          </a:prstGeom>
          <a:solidFill>
            <a:schemeClr val="bg2"/>
          </a:solidFill>
          <a:ln/>
        </p:spPr>
      </p:sp>
      <p:sp>
        <p:nvSpPr>
          <p:cNvPr id="11" name="a2|icône"/>
          <p:cNvSpPr/>
          <p:nvPr/>
        </p:nvSpPr>
        <p:spPr>
          <a:xfrm>
            <a:off x="4641494" y="1920240"/>
            <a:ext cx="603504" cy="603504"/>
          </a:xfrm>
          <a:prstGeom prst="ellipse">
            <a:avLst/>
          </a:prstGeom>
          <a:solidFill>
            <a:schemeClr val="accent1"/>
          </a:solidFill>
          <a:ln/>
        </p:spPr>
      </p:sp>
      <p:pic>
        <p:nvPicPr>
          <p:cNvPr id="12"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92370" y="2071116"/>
            <a:ext cx="301752" cy="301752"/>
          </a:xfrm>
          <a:prstGeom prst="rect">
            <a:avLst/>
          </a:prstGeom>
        </p:spPr>
      </p:pic>
      <p:sp>
        <p:nvSpPr>
          <p:cNvPr id="13" name="a2|chiffre"/>
          <p:cNvSpPr txBox="1"/>
          <p:nvPr/>
        </p:nvSpPr>
        <p:spPr>
          <a:xfrm>
            <a:off x="4641494" y="2651760"/>
            <a:ext cx="2926080" cy="868680"/>
          </a:xfrm>
          <a:prstGeom prst="rect">
            <a:avLst/>
          </a:prstGeom>
          <a:noFill/>
          <a:ln/>
        </p:spPr>
        <p:txBody>
          <a:bodyPr wrap="square" lIns="0" tIns="0" rIns="0" bIns="0" rtlCol="0" anchor="t"/>
          <a:lstStyle/>
          <a:p>
            <a:pPr indent="0" marL="0">
              <a:buNone/>
            </a:pPr>
            <a:r>
              <a:rPr lang="en-US" sz="5200" b="1" dirty="0">
                <a:solidFill>
                  <a:schemeClr val="accent1"/>
                </a:solidFill>
              </a:rPr>
              <a:t>16 %</a:t>
            </a:r>
            <a:endParaRPr lang="en-US" sz="5200" dirty="0"/>
          </a:p>
        </p:txBody>
      </p:sp>
      <p:sp>
        <p:nvSpPr>
          <p:cNvPr id="14" name="a2|texte"/>
          <p:cNvSpPr txBox="1"/>
          <p:nvPr/>
        </p:nvSpPr>
        <p:spPr>
          <a:xfrm>
            <a:off x="4641494" y="3566160"/>
            <a:ext cx="2926080" cy="822960"/>
          </a:xfrm>
          <a:prstGeom prst="rect">
            <a:avLst/>
          </a:prstGeom>
          <a:noFill/>
          <a:ln/>
        </p:spPr>
        <p:txBody>
          <a:bodyPr wrap="square" lIns="0" tIns="0" rIns="0" bIns="0" rtlCol="0" anchor="t"/>
          <a:lstStyle/>
          <a:p>
            <a:pPr indent="0" marL="0">
              <a:buNone/>
            </a:pPr>
            <a:r>
              <a:rPr lang="en-US" sz="1500" dirty="0">
                <a:solidFill>
                  <a:schemeClr val="tx1"/>
                </a:solidFill>
              </a:rPr>
              <a:t>des PME ont subi au moins un incident cyber au cours des 12 derniers mois</a:t>
            </a:r>
            <a:endParaRPr lang="en-US" sz="1500" dirty="0"/>
          </a:p>
        </p:txBody>
      </p:sp>
      <p:sp>
        <p:nvSpPr>
          <p:cNvPr id="15" name="a2|repère"/>
          <p:cNvSpPr txBox="1"/>
          <p:nvPr/>
        </p:nvSpPr>
        <p:spPr>
          <a:xfrm>
            <a:off x="4641494" y="4434840"/>
            <a:ext cx="2926080" cy="274320"/>
          </a:xfrm>
          <a:prstGeom prst="rect">
            <a:avLst/>
          </a:prstGeom>
          <a:noFill/>
          <a:ln/>
        </p:spPr>
        <p:txBody>
          <a:bodyPr wrap="square" lIns="0" tIns="0" rIns="0" bIns="0" rtlCol="0" anchor="t"/>
          <a:lstStyle/>
          <a:p>
            <a:pPr indent="0" marL="0">
              <a:buNone/>
            </a:pPr>
            <a:r>
              <a:rPr lang="en-US" sz="1200" i="1" dirty="0">
                <a:solidFill>
                  <a:schemeClr val="accent3"/>
                </a:solidFill>
              </a:rPr>
              <a:t>Soit environ 1 sur 6</a:t>
            </a:r>
            <a:endParaRPr lang="en-US" sz="1200" dirty="0"/>
          </a:p>
        </p:txBody>
      </p:sp>
      <p:sp>
        <p:nvSpPr>
          <p:cNvPr id="16" name="a3|carte"/>
          <p:cNvSpPr/>
          <p:nvPr/>
        </p:nvSpPr>
        <p:spPr>
          <a:xfrm>
            <a:off x="8094269" y="1645920"/>
            <a:ext cx="3547872" cy="3246120"/>
          </a:xfrm>
          <a:prstGeom prst="roundRect">
            <a:avLst>
              <a:gd name="adj" fmla="val 2817"/>
            </a:avLst>
          </a:prstGeom>
          <a:solidFill>
            <a:schemeClr val="bg2"/>
          </a:solidFill>
          <a:ln/>
        </p:spPr>
      </p:sp>
      <p:sp>
        <p:nvSpPr>
          <p:cNvPr id="17" name="a3|icône"/>
          <p:cNvSpPr/>
          <p:nvPr/>
        </p:nvSpPr>
        <p:spPr>
          <a:xfrm>
            <a:off x="8414309" y="1920240"/>
            <a:ext cx="603504" cy="603504"/>
          </a:xfrm>
          <a:prstGeom prst="ellipse">
            <a:avLst/>
          </a:prstGeom>
          <a:solidFill>
            <a:schemeClr val="accent1"/>
          </a:solidFill>
          <a:ln/>
        </p:spPr>
      </p:sp>
      <p:pic>
        <p:nvPicPr>
          <p:cNvPr id="18"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65185" y="2071116"/>
            <a:ext cx="301752" cy="301752"/>
          </a:xfrm>
          <a:prstGeom prst="rect">
            <a:avLst/>
          </a:prstGeom>
        </p:spPr>
      </p:pic>
      <p:sp>
        <p:nvSpPr>
          <p:cNvPr id="19" name="a3|chiffre"/>
          <p:cNvSpPr txBox="1"/>
          <p:nvPr/>
        </p:nvSpPr>
        <p:spPr>
          <a:xfrm>
            <a:off x="8414309" y="2651760"/>
            <a:ext cx="2926080" cy="868680"/>
          </a:xfrm>
          <a:prstGeom prst="rect">
            <a:avLst/>
          </a:prstGeom>
          <a:noFill/>
          <a:ln/>
        </p:spPr>
        <p:txBody>
          <a:bodyPr wrap="square" lIns="0" tIns="0" rIns="0" bIns="0" rtlCol="0" anchor="t"/>
          <a:lstStyle/>
          <a:p>
            <a:pPr indent="0" marL="0">
              <a:buNone/>
            </a:pPr>
            <a:r>
              <a:rPr lang="en-US" sz="5200" b="1" dirty="0">
                <a:solidFill>
                  <a:schemeClr val="accent1"/>
                </a:solidFill>
              </a:rPr>
              <a:t>3 sur 4</a:t>
            </a:r>
            <a:endParaRPr lang="en-US" sz="5200" dirty="0"/>
          </a:p>
        </p:txBody>
      </p:sp>
      <p:sp>
        <p:nvSpPr>
          <p:cNvPr id="20" name="a3|texte"/>
          <p:cNvSpPr txBox="1"/>
          <p:nvPr/>
        </p:nvSpPr>
        <p:spPr>
          <a:xfrm>
            <a:off x="8414309" y="3566160"/>
            <a:ext cx="2926080" cy="822960"/>
          </a:xfrm>
          <a:prstGeom prst="rect">
            <a:avLst/>
          </a:prstGeom>
          <a:noFill/>
          <a:ln/>
        </p:spPr>
        <p:txBody>
          <a:bodyPr wrap="square" lIns="0" tIns="0" rIns="0" bIns="0" rtlCol="0" anchor="t"/>
          <a:lstStyle/>
          <a:p>
            <a:pPr indent="0" marL="0">
              <a:buNone/>
            </a:pPr>
            <a:r>
              <a:rPr lang="en-US" sz="1500" dirty="0">
                <a:solidFill>
                  <a:schemeClr val="tx1"/>
                </a:solidFill>
              </a:rPr>
              <a:t>consacrent moins de 2 000 € par an à leur cybersécurité</a:t>
            </a:r>
            <a:endParaRPr lang="en-US" sz="1500" dirty="0"/>
          </a:p>
        </p:txBody>
      </p:sp>
      <p:sp>
        <p:nvSpPr>
          <p:cNvPr id="21" name="a3|repère"/>
          <p:cNvSpPr txBox="1"/>
          <p:nvPr/>
        </p:nvSpPr>
        <p:spPr>
          <a:xfrm>
            <a:off x="8414309" y="4434840"/>
            <a:ext cx="2926080" cy="274320"/>
          </a:xfrm>
          <a:prstGeom prst="rect">
            <a:avLst/>
          </a:prstGeom>
          <a:noFill/>
          <a:ln/>
        </p:spPr>
        <p:txBody>
          <a:bodyPr wrap="square" lIns="0" tIns="0" rIns="0" bIns="0" rtlCol="0" anchor="t"/>
          <a:lstStyle/>
          <a:p>
            <a:pPr indent="0" marL="0">
              <a:buNone/>
            </a:pPr>
            <a:r>
              <a:rPr lang="en-US" sz="1200" i="1" dirty="0">
                <a:solidFill>
                  <a:schemeClr val="accent3"/>
                </a:solidFill>
              </a:rPr>
              <a:t>Peu de moyens, peu de procédures</a:t>
            </a:r>
            <a:endParaRPr lang="en-US" sz="1200" dirty="0"/>
          </a:p>
        </p:txBody>
      </p:sp>
      <p:sp>
        <p:nvSpPr>
          <p:cNvPr id="22" name="a4|bandeau"/>
          <p:cNvSpPr/>
          <p:nvPr/>
        </p:nvSpPr>
        <p:spPr>
          <a:xfrm>
            <a:off x="548640" y="5120640"/>
            <a:ext cx="11094415" cy="594360"/>
          </a:xfrm>
          <a:prstGeom prst="roundRect">
            <a:avLst>
              <a:gd name="adj" fmla="val 15385"/>
            </a:avLst>
          </a:prstGeom>
          <a:solidFill>
            <a:schemeClr val="tx2"/>
          </a:solidFill>
          <a:ln/>
        </p:spPr>
      </p:sp>
      <p:sp>
        <p:nvSpPr>
          <p:cNvPr id="23" name="a4|bandeau"/>
          <p:cNvSpPr txBox="1"/>
          <p:nvPr/>
        </p:nvSpPr>
        <p:spPr>
          <a:xfrm>
            <a:off x="822960" y="5120640"/>
            <a:ext cx="10545775" cy="594360"/>
          </a:xfrm>
          <a:prstGeom prst="rect">
            <a:avLst/>
          </a:prstGeom>
          <a:noFill/>
          <a:ln/>
        </p:spPr>
        <p:txBody>
          <a:bodyPr wrap="square" lIns="0" tIns="0" rIns="0" bIns="0" rtlCol="0" anchor="ctr"/>
          <a:lstStyle/>
          <a:p>
            <a:pPr indent="0" marL="0">
              <a:buNone/>
            </a:pPr>
            <a:r>
              <a:rPr lang="en-US" sz="1600" b="1" dirty="0">
                <a:solidFill>
                  <a:schemeClr val="bg1"/>
                </a:solidFill>
              </a:rPr>
              <a:t>« Trop petits pour intéresser les pirates » : c'est précisément ce qui fait des PME des cibles faciles.</a:t>
            </a:r>
            <a:endParaRPr lang="en-US" sz="1600" dirty="0"/>
          </a:p>
        </p:txBody>
      </p:sp>
      <p:sp>
        <p:nvSpPr>
          <p:cNvPr id="24" name="Text 19"/>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 : Cybermalveillance.gouv.fr / OpinionWay, baromètre national de la maturité cyber des TPE-PME, 2025 (588 entreprises de moins de 250 salariés)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7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7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 phishing, 1re cause d'incident</a:t>
            </a:r>
            <a:endParaRPr lang="en-US" sz="3600" dirty="0"/>
          </a:p>
        </p:txBody>
      </p:sp>
      <p:sp>
        <p:nvSpPr>
          <p:cNvPr id="4" name="a1|cadre"/>
          <p:cNvSpPr/>
          <p:nvPr/>
        </p:nvSpPr>
        <p:spPr>
          <a:xfrm>
            <a:off x="548640" y="1645920"/>
            <a:ext cx="6675120" cy="4114800"/>
          </a:xfrm>
          <a:prstGeom prst="roundRect">
            <a:avLst>
              <a:gd name="adj" fmla="val 2222"/>
            </a:avLst>
          </a:prstGeom>
          <a:solidFill>
            <a:schemeClr val="bg1"/>
          </a:solidFill>
          <a:ln/>
          <a:effectLst>
            <a:outerShdw sx="100000" sy="100000" kx="0" ky="0" algn="bl" rotWithShape="0" blurRad="114300" dist="25400" dir="5400000">
              <a:srgbClr val="0E2235">
                <a:alpha val="12000"/>
              </a:srgbClr>
            </a:outerShdw>
          </a:effectLst>
        </p:spPr>
      </p:sp>
      <p:sp>
        <p:nvSpPr>
          <p:cNvPr id="5" name="a1|titre graphique"/>
          <p:cNvSpPr txBox="1"/>
          <p:nvPr/>
        </p:nvSpPr>
        <p:spPr>
          <a:xfrm>
            <a:off x="822960" y="1810512"/>
            <a:ext cx="6126480" cy="320040"/>
          </a:xfrm>
          <a:prstGeom prst="rect">
            <a:avLst/>
          </a:prstGeom>
          <a:noFill/>
          <a:ln/>
        </p:spPr>
        <p:txBody>
          <a:bodyPr wrap="square" lIns="0" tIns="0" rIns="0" bIns="0" rtlCol="0" anchor="t"/>
          <a:lstStyle/>
          <a:p>
            <a:pPr indent="0" marL="0">
              <a:buNone/>
            </a:pPr>
            <a:r>
              <a:rPr lang="en-US" sz="1500" b="1" dirty="0">
                <a:solidFill>
                  <a:schemeClr val="tx2"/>
                </a:solidFill>
              </a:rPr>
              <a:t>Causes identifiées par les PME victimes d'un incident</a:t>
            </a:r>
            <a:endParaRPr lang="en-US" sz="1500" dirty="0"/>
          </a:p>
        </p:txBody>
      </p:sp>
      <p:graphicFrame>
        <p:nvGraphicFramePr>
          <p:cNvPr id="6" name="a1|graphique" descr=""/>
          <p:cNvGraphicFramePr/>
          <p:nvPr/>
        </p:nvGraphicFramePr>
        <p:xfrm>
          <a:off x="685800" y="2194560"/>
          <a:ext cx="6400800" cy="3474720"/>
        </p:xfrm>
        <a:graphic xmlns:a="http://schemas.openxmlformats.org/drawingml/2006/main">
          <a:graphicData uri="http://schemas.openxmlformats.org/drawingml/2006/chart">
            <c:chart xmlns:c="http://schemas.openxmlformats.org/drawingml/2006/chart" r:id="rId1"/>
          </a:graphicData>
        </a:graphic>
      </p:graphicFrame>
      <p:sp>
        <p:nvSpPr>
          <p:cNvPr id="7" name="a2|chiffre"/>
          <p:cNvSpPr txBox="1"/>
          <p:nvPr/>
        </p:nvSpPr>
        <p:spPr>
          <a:xfrm>
            <a:off x="7589520" y="1600200"/>
            <a:ext cx="4023360" cy="1097280"/>
          </a:xfrm>
          <a:prstGeom prst="rect">
            <a:avLst/>
          </a:prstGeom>
          <a:noFill/>
          <a:ln/>
        </p:spPr>
        <p:txBody>
          <a:bodyPr wrap="square" lIns="0" tIns="0" rIns="0" bIns="0" rtlCol="0" anchor="t"/>
          <a:lstStyle/>
          <a:p>
            <a:pPr indent="0" marL="0">
              <a:buNone/>
            </a:pPr>
            <a:r>
              <a:rPr lang="en-US" sz="7200" b="1" dirty="0">
                <a:solidFill>
                  <a:schemeClr val="accent1"/>
                </a:solidFill>
              </a:rPr>
              <a:t>43 %</a:t>
            </a:r>
            <a:endParaRPr lang="en-US" sz="7200" dirty="0"/>
          </a:p>
        </p:txBody>
      </p:sp>
      <p:sp>
        <p:nvSpPr>
          <p:cNvPr id="8" name="a2|texte"/>
          <p:cNvSpPr txBox="1"/>
          <p:nvPr/>
        </p:nvSpPr>
        <p:spPr>
          <a:xfrm>
            <a:off x="7589520" y="2697480"/>
            <a:ext cx="4023360" cy="640080"/>
          </a:xfrm>
          <a:prstGeom prst="rect">
            <a:avLst/>
          </a:prstGeom>
          <a:noFill/>
          <a:ln/>
        </p:spPr>
        <p:txBody>
          <a:bodyPr wrap="square" lIns="0" tIns="0" rIns="0" bIns="0" rtlCol="0" anchor="t"/>
          <a:lstStyle/>
          <a:p>
            <a:pPr indent="0" marL="0">
              <a:buNone/>
            </a:pPr>
            <a:r>
              <a:rPr lang="en-US" sz="1700" b="1" dirty="0">
                <a:solidFill>
                  <a:schemeClr val="tx2"/>
                </a:solidFill>
              </a:rPr>
              <a:t>des incidents identifiés par les PME victimes sont liés au phishing</a:t>
            </a:r>
            <a:endParaRPr lang="en-US" sz="1700" dirty="0"/>
          </a:p>
        </p:txBody>
      </p:sp>
      <p:sp>
        <p:nvSpPr>
          <p:cNvPr id="9" name="a2|texte2"/>
          <p:cNvSpPr txBox="1"/>
          <p:nvPr/>
        </p:nvSpPr>
        <p:spPr>
          <a:xfrm>
            <a:off x="7589520" y="3383280"/>
            <a:ext cx="4023360" cy="548640"/>
          </a:xfrm>
          <a:prstGeom prst="rect">
            <a:avLst/>
          </a:prstGeom>
          <a:noFill/>
          <a:ln/>
        </p:spPr>
        <p:txBody>
          <a:bodyPr wrap="square" lIns="0" tIns="0" rIns="0" bIns="0" rtlCol="0" anchor="t"/>
          <a:lstStyle/>
          <a:p>
            <a:pPr indent="0" marL="0">
              <a:buNone/>
            </a:pPr>
            <a:r>
              <a:rPr lang="en-US" sz="1500" dirty="0">
                <a:solidFill>
                  <a:schemeClr val="accent3"/>
                </a:solidFill>
              </a:rPr>
              <a:t>Contre 24 % un an plus tôt : la part a presque doublé.</a:t>
            </a:r>
            <a:endParaRPr lang="en-US" sz="1500" dirty="0"/>
          </a:p>
        </p:txBody>
      </p:sp>
      <p:sp>
        <p:nvSpPr>
          <p:cNvPr id="10" name="a3|encadré"/>
          <p:cNvSpPr/>
          <p:nvPr/>
        </p:nvSpPr>
        <p:spPr>
          <a:xfrm>
            <a:off x="7589520" y="4251960"/>
            <a:ext cx="4053535" cy="1508760"/>
          </a:xfrm>
          <a:prstGeom prst="roundRect">
            <a:avLst>
              <a:gd name="adj" fmla="val 6061"/>
            </a:avLst>
          </a:prstGeom>
          <a:solidFill>
            <a:schemeClr val="bg2"/>
          </a:solidFill>
          <a:ln/>
        </p:spPr>
      </p:sp>
      <p:sp>
        <p:nvSpPr>
          <p:cNvPr id="11" name="a3|icône"/>
          <p:cNvSpPr/>
          <p:nvPr/>
        </p:nvSpPr>
        <p:spPr>
          <a:xfrm>
            <a:off x="7818120" y="4480560"/>
            <a:ext cx="548640" cy="548640"/>
          </a:xfrm>
          <a:prstGeom prst="ellipse">
            <a:avLst/>
          </a:prstGeom>
          <a:solidFill>
            <a:schemeClr val="accent1"/>
          </a:solidFill>
          <a:ln/>
        </p:spPr>
      </p:sp>
      <p:pic>
        <p:nvPicPr>
          <p:cNvPr id="12" name="a3|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55280" y="4617720"/>
            <a:ext cx="274320" cy="274320"/>
          </a:xfrm>
          <a:prstGeom prst="rect">
            <a:avLst/>
          </a:prstGeom>
        </p:spPr>
      </p:pic>
      <p:sp>
        <p:nvSpPr>
          <p:cNvPr id="13" name="a3|texte"/>
          <p:cNvSpPr txBox="1"/>
          <p:nvPr/>
        </p:nvSpPr>
        <p:spPr>
          <a:xfrm>
            <a:off x="8549640" y="4434840"/>
            <a:ext cx="2926080" cy="1234440"/>
          </a:xfrm>
          <a:prstGeom prst="rect">
            <a:avLst/>
          </a:prstGeom>
          <a:noFill/>
          <a:ln/>
        </p:spPr>
        <p:txBody>
          <a:bodyPr wrap="square" lIns="0" tIns="0" rIns="0" bIns="0" rtlCol="0" anchor="t"/>
          <a:lstStyle/>
          <a:p>
            <a:pPr indent="0" marL="0">
              <a:buNone/>
            </a:pPr>
            <a:r>
              <a:rPr lang="en-US" sz="2200" b="1" dirty="0">
                <a:solidFill>
                  <a:schemeClr val="accent1"/>
                </a:solidFill>
              </a:rPr>
              <a:t>+70 %</a:t>
            </a:r>
            <a:endParaRPr lang="en-US" sz="1400" dirty="0"/>
          </a:p>
          <a:p>
            <a:pPr indent="0" marL="0">
              <a:buNone/>
            </a:pPr>
            <a:r>
              <a:rPr lang="en-US" sz="1400" dirty="0">
                <a:solidFill>
                  <a:schemeClr val="tx1"/>
                </a:solidFill>
              </a:rPr>
              <a:t>de demandes d'assistance pour hameçonnage en 2025, tous publics confondus</a:t>
            </a:r>
            <a:endParaRPr lang="en-US" sz="1400" dirty="0"/>
          </a:p>
        </p:txBody>
      </p:sp>
      <p:sp>
        <p:nvSpPr>
          <p:cNvPr id="14" name="Text 10"/>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Sources : Cybermalveillance.gouv.fr / OpinionWay, baromètre TPE-PME 2025 (plusieurs causes possibles) ; Cybermalveillance.gouv.fr, rapport d'activité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P spid="8" grpId="0" animBg="1"/>
      <p:bldP spid="9" grpId="0" animBg="1"/>
      <p:bldP spid="10" grpId="0" animBg="1"/>
      <p:bldP spid="11"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Ce qui frappe les entreprises</a:t>
            </a:r>
            <a:endParaRPr lang="en-US" sz="3600" dirty="0"/>
          </a:p>
        </p:txBody>
      </p:sp>
      <p:sp>
        <p:nvSpPr>
          <p:cNvPr id="4" name="a1|cadre"/>
          <p:cNvSpPr/>
          <p:nvPr/>
        </p:nvSpPr>
        <p:spPr>
          <a:xfrm>
            <a:off x="548640" y="1645920"/>
            <a:ext cx="6675120" cy="4114800"/>
          </a:xfrm>
          <a:prstGeom prst="roundRect">
            <a:avLst>
              <a:gd name="adj" fmla="val 2222"/>
            </a:avLst>
          </a:prstGeom>
          <a:solidFill>
            <a:schemeClr val="bg1"/>
          </a:solidFill>
          <a:ln/>
          <a:effectLst>
            <a:outerShdw sx="100000" sy="100000" kx="0" ky="0" algn="bl" rotWithShape="0" blurRad="114300" dist="25400" dir="5400000">
              <a:srgbClr val="0E2235">
                <a:alpha val="12000"/>
              </a:srgbClr>
            </a:outerShdw>
          </a:effectLst>
        </p:spPr>
      </p:sp>
      <p:sp>
        <p:nvSpPr>
          <p:cNvPr id="5" name="a1|titre graphique"/>
          <p:cNvSpPr txBox="1"/>
          <p:nvPr/>
        </p:nvSpPr>
        <p:spPr>
          <a:xfrm>
            <a:off x="822960" y="1810512"/>
            <a:ext cx="6217920" cy="320040"/>
          </a:xfrm>
          <a:prstGeom prst="rect">
            <a:avLst/>
          </a:prstGeom>
          <a:noFill/>
          <a:ln/>
        </p:spPr>
        <p:txBody>
          <a:bodyPr wrap="square" lIns="0" tIns="0" rIns="0" bIns="0" rtlCol="0" anchor="t"/>
          <a:lstStyle/>
          <a:p>
            <a:pPr indent="0" marL="0">
              <a:buNone/>
            </a:pPr>
            <a:r>
              <a:rPr lang="en-US" sz="1500" b="1" dirty="0">
                <a:solidFill>
                  <a:schemeClr val="tx2"/>
                </a:solidFill>
              </a:rPr>
              <a:t>Part des demandes d'assistance des entreprises et associations, 2025</a:t>
            </a:r>
            <a:endParaRPr lang="en-US" sz="1500" dirty="0"/>
          </a:p>
        </p:txBody>
      </p:sp>
      <p:graphicFrame>
        <p:nvGraphicFramePr>
          <p:cNvPr id="6" name="a1|graphique" descr=""/>
          <p:cNvGraphicFramePr/>
          <p:nvPr/>
        </p:nvGraphicFramePr>
        <p:xfrm>
          <a:off x="685800" y="2194560"/>
          <a:ext cx="6400800" cy="3474720"/>
        </p:xfrm>
        <a:graphic xmlns:a="http://schemas.openxmlformats.org/drawingml/2006/main">
          <a:graphicData uri="http://schemas.openxmlformats.org/drawingml/2006/chart">
            <c:chart xmlns:c="http://schemas.openxmlformats.org/drawingml/2006/chart" r:id="rId1"/>
          </a:graphicData>
        </a:graphic>
      </p:graphicFrame>
      <p:sp>
        <p:nvSpPr>
          <p:cNvPr id="7" name="a2|label"/>
          <p:cNvSpPr txBox="1"/>
          <p:nvPr/>
        </p:nvSpPr>
        <p:spPr>
          <a:xfrm>
            <a:off x="7589520" y="1645920"/>
            <a:ext cx="402336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ÉVOLUTION 2024 → 2025</a:t>
            </a:r>
            <a:endParaRPr lang="en-US" sz="1200" dirty="0"/>
          </a:p>
        </p:txBody>
      </p:sp>
      <p:sp>
        <p:nvSpPr>
          <p:cNvPr id="8" name="a2|ligne"/>
          <p:cNvSpPr/>
          <p:nvPr/>
        </p:nvSpPr>
        <p:spPr>
          <a:xfrm>
            <a:off x="7589520" y="2011680"/>
            <a:ext cx="4053535" cy="512064"/>
          </a:xfrm>
          <a:prstGeom prst="roundRect">
            <a:avLst>
              <a:gd name="adj" fmla="val 17857"/>
            </a:avLst>
          </a:prstGeom>
          <a:solidFill>
            <a:schemeClr val="bg2"/>
          </a:solidFill>
          <a:ln/>
        </p:spPr>
      </p:sp>
      <p:sp>
        <p:nvSpPr>
          <p:cNvPr id="9" name="a2|l"/>
          <p:cNvSpPr txBox="1"/>
          <p:nvPr/>
        </p:nvSpPr>
        <p:spPr>
          <a:xfrm>
            <a:off x="7772400" y="2011680"/>
            <a:ext cx="2651760" cy="512064"/>
          </a:xfrm>
          <a:prstGeom prst="rect">
            <a:avLst/>
          </a:prstGeom>
          <a:noFill/>
          <a:ln/>
        </p:spPr>
        <p:txBody>
          <a:bodyPr wrap="square" lIns="0" tIns="0" rIns="0" bIns="0" rtlCol="0" anchor="ctr"/>
          <a:lstStyle/>
          <a:p>
            <a:pPr indent="0" marL="0">
              <a:buNone/>
            </a:pPr>
            <a:r>
              <a:rPr lang="en-US" sz="1500" dirty="0">
                <a:solidFill>
                  <a:schemeClr val="tx1"/>
                </a:solidFill>
              </a:rPr>
              <a:t>Piratage de compte</a:t>
            </a:r>
            <a:endParaRPr lang="en-US" sz="1500" dirty="0"/>
          </a:p>
        </p:txBody>
      </p:sp>
      <p:sp>
        <p:nvSpPr>
          <p:cNvPr id="10" name="a2|v"/>
          <p:cNvSpPr txBox="1"/>
          <p:nvPr/>
        </p:nvSpPr>
        <p:spPr>
          <a:xfrm>
            <a:off x="10241280" y="2011680"/>
            <a:ext cx="1234440" cy="512064"/>
          </a:xfrm>
          <a:prstGeom prst="rect">
            <a:avLst/>
          </a:prstGeom>
          <a:noFill/>
          <a:ln/>
        </p:spPr>
        <p:txBody>
          <a:bodyPr wrap="square" lIns="0" tIns="0" rIns="0" bIns="0" rtlCol="0" anchor="ctr"/>
          <a:lstStyle/>
          <a:p>
            <a:pPr algn="r" indent="0" marL="0">
              <a:buNone/>
            </a:pPr>
            <a:r>
              <a:rPr lang="en-US" sz="1800" b="1" dirty="0">
                <a:solidFill>
                  <a:schemeClr val="accent1"/>
                </a:solidFill>
              </a:rPr>
              <a:t>+52 %</a:t>
            </a:r>
            <a:endParaRPr lang="en-US" sz="1800" dirty="0"/>
          </a:p>
        </p:txBody>
      </p:sp>
      <p:sp>
        <p:nvSpPr>
          <p:cNvPr id="11" name="a2|ligne"/>
          <p:cNvSpPr/>
          <p:nvPr/>
        </p:nvSpPr>
        <p:spPr>
          <a:xfrm>
            <a:off x="7589520" y="2633472"/>
            <a:ext cx="4053535" cy="512064"/>
          </a:xfrm>
          <a:prstGeom prst="roundRect">
            <a:avLst>
              <a:gd name="adj" fmla="val 17857"/>
            </a:avLst>
          </a:prstGeom>
          <a:solidFill>
            <a:schemeClr val="bg2"/>
          </a:solidFill>
          <a:ln/>
        </p:spPr>
      </p:sp>
      <p:sp>
        <p:nvSpPr>
          <p:cNvPr id="12" name="a2|l"/>
          <p:cNvSpPr txBox="1"/>
          <p:nvPr/>
        </p:nvSpPr>
        <p:spPr>
          <a:xfrm>
            <a:off x="7772400" y="2633472"/>
            <a:ext cx="2651760" cy="512064"/>
          </a:xfrm>
          <a:prstGeom prst="rect">
            <a:avLst/>
          </a:prstGeom>
          <a:noFill/>
          <a:ln/>
        </p:spPr>
        <p:txBody>
          <a:bodyPr wrap="square" lIns="0" tIns="0" rIns="0" bIns="0" rtlCol="0" anchor="ctr"/>
          <a:lstStyle/>
          <a:p>
            <a:pPr indent="0" marL="0">
              <a:buNone/>
            </a:pPr>
            <a:r>
              <a:rPr lang="en-US" sz="1500" dirty="0">
                <a:solidFill>
                  <a:schemeClr val="tx1"/>
                </a:solidFill>
              </a:rPr>
              <a:t>Hameçonnage</a:t>
            </a:r>
            <a:endParaRPr lang="en-US" sz="1500" dirty="0"/>
          </a:p>
        </p:txBody>
      </p:sp>
      <p:sp>
        <p:nvSpPr>
          <p:cNvPr id="13" name="a2|v"/>
          <p:cNvSpPr txBox="1"/>
          <p:nvPr/>
        </p:nvSpPr>
        <p:spPr>
          <a:xfrm>
            <a:off x="10241280" y="2633472"/>
            <a:ext cx="1234440" cy="512064"/>
          </a:xfrm>
          <a:prstGeom prst="rect">
            <a:avLst/>
          </a:prstGeom>
          <a:noFill/>
          <a:ln/>
        </p:spPr>
        <p:txBody>
          <a:bodyPr wrap="square" lIns="0" tIns="0" rIns="0" bIns="0" rtlCol="0" anchor="ctr"/>
          <a:lstStyle/>
          <a:p>
            <a:pPr algn="r" indent="0" marL="0">
              <a:buNone/>
            </a:pPr>
            <a:r>
              <a:rPr lang="en-US" sz="1800" b="1" dirty="0">
                <a:solidFill>
                  <a:schemeClr val="accent1"/>
                </a:solidFill>
              </a:rPr>
              <a:t>+29 %</a:t>
            </a:r>
            <a:endParaRPr lang="en-US" sz="1800" dirty="0"/>
          </a:p>
        </p:txBody>
      </p:sp>
      <p:sp>
        <p:nvSpPr>
          <p:cNvPr id="14" name="a2|ligne"/>
          <p:cNvSpPr/>
          <p:nvPr/>
        </p:nvSpPr>
        <p:spPr>
          <a:xfrm>
            <a:off x="7589520" y="3255264"/>
            <a:ext cx="4053535" cy="512064"/>
          </a:xfrm>
          <a:prstGeom prst="roundRect">
            <a:avLst>
              <a:gd name="adj" fmla="val 17857"/>
            </a:avLst>
          </a:prstGeom>
          <a:solidFill>
            <a:schemeClr val="accent1"/>
          </a:solidFill>
          <a:ln/>
        </p:spPr>
      </p:sp>
      <p:sp>
        <p:nvSpPr>
          <p:cNvPr id="15" name="a2|l"/>
          <p:cNvSpPr txBox="1"/>
          <p:nvPr/>
        </p:nvSpPr>
        <p:spPr>
          <a:xfrm>
            <a:off x="7772400" y="3255264"/>
            <a:ext cx="2651760" cy="512064"/>
          </a:xfrm>
          <a:prstGeom prst="rect">
            <a:avLst/>
          </a:prstGeom>
          <a:noFill/>
          <a:ln/>
        </p:spPr>
        <p:txBody>
          <a:bodyPr wrap="square" lIns="0" tIns="0" rIns="0" bIns="0" rtlCol="0" anchor="ctr"/>
          <a:lstStyle/>
          <a:p>
            <a:pPr indent="0" marL="0">
              <a:buNone/>
            </a:pPr>
            <a:r>
              <a:rPr lang="en-US" sz="1500" b="1" dirty="0">
                <a:solidFill>
                  <a:schemeClr val="bg1"/>
                </a:solidFill>
              </a:rPr>
              <a:t>Faux ordres de virement</a:t>
            </a:r>
            <a:endParaRPr lang="en-US" sz="1500" dirty="0"/>
          </a:p>
        </p:txBody>
      </p:sp>
      <p:sp>
        <p:nvSpPr>
          <p:cNvPr id="16" name="a2|v"/>
          <p:cNvSpPr txBox="1"/>
          <p:nvPr/>
        </p:nvSpPr>
        <p:spPr>
          <a:xfrm>
            <a:off x="10241280" y="3255264"/>
            <a:ext cx="1234440" cy="512064"/>
          </a:xfrm>
          <a:prstGeom prst="rect">
            <a:avLst/>
          </a:prstGeom>
          <a:noFill/>
          <a:ln/>
        </p:spPr>
        <p:txBody>
          <a:bodyPr wrap="square" lIns="0" tIns="0" rIns="0" bIns="0" rtlCol="0" anchor="ctr"/>
          <a:lstStyle/>
          <a:p>
            <a:pPr algn="r" indent="0" marL="0">
              <a:buNone/>
            </a:pPr>
            <a:r>
              <a:rPr lang="en-US" sz="1800" b="1" dirty="0">
                <a:solidFill>
                  <a:schemeClr val="bg1"/>
                </a:solidFill>
              </a:rPr>
              <a:t>+93 %</a:t>
            </a:r>
            <a:endParaRPr lang="en-US" sz="1800" dirty="0"/>
          </a:p>
        </p:txBody>
      </p:sp>
      <p:sp>
        <p:nvSpPr>
          <p:cNvPr id="17" name="a3|retenir"/>
          <p:cNvSpPr/>
          <p:nvPr/>
        </p:nvSpPr>
        <p:spPr>
          <a:xfrm>
            <a:off x="7589520" y="4005072"/>
            <a:ext cx="4053535" cy="1755648"/>
          </a:xfrm>
          <a:prstGeom prst="roundRect">
            <a:avLst>
              <a:gd name="adj" fmla="val 5208"/>
            </a:avLst>
          </a:prstGeom>
          <a:solidFill>
            <a:schemeClr val="tx2"/>
          </a:solidFill>
          <a:ln/>
        </p:spPr>
      </p:sp>
      <p:sp>
        <p:nvSpPr>
          <p:cNvPr id="18" name="a3|texte"/>
          <p:cNvSpPr txBox="1"/>
          <p:nvPr/>
        </p:nvSpPr>
        <p:spPr>
          <a:xfrm>
            <a:off x="7818120" y="4160520"/>
            <a:ext cx="3611880" cy="1508760"/>
          </a:xfrm>
          <a:prstGeom prst="rect">
            <a:avLst/>
          </a:prstGeom>
          <a:noFill/>
          <a:ln/>
        </p:spPr>
        <p:txBody>
          <a:bodyPr wrap="square" lIns="0" tIns="0" rIns="0" bIns="0" rtlCol="0" anchor="t"/>
          <a:lstStyle/>
          <a:p>
            <a:pPr indent="0" marL="0">
              <a:spcAft>
                <a:spcPts val="400"/>
              </a:spcAft>
              <a:buNone/>
            </a:pPr>
            <a:r>
              <a:rPr lang="en-US" sz="1600" b="1" dirty="0">
                <a:solidFill>
                  <a:schemeClr val="accent4"/>
                </a:solidFill>
              </a:rPr>
              <a:t>À retenir</a:t>
            </a:r>
            <a:endParaRPr lang="en-US" sz="1400" dirty="0"/>
          </a:p>
          <a:p>
            <a:pPr indent="0" marL="0">
              <a:spcAft>
                <a:spcPts val="400"/>
              </a:spcAft>
              <a:buNone/>
            </a:pPr>
            <a:r>
              <a:rPr lang="en-US" sz="1400" dirty="0">
                <a:solidFill>
                  <a:schemeClr val="bg1"/>
                </a:solidFill>
              </a:rPr>
              <a:t>Le phishing est la porte d'entrée : un identifiant volé mène au piratage de compte, au faux virement ou au rançongiciel. Et +73 % d'entreprises ont demandé de l'aide en un an.</a:t>
            </a:r>
            <a:endParaRPr lang="en-US" sz="1400" dirty="0"/>
          </a:p>
        </p:txBody>
      </p:sp>
      <p:sp>
        <p:nvSpPr>
          <p:cNvPr id="19" name="Text 16"/>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 : Cybermalveillance.gouv.fr, rapport d'activité et état de la menace 2025 (publié en mars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Se sentir protégé n'est pas être protégé</a:t>
            </a:r>
            <a:endParaRPr lang="en-US" sz="3600" dirty="0"/>
          </a:p>
        </p:txBody>
      </p:sp>
      <p:sp>
        <p:nvSpPr>
          <p:cNvPr id="4" name="a1|carte"/>
          <p:cNvSpPr/>
          <p:nvPr/>
        </p:nvSpPr>
        <p:spPr>
          <a:xfrm>
            <a:off x="548640" y="1645920"/>
            <a:ext cx="5074920" cy="3108960"/>
          </a:xfrm>
          <a:prstGeom prst="roundRect">
            <a:avLst>
              <a:gd name="adj" fmla="val 2941"/>
            </a:avLst>
          </a:prstGeom>
          <a:solidFill>
            <a:schemeClr val="accent2">
              <a:alpha val="12000"/>
            </a:schemeClr>
          </a:solidFill>
          <a:ln/>
        </p:spPr>
      </p:sp>
      <p:sp>
        <p:nvSpPr>
          <p:cNvPr id="5" name="a1|icône"/>
          <p:cNvSpPr/>
          <p:nvPr/>
        </p:nvSpPr>
        <p:spPr>
          <a:xfrm>
            <a:off x="868680" y="1920240"/>
            <a:ext cx="603504" cy="603504"/>
          </a:xfrm>
          <a:prstGeom prst="ellipse">
            <a:avLst/>
          </a:prstGeom>
          <a:solidFill>
            <a:schemeClr val="accent2"/>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19556" y="2071116"/>
            <a:ext cx="301752" cy="301752"/>
          </a:xfrm>
          <a:prstGeom prst="rect">
            <a:avLst/>
          </a:prstGeom>
        </p:spPr>
      </p:pic>
      <p:sp>
        <p:nvSpPr>
          <p:cNvPr id="7" name="a1|chiffre"/>
          <p:cNvSpPr txBox="1"/>
          <p:nvPr/>
        </p:nvSpPr>
        <p:spPr>
          <a:xfrm>
            <a:off x="868680" y="2606040"/>
            <a:ext cx="4480560" cy="1005840"/>
          </a:xfrm>
          <a:prstGeom prst="rect">
            <a:avLst/>
          </a:prstGeom>
          <a:noFill/>
          <a:ln/>
        </p:spPr>
        <p:txBody>
          <a:bodyPr wrap="square" lIns="0" tIns="0" rIns="0" bIns="0" rtlCol="0" anchor="t"/>
          <a:lstStyle/>
          <a:p>
            <a:pPr indent="0" marL="0">
              <a:buNone/>
            </a:pPr>
            <a:r>
              <a:rPr lang="en-US" sz="6600" b="1" dirty="0">
                <a:solidFill>
                  <a:schemeClr val="accent2"/>
                </a:solidFill>
              </a:rPr>
              <a:t>58 %</a:t>
            </a:r>
            <a:endParaRPr lang="en-US" sz="6600" dirty="0"/>
          </a:p>
        </p:txBody>
      </p:sp>
      <p:sp>
        <p:nvSpPr>
          <p:cNvPr id="8" name="a1|texte"/>
          <p:cNvSpPr txBox="1"/>
          <p:nvPr/>
        </p:nvSpPr>
        <p:spPr>
          <a:xfrm>
            <a:off x="868680" y="3611880"/>
            <a:ext cx="4480560" cy="365760"/>
          </a:xfrm>
          <a:prstGeom prst="rect">
            <a:avLst/>
          </a:prstGeom>
          <a:noFill/>
          <a:ln/>
        </p:spPr>
        <p:txBody>
          <a:bodyPr wrap="square" lIns="0" tIns="0" rIns="0" bIns="0" rtlCol="0" anchor="t"/>
          <a:lstStyle/>
          <a:p>
            <a:pPr indent="0" marL="0">
              <a:buNone/>
            </a:pPr>
            <a:r>
              <a:rPr lang="en-US" sz="1700" b="1" dirty="0">
                <a:solidFill>
                  <a:schemeClr val="tx2"/>
                </a:solidFill>
              </a:rPr>
              <a:t>des PME se jugent bien ou très bien protégées</a:t>
            </a:r>
            <a:endParaRPr lang="en-US" sz="1700" dirty="0"/>
          </a:p>
        </p:txBody>
      </p:sp>
      <p:sp>
        <p:nvSpPr>
          <p:cNvPr id="9" name="a1|repère"/>
          <p:cNvSpPr txBox="1"/>
          <p:nvPr/>
        </p:nvSpPr>
        <p:spPr>
          <a:xfrm>
            <a:off x="868680" y="4023360"/>
            <a:ext cx="4480560" cy="320040"/>
          </a:xfrm>
          <a:prstGeom prst="rect">
            <a:avLst/>
          </a:prstGeom>
          <a:noFill/>
          <a:ln/>
        </p:spPr>
        <p:txBody>
          <a:bodyPr wrap="square" lIns="0" tIns="0" rIns="0" bIns="0" rtlCol="0" anchor="t"/>
          <a:lstStyle/>
          <a:p>
            <a:pPr indent="0" marL="0">
              <a:buNone/>
            </a:pPr>
            <a:r>
              <a:rPr lang="en-US" sz="1400" dirty="0">
                <a:solidFill>
                  <a:schemeClr val="accent3"/>
                </a:solidFill>
              </a:rPr>
              <a:t>39 % en 2024 : +19 points en un an</a:t>
            </a:r>
            <a:endParaRPr lang="en-US" sz="1400" dirty="0"/>
          </a:p>
        </p:txBody>
      </p:sp>
      <p:sp>
        <p:nvSpPr>
          <p:cNvPr id="10" name="a2|mais"/>
          <p:cNvSpPr/>
          <p:nvPr/>
        </p:nvSpPr>
        <p:spPr>
          <a:xfrm>
            <a:off x="5641848" y="2743200"/>
            <a:ext cx="905256" cy="905256"/>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MAIS</a:t>
            </a:r>
            <a:endParaRPr lang="en-US" sz="1400" dirty="0"/>
          </a:p>
        </p:txBody>
      </p:sp>
      <p:sp>
        <p:nvSpPr>
          <p:cNvPr id="11" name="a3|carte"/>
          <p:cNvSpPr/>
          <p:nvPr/>
        </p:nvSpPr>
        <p:spPr>
          <a:xfrm>
            <a:off x="6568135" y="1645920"/>
            <a:ext cx="5074920" cy="3108960"/>
          </a:xfrm>
          <a:prstGeom prst="roundRect">
            <a:avLst>
              <a:gd name="adj" fmla="val 2941"/>
            </a:avLst>
          </a:prstGeom>
          <a:solidFill>
            <a:schemeClr val="accent1">
              <a:alpha val="12000"/>
            </a:schemeClr>
          </a:solidFill>
          <a:ln/>
        </p:spPr>
      </p:sp>
      <p:sp>
        <p:nvSpPr>
          <p:cNvPr id="12" name="a3|icône"/>
          <p:cNvSpPr/>
          <p:nvPr/>
        </p:nvSpPr>
        <p:spPr>
          <a:xfrm>
            <a:off x="6888175" y="1920240"/>
            <a:ext cx="603504" cy="603504"/>
          </a:xfrm>
          <a:prstGeom prst="ellipse">
            <a:avLst/>
          </a:prstGeom>
          <a:solidFill>
            <a:schemeClr val="accent1"/>
          </a:solidFill>
          <a:ln/>
        </p:spPr>
      </p:sp>
      <p:pic>
        <p:nvPicPr>
          <p:cNvPr id="13" name="a3|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39051" y="2071116"/>
            <a:ext cx="301752" cy="301752"/>
          </a:xfrm>
          <a:prstGeom prst="rect">
            <a:avLst/>
          </a:prstGeom>
        </p:spPr>
      </p:pic>
      <p:sp>
        <p:nvSpPr>
          <p:cNvPr id="14" name="a3|chiffre"/>
          <p:cNvSpPr txBox="1"/>
          <p:nvPr/>
        </p:nvSpPr>
        <p:spPr>
          <a:xfrm>
            <a:off x="6888175" y="2606040"/>
            <a:ext cx="4480560" cy="1005840"/>
          </a:xfrm>
          <a:prstGeom prst="rect">
            <a:avLst/>
          </a:prstGeom>
          <a:noFill/>
          <a:ln/>
        </p:spPr>
        <p:txBody>
          <a:bodyPr wrap="square" lIns="0" tIns="0" rIns="0" bIns="0" rtlCol="0" anchor="t"/>
          <a:lstStyle/>
          <a:p>
            <a:pPr indent="0" marL="0">
              <a:buNone/>
            </a:pPr>
            <a:r>
              <a:rPr lang="en-US" sz="6600" b="1" dirty="0">
                <a:solidFill>
                  <a:schemeClr val="accent1"/>
                </a:solidFill>
              </a:rPr>
              <a:t>80 %</a:t>
            </a:r>
            <a:endParaRPr lang="en-US" sz="6600" dirty="0"/>
          </a:p>
        </p:txBody>
      </p:sp>
      <p:sp>
        <p:nvSpPr>
          <p:cNvPr id="15" name="a3|texte"/>
          <p:cNvSpPr txBox="1"/>
          <p:nvPr/>
        </p:nvSpPr>
        <p:spPr>
          <a:xfrm>
            <a:off x="6888175" y="3611880"/>
            <a:ext cx="4480560" cy="365760"/>
          </a:xfrm>
          <a:prstGeom prst="rect">
            <a:avLst/>
          </a:prstGeom>
          <a:noFill/>
          <a:ln/>
        </p:spPr>
        <p:txBody>
          <a:bodyPr wrap="square" lIns="0" tIns="0" rIns="0" bIns="0" rtlCol="0" anchor="t"/>
          <a:lstStyle/>
          <a:p>
            <a:pPr indent="0" marL="0">
              <a:buNone/>
            </a:pPr>
            <a:r>
              <a:rPr lang="en-US" sz="1700" b="1" dirty="0">
                <a:solidFill>
                  <a:schemeClr val="tx2"/>
                </a:solidFill>
              </a:rPr>
              <a:t>ne se sentent pas prêtes face à une attaque</a:t>
            </a:r>
            <a:endParaRPr lang="en-US" sz="1700" dirty="0"/>
          </a:p>
        </p:txBody>
      </p:sp>
      <p:sp>
        <p:nvSpPr>
          <p:cNvPr id="16" name="a3|repère"/>
          <p:cNvSpPr txBox="1"/>
          <p:nvPr/>
        </p:nvSpPr>
        <p:spPr>
          <a:xfrm>
            <a:off x="6888175" y="4023360"/>
            <a:ext cx="4480560" cy="320040"/>
          </a:xfrm>
          <a:prstGeom prst="rect">
            <a:avLst/>
          </a:prstGeom>
          <a:noFill/>
          <a:ln/>
        </p:spPr>
        <p:txBody>
          <a:bodyPr wrap="square" lIns="0" tIns="0" rIns="0" bIns="0" rtlCol="0" anchor="t"/>
          <a:lstStyle/>
          <a:p>
            <a:pPr indent="0" marL="0">
              <a:buNone/>
            </a:pPr>
            <a:r>
              <a:rPr lang="en-US" sz="1400" dirty="0">
                <a:solidFill>
                  <a:schemeClr val="accent3"/>
                </a:solidFill>
              </a:rPr>
              <a:t>49 % se disent non préparées, 31 % ne savent pas</a:t>
            </a:r>
            <a:endParaRPr lang="en-US" sz="1400" dirty="0"/>
          </a:p>
        </p:txBody>
      </p:sp>
      <p:sp>
        <p:nvSpPr>
          <p:cNvPr id="17" name="a4|bandeau"/>
          <p:cNvSpPr/>
          <p:nvPr/>
        </p:nvSpPr>
        <p:spPr>
          <a:xfrm>
            <a:off x="548640" y="4983480"/>
            <a:ext cx="11094415" cy="777240"/>
          </a:xfrm>
          <a:prstGeom prst="roundRect">
            <a:avLst>
              <a:gd name="adj" fmla="val 11765"/>
            </a:avLst>
          </a:prstGeom>
          <a:solidFill>
            <a:schemeClr val="tx2"/>
          </a:solidFill>
          <a:ln/>
        </p:spPr>
      </p:sp>
      <p:sp>
        <p:nvSpPr>
          <p:cNvPr id="18" name="a4|icône"/>
          <p:cNvSpPr/>
          <p:nvPr/>
        </p:nvSpPr>
        <p:spPr>
          <a:xfrm>
            <a:off x="777240" y="5093208"/>
            <a:ext cx="548640" cy="548640"/>
          </a:xfrm>
          <a:prstGeom prst="ellipse">
            <a:avLst/>
          </a:prstGeom>
          <a:solidFill>
            <a:schemeClr val="accent1"/>
          </a:solidFill>
          <a:ln/>
        </p:spPr>
      </p:sp>
      <p:pic>
        <p:nvPicPr>
          <p:cNvPr id="19" name="a4|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14400" y="5230368"/>
            <a:ext cx="274320" cy="274320"/>
          </a:xfrm>
          <a:prstGeom prst="rect">
            <a:avLst/>
          </a:prstGeom>
        </p:spPr>
      </p:pic>
      <p:sp>
        <p:nvSpPr>
          <p:cNvPr id="20" name="a4|texte"/>
          <p:cNvSpPr txBox="1"/>
          <p:nvPr/>
        </p:nvSpPr>
        <p:spPr>
          <a:xfrm>
            <a:off x="1554480" y="4983480"/>
            <a:ext cx="9814255" cy="777240"/>
          </a:xfrm>
          <a:prstGeom prst="rect">
            <a:avLst/>
          </a:prstGeom>
          <a:noFill/>
          <a:ln/>
        </p:spPr>
        <p:txBody>
          <a:bodyPr wrap="square" lIns="0" tIns="0" rIns="0" bIns="0" rtlCol="0" anchor="ctr"/>
          <a:lstStyle/>
          <a:p>
            <a:pPr indent="0" marL="0">
              <a:buNone/>
            </a:pPr>
            <a:r>
              <a:rPr lang="en-US" sz="2000" b="1" dirty="0">
                <a:solidFill>
                  <a:schemeClr val="accent4"/>
                </a:solidFill>
              </a:rPr>
              <a:t>6 sur 10 </a:t>
            </a:r>
            <a:pPr indent="0" marL="0">
              <a:buNone/>
            </a:pPr>
            <a:r>
              <a:rPr lang="en-US" sz="1600" dirty="0">
                <a:solidFill>
                  <a:schemeClr val="bg1"/>
                </a:solidFill>
              </a:rPr>
              <a:t>ne sauraient pas évaluer les conséquences d'une cyberattaque sur leur activité.</a:t>
            </a:r>
            <a:endParaRPr lang="en-US" sz="1400" dirty="0"/>
          </a:p>
        </p:txBody>
      </p:sp>
      <p:sp>
        <p:nvSpPr>
          <p:cNvPr id="21" name="Text 16"/>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 : Cybermalveillance.gouv.fr / OpinionWay, baromètre national de la maturité cyber des TPE-PME,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7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nodeType="withEffect">
                                  <p:stCondLst>
                                    <p:cond delay="7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7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Les protections de base restent minoritaires</a:t>
            </a:r>
            <a:endParaRPr lang="en-US" sz="3600" dirty="0"/>
          </a:p>
        </p:txBody>
      </p:sp>
      <p:sp>
        <p:nvSpPr>
          <p:cNvPr id="4" name="a1|cadre"/>
          <p:cNvSpPr/>
          <p:nvPr/>
        </p:nvSpPr>
        <p:spPr>
          <a:xfrm>
            <a:off x="548640" y="1645920"/>
            <a:ext cx="6675120" cy="4114800"/>
          </a:xfrm>
          <a:prstGeom prst="roundRect">
            <a:avLst>
              <a:gd name="adj" fmla="val 2222"/>
            </a:avLst>
          </a:prstGeom>
          <a:solidFill>
            <a:schemeClr val="bg1"/>
          </a:solidFill>
          <a:ln/>
          <a:effectLst>
            <a:outerShdw sx="100000" sy="100000" kx="0" ky="0" algn="bl" rotWithShape="0" blurRad="114300" dist="25400" dir="5400000">
              <a:srgbClr val="0E2235">
                <a:alpha val="12000"/>
              </a:srgbClr>
            </a:outerShdw>
          </a:effectLst>
        </p:spPr>
      </p:sp>
      <p:sp>
        <p:nvSpPr>
          <p:cNvPr id="5" name="a1|titre graphique"/>
          <p:cNvSpPr txBox="1"/>
          <p:nvPr/>
        </p:nvSpPr>
        <p:spPr>
          <a:xfrm>
            <a:off x="822960" y="1810512"/>
            <a:ext cx="6126480" cy="320040"/>
          </a:xfrm>
          <a:prstGeom prst="rect">
            <a:avLst/>
          </a:prstGeom>
          <a:noFill/>
          <a:ln/>
        </p:spPr>
        <p:txBody>
          <a:bodyPr wrap="square" lIns="0" tIns="0" rIns="0" bIns="0" rtlCol="0" anchor="t"/>
          <a:lstStyle/>
          <a:p>
            <a:pPr indent="0" marL="0">
              <a:buNone/>
            </a:pPr>
            <a:r>
              <a:rPr lang="en-US" sz="1500" b="1" dirty="0">
                <a:solidFill>
                  <a:schemeClr val="tx2"/>
                </a:solidFill>
              </a:rPr>
              <a:t>Part des PME équipées, 2025</a:t>
            </a:r>
            <a:endParaRPr lang="en-US" sz="1500" dirty="0"/>
          </a:p>
        </p:txBody>
      </p:sp>
      <p:graphicFrame>
        <p:nvGraphicFramePr>
          <p:cNvPr id="6" name="a1|graphique" descr=""/>
          <p:cNvGraphicFramePr/>
          <p:nvPr/>
        </p:nvGraphicFramePr>
        <p:xfrm>
          <a:off x="685800" y="2194560"/>
          <a:ext cx="6400800" cy="3474720"/>
        </p:xfrm>
        <a:graphic xmlns:a="http://schemas.openxmlformats.org/drawingml/2006/main">
          <a:graphicData uri="http://schemas.openxmlformats.org/drawingml/2006/chart">
            <c:chart xmlns:c="http://schemas.openxmlformats.org/drawingml/2006/chart" r:id="rId1"/>
          </a:graphicData>
        </a:graphic>
      </p:graphicFrame>
      <p:sp>
        <p:nvSpPr>
          <p:cNvPr id="7" name="a2|chiffre"/>
          <p:cNvSpPr txBox="1"/>
          <p:nvPr/>
        </p:nvSpPr>
        <p:spPr>
          <a:xfrm>
            <a:off x="7589520" y="1600200"/>
            <a:ext cx="4023360" cy="1097280"/>
          </a:xfrm>
          <a:prstGeom prst="rect">
            <a:avLst/>
          </a:prstGeom>
          <a:noFill/>
          <a:ln/>
        </p:spPr>
        <p:txBody>
          <a:bodyPr wrap="square" lIns="0" tIns="0" rIns="0" bIns="0" rtlCol="0" anchor="t"/>
          <a:lstStyle/>
          <a:p>
            <a:pPr indent="0" marL="0">
              <a:buNone/>
            </a:pPr>
            <a:r>
              <a:rPr lang="en-US" sz="7200" b="1" dirty="0">
                <a:solidFill>
                  <a:schemeClr val="accent1"/>
                </a:solidFill>
              </a:rPr>
              <a:t>26 %</a:t>
            </a:r>
            <a:endParaRPr lang="en-US" sz="7200" dirty="0"/>
          </a:p>
        </p:txBody>
      </p:sp>
      <p:sp>
        <p:nvSpPr>
          <p:cNvPr id="8" name="a2|texte"/>
          <p:cNvSpPr txBox="1"/>
          <p:nvPr/>
        </p:nvSpPr>
        <p:spPr>
          <a:xfrm>
            <a:off x="7589520" y="2697480"/>
            <a:ext cx="4023360" cy="640080"/>
          </a:xfrm>
          <a:prstGeom prst="rect">
            <a:avLst/>
          </a:prstGeom>
          <a:noFill/>
          <a:ln/>
        </p:spPr>
        <p:txBody>
          <a:bodyPr wrap="square" lIns="0" tIns="0" rIns="0" bIns="0" rtlCol="0" anchor="t"/>
          <a:lstStyle/>
          <a:p>
            <a:pPr indent="0" marL="0">
              <a:buNone/>
            </a:pPr>
            <a:r>
              <a:rPr lang="en-US" sz="1700" b="1" dirty="0">
                <a:solidFill>
                  <a:schemeClr val="tx2"/>
                </a:solidFill>
              </a:rPr>
              <a:t>seulement des PME utilisent la double authentification (MFA)</a:t>
            </a:r>
            <a:endParaRPr lang="en-US" sz="1700" dirty="0"/>
          </a:p>
        </p:txBody>
      </p:sp>
      <p:sp>
        <p:nvSpPr>
          <p:cNvPr id="9" name="a3|encadré"/>
          <p:cNvSpPr/>
          <p:nvPr/>
        </p:nvSpPr>
        <p:spPr>
          <a:xfrm>
            <a:off x="7589520" y="3566160"/>
            <a:ext cx="4053535" cy="1143000"/>
          </a:xfrm>
          <a:prstGeom prst="roundRect">
            <a:avLst>
              <a:gd name="adj" fmla="val 8000"/>
            </a:avLst>
          </a:prstGeom>
          <a:solidFill>
            <a:schemeClr val="bg2"/>
          </a:solidFill>
          <a:ln/>
        </p:spPr>
      </p:sp>
      <p:sp>
        <p:nvSpPr>
          <p:cNvPr id="10" name="a3|icône"/>
          <p:cNvSpPr/>
          <p:nvPr/>
        </p:nvSpPr>
        <p:spPr>
          <a:xfrm>
            <a:off x="7818120" y="3858768"/>
            <a:ext cx="548640" cy="548640"/>
          </a:xfrm>
          <a:prstGeom prst="ellipse">
            <a:avLst/>
          </a:prstGeom>
          <a:solidFill>
            <a:schemeClr val="accent2"/>
          </a:solidFill>
          <a:ln/>
        </p:spPr>
      </p:sp>
      <p:pic>
        <p:nvPicPr>
          <p:cNvPr id="11" name="a3|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55280" y="3995928"/>
            <a:ext cx="274320" cy="274320"/>
          </a:xfrm>
          <a:prstGeom prst="rect">
            <a:avLst/>
          </a:prstGeom>
        </p:spPr>
      </p:pic>
      <p:sp>
        <p:nvSpPr>
          <p:cNvPr id="12" name="a3|texte"/>
          <p:cNvSpPr txBox="1"/>
          <p:nvPr/>
        </p:nvSpPr>
        <p:spPr>
          <a:xfrm>
            <a:off x="8549640" y="3657600"/>
            <a:ext cx="2971800" cy="1005840"/>
          </a:xfrm>
          <a:prstGeom prst="rect">
            <a:avLst/>
          </a:prstGeom>
          <a:noFill/>
          <a:ln/>
        </p:spPr>
        <p:txBody>
          <a:bodyPr wrap="square" lIns="0" tIns="0" rIns="0" bIns="0" rtlCol="0" anchor="ctr"/>
          <a:lstStyle/>
          <a:p>
            <a:pPr indent="0" marL="0">
              <a:buNone/>
            </a:pPr>
            <a:r>
              <a:rPr lang="en-US" sz="2000" b="1" dirty="0">
                <a:solidFill>
                  <a:schemeClr val="accent2"/>
                </a:solidFill>
              </a:rPr>
              <a:t>−99 %</a:t>
            </a:r>
            <a:endParaRPr lang="en-US" sz="1400" dirty="0"/>
          </a:p>
          <a:p>
            <a:pPr indent="0" marL="0">
              <a:buNone/>
            </a:pPr>
            <a:r>
              <a:rPr lang="en-US" sz="1400" dirty="0">
                <a:solidFill>
                  <a:schemeClr val="tx1"/>
                </a:solidFill>
              </a:rPr>
              <a:t>de risque de piratage d'un compte protégé par MFA (Microsoft)</a:t>
            </a:r>
            <a:endParaRPr lang="en-US" sz="1400" dirty="0"/>
          </a:p>
        </p:txBody>
      </p:sp>
      <p:sp>
        <p:nvSpPr>
          <p:cNvPr id="13" name="a4|encadré2"/>
          <p:cNvSpPr/>
          <p:nvPr/>
        </p:nvSpPr>
        <p:spPr>
          <a:xfrm>
            <a:off x="7589520" y="4846320"/>
            <a:ext cx="4053535" cy="914400"/>
          </a:xfrm>
          <a:prstGeom prst="roundRect">
            <a:avLst>
              <a:gd name="adj" fmla="val 10000"/>
            </a:avLst>
          </a:prstGeom>
          <a:solidFill>
            <a:schemeClr val="bg2"/>
          </a:solidFill>
          <a:ln/>
        </p:spPr>
      </p:sp>
      <p:sp>
        <p:nvSpPr>
          <p:cNvPr id="14" name="a4|texte"/>
          <p:cNvSpPr txBox="1"/>
          <p:nvPr/>
        </p:nvSpPr>
        <p:spPr>
          <a:xfrm>
            <a:off x="7818120" y="4846320"/>
            <a:ext cx="3657600" cy="914400"/>
          </a:xfrm>
          <a:prstGeom prst="rect">
            <a:avLst/>
          </a:prstGeom>
          <a:noFill/>
          <a:ln/>
        </p:spPr>
        <p:txBody>
          <a:bodyPr wrap="square" lIns="0" tIns="0" rIns="0" bIns="0" rtlCol="0" anchor="ctr"/>
          <a:lstStyle/>
          <a:p>
            <a:pPr indent="0" marL="0">
              <a:buNone/>
            </a:pPr>
            <a:r>
              <a:rPr lang="en-US" sz="1800" b="1" dirty="0">
                <a:solidFill>
                  <a:schemeClr val="accent2"/>
                </a:solidFill>
              </a:rPr>
              <a:t>19 % </a:t>
            </a:r>
            <a:pPr indent="0" marL="0">
              <a:buNone/>
            </a:pPr>
            <a:r>
              <a:rPr lang="en-US" sz="1400" dirty="0">
                <a:solidFill>
                  <a:schemeClr val="tx1"/>
                </a:solidFill>
              </a:rPr>
              <a:t>du budget informatique va désormais à la cybersécurité (13 % en 2024) : la tendance est bonne.</a:t>
            </a:r>
            <a:endParaRPr lang="en-US" sz="1400" dirty="0"/>
          </a:p>
        </p:txBody>
      </p:sp>
      <p:sp>
        <p:nvSpPr>
          <p:cNvPr id="15" name="Text 11"/>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Sources : Cybermalveillance.gouv.fr / OpinionWay, baromètre TPE-PME 2025 ; Microsoft Research, « How effective is multifactor authentication at deterring cyberattacks? », 2023</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5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P spid="8" grpId="0" animBg="1"/>
      <p:bldP spid="9" grpId="0" animBg="1"/>
      <p:bldP spid="10"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 facteur humain, porte d'entrée</a:t>
            </a:r>
            <a:endParaRPr lang="en-US" sz="3600" dirty="0"/>
          </a:p>
        </p:txBody>
      </p:sp>
      <p:sp>
        <p:nvSpPr>
          <p:cNvPr id="4" name="a1|carte"/>
          <p:cNvSpPr/>
          <p:nvPr/>
        </p:nvSpPr>
        <p:spPr>
          <a:xfrm>
            <a:off x="548640" y="1645920"/>
            <a:ext cx="3291840" cy="3429000"/>
          </a:xfrm>
          <a:prstGeom prst="roundRect">
            <a:avLst>
              <a:gd name="adj" fmla="val 2778"/>
            </a:avLst>
          </a:prstGeom>
          <a:solidFill>
            <a:schemeClr val="bg2"/>
          </a:solidFill>
          <a:ln/>
        </p:spPr>
      </p:sp>
      <p:sp>
        <p:nvSpPr>
          <p:cNvPr id="5" name="a1|icône"/>
          <p:cNvSpPr/>
          <p:nvPr/>
        </p:nvSpPr>
        <p:spPr>
          <a:xfrm>
            <a:off x="822960" y="1920240"/>
            <a:ext cx="603504" cy="603504"/>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071116"/>
            <a:ext cx="301752" cy="301752"/>
          </a:xfrm>
          <a:prstGeom prst="rect">
            <a:avLst/>
          </a:prstGeom>
        </p:spPr>
      </p:pic>
      <p:sp>
        <p:nvSpPr>
          <p:cNvPr id="7" name="a1|chiffre"/>
          <p:cNvSpPr txBox="1"/>
          <p:nvPr/>
        </p:nvSpPr>
        <p:spPr>
          <a:xfrm>
            <a:off x="822960" y="2651760"/>
            <a:ext cx="2743200" cy="914400"/>
          </a:xfrm>
          <a:prstGeom prst="rect">
            <a:avLst/>
          </a:prstGeom>
          <a:noFill/>
          <a:ln/>
        </p:spPr>
        <p:txBody>
          <a:bodyPr wrap="square" lIns="0" tIns="0" rIns="0" bIns="0" rtlCol="0" anchor="t"/>
          <a:lstStyle/>
          <a:p>
            <a:pPr indent="0" marL="0">
              <a:buNone/>
            </a:pPr>
            <a:r>
              <a:rPr lang="en-US" sz="6000" b="1" dirty="0">
                <a:solidFill>
                  <a:schemeClr val="accent1"/>
                </a:solidFill>
              </a:rPr>
              <a:t>60 %</a:t>
            </a:r>
            <a:endParaRPr lang="en-US" sz="6000" dirty="0"/>
          </a:p>
        </p:txBody>
      </p:sp>
      <p:sp>
        <p:nvSpPr>
          <p:cNvPr id="8" name="a1|texte"/>
          <p:cNvSpPr txBox="1"/>
          <p:nvPr/>
        </p:nvSpPr>
        <p:spPr>
          <a:xfrm>
            <a:off x="822960" y="3611880"/>
            <a:ext cx="2743200" cy="1234440"/>
          </a:xfrm>
          <a:prstGeom prst="rect">
            <a:avLst/>
          </a:prstGeom>
          <a:noFill/>
          <a:ln/>
        </p:spPr>
        <p:txBody>
          <a:bodyPr wrap="square" lIns="0" tIns="0" rIns="0" bIns="0" rtlCol="0" anchor="t"/>
          <a:lstStyle/>
          <a:p>
            <a:pPr indent="0" marL="0">
              <a:buNone/>
            </a:pPr>
            <a:r>
              <a:rPr lang="en-US" sz="1500" dirty="0">
                <a:solidFill>
                  <a:schemeClr val="tx1"/>
                </a:solidFill>
              </a:rPr>
              <a:t>des violations de données impliquent un facteur humain : clic, erreur ou manipulation</a:t>
            </a:r>
            <a:endParaRPr lang="en-US" sz="1500" dirty="0"/>
          </a:p>
        </p:txBody>
      </p:sp>
      <p:sp>
        <p:nvSpPr>
          <p:cNvPr id="9" name="a2|cadre"/>
          <p:cNvSpPr/>
          <p:nvPr/>
        </p:nvSpPr>
        <p:spPr>
          <a:xfrm>
            <a:off x="4069080" y="1645920"/>
            <a:ext cx="4206240" cy="3429000"/>
          </a:xfrm>
          <a:prstGeom prst="roundRect">
            <a:avLst>
              <a:gd name="adj" fmla="val 2667"/>
            </a:avLst>
          </a:prstGeom>
          <a:solidFill>
            <a:schemeClr val="bg1"/>
          </a:solidFill>
          <a:ln/>
          <a:effectLst>
            <a:outerShdw sx="100000" sy="100000" kx="0" ky="0" algn="bl" rotWithShape="0" blurRad="114300" dist="25400" dir="5400000">
              <a:srgbClr val="0E2235">
                <a:alpha val="12000"/>
              </a:srgbClr>
            </a:outerShdw>
          </a:effectLst>
        </p:spPr>
      </p:sp>
      <p:sp>
        <p:nvSpPr>
          <p:cNvPr id="10" name="a2|titre graphique"/>
          <p:cNvSpPr txBox="1"/>
          <p:nvPr/>
        </p:nvSpPr>
        <p:spPr>
          <a:xfrm>
            <a:off x="4297680" y="1810512"/>
            <a:ext cx="3749040" cy="320040"/>
          </a:xfrm>
          <a:prstGeom prst="rect">
            <a:avLst/>
          </a:prstGeom>
          <a:noFill/>
          <a:ln/>
        </p:spPr>
        <p:txBody>
          <a:bodyPr wrap="square" lIns="0" tIns="0" rIns="0" bIns="0" rtlCol="0" anchor="t"/>
          <a:lstStyle/>
          <a:p>
            <a:pPr indent="0" marL="0">
              <a:buNone/>
            </a:pPr>
            <a:r>
              <a:rPr lang="en-US" sz="1500" b="1" dirty="0">
                <a:solidFill>
                  <a:schemeClr val="tx2"/>
                </a:solidFill>
              </a:rPr>
              <a:t>Comment les attaquants entrent</a:t>
            </a:r>
            <a:endParaRPr lang="en-US" sz="1500" dirty="0"/>
          </a:p>
        </p:txBody>
      </p:sp>
      <p:graphicFrame>
        <p:nvGraphicFramePr>
          <p:cNvPr id="11" name="a2|graphique" descr=""/>
          <p:cNvGraphicFramePr/>
          <p:nvPr/>
        </p:nvGraphicFramePr>
        <p:xfrm>
          <a:off x="4160520" y="2194560"/>
          <a:ext cx="4023360" cy="2788920"/>
        </p:xfrm>
        <a:graphic xmlns:a="http://schemas.openxmlformats.org/drawingml/2006/main">
          <a:graphicData uri="http://schemas.openxmlformats.org/drawingml/2006/chart">
            <c:chart xmlns:c="http://schemas.openxmlformats.org/drawingml/2006/chart" r:id="rId2"/>
          </a:graphicData>
        </a:graphic>
      </p:graphicFrame>
      <p:sp>
        <p:nvSpPr>
          <p:cNvPr id="12" name="a3|carte"/>
          <p:cNvSpPr/>
          <p:nvPr/>
        </p:nvSpPr>
        <p:spPr>
          <a:xfrm>
            <a:off x="8458200" y="1645920"/>
            <a:ext cx="3184855" cy="3429000"/>
          </a:xfrm>
          <a:prstGeom prst="roundRect">
            <a:avLst>
              <a:gd name="adj" fmla="val 2871"/>
            </a:avLst>
          </a:prstGeom>
          <a:solidFill>
            <a:schemeClr val="accent2">
              <a:alpha val="12000"/>
            </a:schemeClr>
          </a:solidFill>
          <a:ln/>
        </p:spPr>
      </p:sp>
      <p:sp>
        <p:nvSpPr>
          <p:cNvPr id="13" name="a3|icône"/>
          <p:cNvSpPr/>
          <p:nvPr/>
        </p:nvSpPr>
        <p:spPr>
          <a:xfrm>
            <a:off x="8732520" y="1920240"/>
            <a:ext cx="603504" cy="603504"/>
          </a:xfrm>
          <a:prstGeom prst="ellipse">
            <a:avLst/>
          </a:prstGeom>
          <a:solidFill>
            <a:schemeClr val="accent2"/>
          </a:solidFill>
          <a:ln/>
        </p:spPr>
      </p:sp>
      <p:pic>
        <p:nvPicPr>
          <p:cNvPr id="14"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83396" y="2071116"/>
            <a:ext cx="301752" cy="301752"/>
          </a:xfrm>
          <a:prstGeom prst="rect">
            <a:avLst/>
          </a:prstGeom>
        </p:spPr>
      </p:pic>
      <p:sp>
        <p:nvSpPr>
          <p:cNvPr id="15" name="a3|chiffre"/>
          <p:cNvSpPr txBox="1"/>
          <p:nvPr/>
        </p:nvSpPr>
        <p:spPr>
          <a:xfrm>
            <a:off x="8732520" y="2651760"/>
            <a:ext cx="2651760" cy="914400"/>
          </a:xfrm>
          <a:prstGeom prst="rect">
            <a:avLst/>
          </a:prstGeom>
          <a:noFill/>
          <a:ln/>
        </p:spPr>
        <p:txBody>
          <a:bodyPr wrap="square" lIns="0" tIns="0" rIns="0" bIns="0" rtlCol="0" anchor="t"/>
          <a:lstStyle/>
          <a:p>
            <a:pPr indent="0" marL="0">
              <a:buNone/>
            </a:pPr>
            <a:r>
              <a:rPr lang="en-US" sz="6000" b="1" dirty="0">
                <a:solidFill>
                  <a:schemeClr val="accent2"/>
                </a:solidFill>
              </a:rPr>
              <a:t>×4</a:t>
            </a:r>
            <a:endParaRPr lang="en-US" sz="6000" dirty="0"/>
          </a:p>
        </p:txBody>
      </p:sp>
      <p:sp>
        <p:nvSpPr>
          <p:cNvPr id="16" name="a3|texte"/>
          <p:cNvSpPr txBox="1"/>
          <p:nvPr/>
        </p:nvSpPr>
        <p:spPr>
          <a:xfrm>
            <a:off x="8732520" y="3611880"/>
            <a:ext cx="2651760" cy="1234440"/>
          </a:xfrm>
          <a:prstGeom prst="rect">
            <a:avLst/>
          </a:prstGeom>
          <a:noFill/>
          <a:ln/>
        </p:spPr>
        <p:txBody>
          <a:bodyPr wrap="square" lIns="0" tIns="0" rIns="0" bIns="0" rtlCol="0" anchor="t"/>
          <a:lstStyle/>
          <a:p>
            <a:pPr indent="0" marL="0">
              <a:buNone/>
            </a:pPr>
            <a:r>
              <a:rPr lang="en-US" sz="1500" dirty="0">
                <a:solidFill>
                  <a:schemeClr val="tx1"/>
                </a:solidFill>
              </a:rPr>
              <a:t>de signalements chez les collaborateurs formés récemment (21 % contre 5 %)</a:t>
            </a:r>
            <a:endParaRPr lang="en-US" sz="1500" dirty="0"/>
          </a:p>
        </p:txBody>
      </p:sp>
      <p:sp>
        <p:nvSpPr>
          <p:cNvPr id="17" name="a4|bandeau"/>
          <p:cNvSpPr/>
          <p:nvPr/>
        </p:nvSpPr>
        <p:spPr>
          <a:xfrm>
            <a:off x="548640" y="5257800"/>
            <a:ext cx="11094415" cy="548640"/>
          </a:xfrm>
          <a:prstGeom prst="roundRect">
            <a:avLst>
              <a:gd name="adj" fmla="val 16667"/>
            </a:avLst>
          </a:prstGeom>
          <a:solidFill>
            <a:schemeClr val="tx2"/>
          </a:solidFill>
          <a:ln/>
        </p:spPr>
      </p:sp>
      <p:sp>
        <p:nvSpPr>
          <p:cNvPr id="18" name="a4|texte"/>
          <p:cNvSpPr txBox="1"/>
          <p:nvPr/>
        </p:nvSpPr>
        <p:spPr>
          <a:xfrm>
            <a:off x="822960" y="5257800"/>
            <a:ext cx="10545775" cy="548640"/>
          </a:xfrm>
          <a:prstGeom prst="rect">
            <a:avLst/>
          </a:prstGeom>
          <a:noFill/>
          <a:ln/>
        </p:spPr>
        <p:txBody>
          <a:bodyPr wrap="square" lIns="0" tIns="0" rIns="0" bIns="0" rtlCol="0" anchor="ctr"/>
          <a:lstStyle/>
          <a:p>
            <a:pPr indent="0" marL="0">
              <a:buNone/>
            </a:pPr>
            <a:r>
              <a:rPr lang="en-US" sz="1500" b="1" dirty="0">
                <a:solidFill>
                  <a:schemeClr val="accent4"/>
                </a:solidFill>
              </a:rPr>
              <a:t>Objectif réaliste : </a:t>
            </a:r>
            <a:pPr indent="0" marL="0">
              <a:buNone/>
            </a:pPr>
            <a:r>
              <a:rPr lang="en-US" sz="1500" dirty="0">
                <a:solidFill>
                  <a:schemeClr val="bg1"/>
                </a:solidFill>
              </a:rPr>
              <a:t>pas zéro clic, mais une alerte rapide. Une équipe qui signale vite est une équipe qui protège.</a:t>
            </a:r>
            <a:endParaRPr lang="en-US" sz="1500" dirty="0"/>
          </a:p>
        </p:txBody>
      </p:sp>
      <p:sp>
        <p:nvSpPr>
          <p:cNvPr id="19" name="Text 14"/>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 : Verizon, Data Breach Investigations Report (DBIR)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7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Graphic spid="11" grpId="0">
        <p:bldAsOne/>
      </p:bldGraphic>
      <p:bldP spid="12" grpId="0" animBg="1"/>
      <p:bldP spid="13"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01 · LA MENACE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Ce qu'un clic peut coûter</a:t>
            </a:r>
            <a:endParaRPr lang="en-US" sz="3600" dirty="0"/>
          </a:p>
        </p:txBody>
      </p:sp>
      <p:sp>
        <p:nvSpPr>
          <p:cNvPr id="4" name="a1|carte"/>
          <p:cNvSpPr/>
          <p:nvPr/>
        </p:nvSpPr>
        <p:spPr>
          <a:xfrm>
            <a:off x="548640" y="1645920"/>
            <a:ext cx="3108960" cy="1947672"/>
          </a:xfrm>
          <a:prstGeom prst="roundRect">
            <a:avLst>
              <a:gd name="adj" fmla="val 4695"/>
            </a:avLst>
          </a:prstGeom>
          <a:solidFill>
            <a:schemeClr val="bg2"/>
          </a:solidFill>
          <a:ln/>
        </p:spPr>
      </p:sp>
      <p:sp>
        <p:nvSpPr>
          <p:cNvPr id="5" name="a1|icône"/>
          <p:cNvSpPr/>
          <p:nvPr/>
        </p:nvSpPr>
        <p:spPr>
          <a:xfrm>
            <a:off x="822960" y="1901952"/>
            <a:ext cx="548640" cy="548640"/>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0120" y="2039112"/>
            <a:ext cx="274320" cy="274320"/>
          </a:xfrm>
          <a:prstGeom prst="rect">
            <a:avLst/>
          </a:prstGeom>
        </p:spPr>
      </p:pic>
      <p:sp>
        <p:nvSpPr>
          <p:cNvPr id="7" name="a1|titre"/>
          <p:cNvSpPr txBox="1"/>
          <p:nvPr/>
        </p:nvSpPr>
        <p:spPr>
          <a:xfrm>
            <a:off x="1508760" y="1901952"/>
            <a:ext cx="2011680" cy="548640"/>
          </a:xfrm>
          <a:prstGeom prst="rect">
            <a:avLst/>
          </a:prstGeom>
          <a:noFill/>
          <a:ln/>
        </p:spPr>
        <p:txBody>
          <a:bodyPr wrap="square" lIns="0" tIns="0" rIns="0" bIns="0" rtlCol="0" anchor="ctr"/>
          <a:lstStyle/>
          <a:p>
            <a:pPr indent="0" marL="0">
              <a:buNone/>
            </a:pPr>
            <a:r>
              <a:rPr lang="en-US" sz="1700" b="1" dirty="0">
                <a:solidFill>
                  <a:schemeClr val="tx2"/>
                </a:solidFill>
              </a:rPr>
              <a:t>Perte financière</a:t>
            </a:r>
            <a:endParaRPr lang="en-US" sz="1700" dirty="0"/>
          </a:p>
        </p:txBody>
      </p:sp>
      <p:sp>
        <p:nvSpPr>
          <p:cNvPr id="8" name="a1|texte"/>
          <p:cNvSpPr txBox="1"/>
          <p:nvPr/>
        </p:nvSpPr>
        <p:spPr>
          <a:xfrm>
            <a:off x="822960" y="2606040"/>
            <a:ext cx="2606040" cy="914400"/>
          </a:xfrm>
          <a:prstGeom prst="rect">
            <a:avLst/>
          </a:prstGeom>
          <a:noFill/>
          <a:ln/>
        </p:spPr>
        <p:txBody>
          <a:bodyPr wrap="square" lIns="0" tIns="0" rIns="0" bIns="0" rtlCol="0" anchor="t"/>
          <a:lstStyle/>
          <a:p>
            <a:pPr indent="0" marL="0">
              <a:buNone/>
            </a:pPr>
            <a:r>
              <a:rPr lang="en-US" sz="1400" dirty="0">
                <a:solidFill>
                  <a:schemeClr val="tx1"/>
                </a:solidFill>
              </a:rPr>
              <a:t>Un virement frauduleux est rarement récupéré s'il n'est pas signalé dans l'heure.</a:t>
            </a:r>
            <a:endParaRPr lang="en-US" sz="1400" dirty="0"/>
          </a:p>
        </p:txBody>
      </p:sp>
      <p:sp>
        <p:nvSpPr>
          <p:cNvPr id="9" name="a1|carte"/>
          <p:cNvSpPr/>
          <p:nvPr/>
        </p:nvSpPr>
        <p:spPr>
          <a:xfrm>
            <a:off x="3794760" y="1645920"/>
            <a:ext cx="3108960" cy="1947672"/>
          </a:xfrm>
          <a:prstGeom prst="roundRect">
            <a:avLst>
              <a:gd name="adj" fmla="val 4695"/>
            </a:avLst>
          </a:prstGeom>
          <a:solidFill>
            <a:schemeClr val="bg2"/>
          </a:solidFill>
          <a:ln/>
        </p:spPr>
      </p:sp>
      <p:sp>
        <p:nvSpPr>
          <p:cNvPr id="10" name="a1|icône"/>
          <p:cNvSpPr/>
          <p:nvPr/>
        </p:nvSpPr>
        <p:spPr>
          <a:xfrm>
            <a:off x="4069080" y="1901952"/>
            <a:ext cx="548640" cy="548640"/>
          </a:xfrm>
          <a:prstGeom prst="ellipse">
            <a:avLst/>
          </a:prstGeom>
          <a:solidFill>
            <a:schemeClr val="accent1"/>
          </a:solidFill>
          <a:ln/>
        </p:spPr>
      </p:sp>
      <p:pic>
        <p:nvPicPr>
          <p:cNvPr id="11" name="a1|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206240" y="2039112"/>
            <a:ext cx="274320" cy="274320"/>
          </a:xfrm>
          <a:prstGeom prst="rect">
            <a:avLst/>
          </a:prstGeom>
        </p:spPr>
      </p:pic>
      <p:sp>
        <p:nvSpPr>
          <p:cNvPr id="12" name="a1|titre"/>
          <p:cNvSpPr txBox="1"/>
          <p:nvPr/>
        </p:nvSpPr>
        <p:spPr>
          <a:xfrm>
            <a:off x="4754880" y="1901952"/>
            <a:ext cx="2011680" cy="548640"/>
          </a:xfrm>
          <a:prstGeom prst="rect">
            <a:avLst/>
          </a:prstGeom>
          <a:noFill/>
          <a:ln/>
        </p:spPr>
        <p:txBody>
          <a:bodyPr wrap="square" lIns="0" tIns="0" rIns="0" bIns="0" rtlCol="0" anchor="ctr"/>
          <a:lstStyle/>
          <a:p>
            <a:pPr indent="0" marL="0">
              <a:buNone/>
            </a:pPr>
            <a:r>
              <a:rPr lang="en-US" sz="1700" b="1" dirty="0">
                <a:solidFill>
                  <a:schemeClr val="tx2"/>
                </a:solidFill>
              </a:rPr>
              <a:t>Arrêt d'activité</a:t>
            </a:r>
            <a:endParaRPr lang="en-US" sz="1700" dirty="0"/>
          </a:p>
        </p:txBody>
      </p:sp>
      <p:sp>
        <p:nvSpPr>
          <p:cNvPr id="13" name="a1|texte"/>
          <p:cNvSpPr txBox="1"/>
          <p:nvPr/>
        </p:nvSpPr>
        <p:spPr>
          <a:xfrm>
            <a:off x="4069080" y="2606040"/>
            <a:ext cx="2606040" cy="914400"/>
          </a:xfrm>
          <a:prstGeom prst="rect">
            <a:avLst/>
          </a:prstGeom>
          <a:noFill/>
          <a:ln/>
        </p:spPr>
        <p:txBody>
          <a:bodyPr wrap="square" lIns="0" tIns="0" rIns="0" bIns="0" rtlCol="0" anchor="t"/>
          <a:lstStyle/>
          <a:p>
            <a:pPr indent="0" marL="0">
              <a:buNone/>
            </a:pPr>
            <a:r>
              <a:rPr lang="en-US" sz="1400" dirty="0">
                <a:solidFill>
                  <a:schemeClr val="tx1"/>
                </a:solidFill>
              </a:rPr>
              <a:t>Postes chiffrés, messagerie bloquée : plus de commandes ni de factures.</a:t>
            </a:r>
            <a:endParaRPr lang="en-US" sz="1400" dirty="0"/>
          </a:p>
        </p:txBody>
      </p:sp>
      <p:sp>
        <p:nvSpPr>
          <p:cNvPr id="14" name="a2|carte"/>
          <p:cNvSpPr/>
          <p:nvPr/>
        </p:nvSpPr>
        <p:spPr>
          <a:xfrm>
            <a:off x="548640" y="3776472"/>
            <a:ext cx="3108960" cy="1947672"/>
          </a:xfrm>
          <a:prstGeom prst="roundRect">
            <a:avLst>
              <a:gd name="adj" fmla="val 4695"/>
            </a:avLst>
          </a:prstGeom>
          <a:solidFill>
            <a:schemeClr val="bg2"/>
          </a:solidFill>
          <a:ln/>
        </p:spPr>
      </p:sp>
      <p:sp>
        <p:nvSpPr>
          <p:cNvPr id="15" name="a2|icône"/>
          <p:cNvSpPr/>
          <p:nvPr/>
        </p:nvSpPr>
        <p:spPr>
          <a:xfrm>
            <a:off x="822960" y="4032504"/>
            <a:ext cx="548640" cy="548640"/>
          </a:xfrm>
          <a:prstGeom prst="ellipse">
            <a:avLst/>
          </a:prstGeom>
          <a:solidFill>
            <a:schemeClr val="accent1"/>
          </a:solidFill>
          <a:ln/>
        </p:spPr>
      </p:sp>
      <p:pic>
        <p:nvPicPr>
          <p:cNvPr id="16" name="a2|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0120" y="4169664"/>
            <a:ext cx="274320" cy="274320"/>
          </a:xfrm>
          <a:prstGeom prst="rect">
            <a:avLst/>
          </a:prstGeom>
        </p:spPr>
      </p:pic>
      <p:sp>
        <p:nvSpPr>
          <p:cNvPr id="17" name="a2|titre"/>
          <p:cNvSpPr txBox="1"/>
          <p:nvPr/>
        </p:nvSpPr>
        <p:spPr>
          <a:xfrm>
            <a:off x="1508760" y="4032504"/>
            <a:ext cx="2011680" cy="548640"/>
          </a:xfrm>
          <a:prstGeom prst="rect">
            <a:avLst/>
          </a:prstGeom>
          <a:noFill/>
          <a:ln/>
        </p:spPr>
        <p:txBody>
          <a:bodyPr wrap="square" lIns="0" tIns="0" rIns="0" bIns="0" rtlCol="0" anchor="ctr"/>
          <a:lstStyle/>
          <a:p>
            <a:pPr indent="0" marL="0">
              <a:buNone/>
            </a:pPr>
            <a:r>
              <a:rPr lang="en-US" sz="1700" b="1" dirty="0">
                <a:solidFill>
                  <a:schemeClr val="tx2"/>
                </a:solidFill>
              </a:rPr>
              <a:t>Fuite de données</a:t>
            </a:r>
            <a:endParaRPr lang="en-US" sz="1700" dirty="0"/>
          </a:p>
        </p:txBody>
      </p:sp>
      <p:sp>
        <p:nvSpPr>
          <p:cNvPr id="18" name="a2|texte"/>
          <p:cNvSpPr txBox="1"/>
          <p:nvPr/>
        </p:nvSpPr>
        <p:spPr>
          <a:xfrm>
            <a:off x="822960" y="4736592"/>
            <a:ext cx="2606040" cy="914400"/>
          </a:xfrm>
          <a:prstGeom prst="rect">
            <a:avLst/>
          </a:prstGeom>
          <a:noFill/>
          <a:ln/>
        </p:spPr>
        <p:txBody>
          <a:bodyPr wrap="square" lIns="0" tIns="0" rIns="0" bIns="0" rtlCol="0" anchor="t"/>
          <a:lstStyle/>
          <a:p>
            <a:pPr indent="0" marL="0">
              <a:buNone/>
            </a:pPr>
            <a:r>
              <a:rPr lang="en-US" sz="1400" dirty="0">
                <a:solidFill>
                  <a:schemeClr val="tx1"/>
                </a:solidFill>
              </a:rPr>
              <a:t>Clients, salariés, fournisseurs : des données que nous devons protéger.</a:t>
            </a:r>
            <a:endParaRPr lang="en-US" sz="1400" dirty="0"/>
          </a:p>
        </p:txBody>
      </p:sp>
      <p:sp>
        <p:nvSpPr>
          <p:cNvPr id="19" name="a2|carte"/>
          <p:cNvSpPr/>
          <p:nvPr/>
        </p:nvSpPr>
        <p:spPr>
          <a:xfrm>
            <a:off x="3794760" y="3776472"/>
            <a:ext cx="3108960" cy="1947672"/>
          </a:xfrm>
          <a:prstGeom prst="roundRect">
            <a:avLst>
              <a:gd name="adj" fmla="val 4695"/>
            </a:avLst>
          </a:prstGeom>
          <a:solidFill>
            <a:schemeClr val="bg2"/>
          </a:solidFill>
          <a:ln/>
        </p:spPr>
      </p:sp>
      <p:sp>
        <p:nvSpPr>
          <p:cNvPr id="20" name="a2|icône"/>
          <p:cNvSpPr/>
          <p:nvPr/>
        </p:nvSpPr>
        <p:spPr>
          <a:xfrm>
            <a:off x="4069080" y="4032504"/>
            <a:ext cx="548640" cy="548640"/>
          </a:xfrm>
          <a:prstGeom prst="ellipse">
            <a:avLst/>
          </a:prstGeom>
          <a:solidFill>
            <a:schemeClr val="accent1"/>
          </a:solidFill>
          <a:ln/>
        </p:spPr>
      </p:sp>
      <p:pic>
        <p:nvPicPr>
          <p:cNvPr id="21" name="a2|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206240" y="4169664"/>
            <a:ext cx="274320" cy="274320"/>
          </a:xfrm>
          <a:prstGeom prst="rect">
            <a:avLst/>
          </a:prstGeom>
        </p:spPr>
      </p:pic>
      <p:sp>
        <p:nvSpPr>
          <p:cNvPr id="22" name="a2|titre"/>
          <p:cNvSpPr txBox="1"/>
          <p:nvPr/>
        </p:nvSpPr>
        <p:spPr>
          <a:xfrm>
            <a:off x="4754880" y="4032504"/>
            <a:ext cx="2011680" cy="548640"/>
          </a:xfrm>
          <a:prstGeom prst="rect">
            <a:avLst/>
          </a:prstGeom>
          <a:noFill/>
          <a:ln/>
        </p:spPr>
        <p:txBody>
          <a:bodyPr wrap="square" lIns="0" tIns="0" rIns="0" bIns="0" rtlCol="0" anchor="ctr"/>
          <a:lstStyle/>
          <a:p>
            <a:pPr indent="0" marL="0">
              <a:buNone/>
            </a:pPr>
            <a:r>
              <a:rPr lang="en-US" sz="1700" b="1" dirty="0">
                <a:solidFill>
                  <a:schemeClr val="tx2"/>
                </a:solidFill>
              </a:rPr>
              <a:t>Confiance</a:t>
            </a:r>
            <a:endParaRPr lang="en-US" sz="1700" dirty="0"/>
          </a:p>
        </p:txBody>
      </p:sp>
      <p:sp>
        <p:nvSpPr>
          <p:cNvPr id="23" name="a2|texte"/>
          <p:cNvSpPr txBox="1"/>
          <p:nvPr/>
        </p:nvSpPr>
        <p:spPr>
          <a:xfrm>
            <a:off x="4069080" y="4736592"/>
            <a:ext cx="2606040" cy="914400"/>
          </a:xfrm>
          <a:prstGeom prst="rect">
            <a:avLst/>
          </a:prstGeom>
          <a:noFill/>
          <a:ln/>
        </p:spPr>
        <p:txBody>
          <a:bodyPr wrap="square" lIns="0" tIns="0" rIns="0" bIns="0" rtlCol="0" anchor="t"/>
          <a:lstStyle/>
          <a:p>
            <a:pPr indent="0" marL="0">
              <a:buNone/>
            </a:pPr>
            <a:r>
              <a:rPr lang="en-US" sz="1400" dirty="0">
                <a:solidFill>
                  <a:schemeClr val="tx1"/>
                </a:solidFill>
              </a:rPr>
              <a:t>Nos clients et partenaires peuvent être piégés à leur tour en notre nom.</a:t>
            </a:r>
            <a:endParaRPr lang="en-US" sz="1400" dirty="0"/>
          </a:p>
        </p:txBody>
      </p:sp>
      <p:sp>
        <p:nvSpPr>
          <p:cNvPr id="24" name="a3|panneau"/>
          <p:cNvSpPr/>
          <p:nvPr/>
        </p:nvSpPr>
        <p:spPr>
          <a:xfrm>
            <a:off x="7132320" y="1645920"/>
            <a:ext cx="4510735" cy="4078224"/>
          </a:xfrm>
          <a:prstGeom prst="roundRect">
            <a:avLst>
              <a:gd name="adj" fmla="val 2242"/>
            </a:avLst>
          </a:prstGeom>
          <a:solidFill>
            <a:schemeClr val="tx2"/>
          </a:solidFill>
          <a:ln/>
        </p:spPr>
      </p:sp>
      <p:sp>
        <p:nvSpPr>
          <p:cNvPr id="25" name="a3|icône"/>
          <p:cNvSpPr/>
          <p:nvPr/>
        </p:nvSpPr>
        <p:spPr>
          <a:xfrm>
            <a:off x="7406640" y="1901952"/>
            <a:ext cx="566928" cy="566928"/>
          </a:xfrm>
          <a:prstGeom prst="ellipse">
            <a:avLst/>
          </a:prstGeom>
          <a:solidFill>
            <a:schemeClr val="accent1"/>
          </a:solidFill>
          <a:ln/>
        </p:spPr>
      </p:sp>
      <p:pic>
        <p:nvPicPr>
          <p:cNvPr id="26" name="a3|icôn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548372" y="2043684"/>
            <a:ext cx="283464" cy="283464"/>
          </a:xfrm>
          <a:prstGeom prst="rect">
            <a:avLst/>
          </a:prstGeom>
        </p:spPr>
      </p:pic>
      <p:sp>
        <p:nvSpPr>
          <p:cNvPr id="27" name="a3|titre"/>
          <p:cNvSpPr txBox="1"/>
          <p:nvPr/>
        </p:nvSpPr>
        <p:spPr>
          <a:xfrm>
            <a:off x="8138160" y="1901952"/>
            <a:ext cx="3383280" cy="566928"/>
          </a:xfrm>
          <a:prstGeom prst="rect">
            <a:avLst/>
          </a:prstGeom>
          <a:noFill/>
          <a:ln/>
        </p:spPr>
        <p:txBody>
          <a:bodyPr wrap="square" lIns="0" tIns="0" rIns="0" bIns="0" rtlCol="0" anchor="ctr"/>
          <a:lstStyle/>
          <a:p>
            <a:pPr indent="0" marL="0">
              <a:buNone/>
            </a:pPr>
            <a:r>
              <a:rPr lang="en-US" sz="2100" b="1" dirty="0">
                <a:solidFill>
                  <a:schemeClr val="bg1"/>
                </a:solidFill>
              </a:rPr>
              <a:t>Deux horloges de 72 h</a:t>
            </a:r>
            <a:endParaRPr lang="en-US" sz="2100" dirty="0"/>
          </a:p>
        </p:txBody>
      </p:sp>
      <p:pic>
        <p:nvPicPr>
          <p:cNvPr id="28" name="a4|icône"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52360" y="2743200"/>
            <a:ext cx="384048" cy="384048"/>
          </a:xfrm>
          <a:prstGeom prst="rect">
            <a:avLst/>
          </a:prstGeom>
        </p:spPr>
      </p:pic>
      <p:sp>
        <p:nvSpPr>
          <p:cNvPr id="29" name="a4|texte"/>
          <p:cNvSpPr txBox="1"/>
          <p:nvPr/>
        </p:nvSpPr>
        <p:spPr>
          <a:xfrm>
            <a:off x="8046720" y="2697480"/>
            <a:ext cx="3429000" cy="1051560"/>
          </a:xfrm>
          <a:prstGeom prst="rect">
            <a:avLst/>
          </a:prstGeom>
          <a:noFill/>
          <a:ln/>
        </p:spPr>
        <p:txBody>
          <a:bodyPr wrap="square" lIns="0" tIns="0" rIns="0" bIns="0" rtlCol="0" anchor="t"/>
          <a:lstStyle/>
          <a:p>
            <a:pPr indent="0" marL="0">
              <a:spcAft>
                <a:spcPts val="300"/>
              </a:spcAft>
              <a:buNone/>
            </a:pPr>
            <a:r>
              <a:rPr lang="en-US" sz="1700" b="1" dirty="0">
                <a:solidFill>
                  <a:schemeClr val="accent4"/>
                </a:solidFill>
              </a:rPr>
              <a:t>Plainte sous 72 h</a:t>
            </a:r>
            <a:endParaRPr lang="en-US" sz="1400" dirty="0"/>
          </a:p>
          <a:p>
            <a:pPr indent="0" marL="0">
              <a:spcAft>
                <a:spcPts val="300"/>
              </a:spcAft>
              <a:buNone/>
            </a:pPr>
            <a:r>
              <a:rPr lang="en-US" sz="1400" dirty="0">
                <a:solidFill>
                  <a:schemeClr val="bg1"/>
                </a:solidFill>
              </a:rPr>
              <a:t>Condition légale pour être indemnisé par l'assurance cyber (Code des assurances, art. L12-10-1).</a:t>
            </a:r>
            <a:endParaRPr lang="en-US" sz="1400" dirty="0"/>
          </a:p>
        </p:txBody>
      </p:sp>
      <p:pic>
        <p:nvPicPr>
          <p:cNvPr id="30" name="a5|icône"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452360" y="3931920"/>
            <a:ext cx="384048" cy="384048"/>
          </a:xfrm>
          <a:prstGeom prst="rect">
            <a:avLst/>
          </a:prstGeom>
        </p:spPr>
      </p:pic>
      <p:sp>
        <p:nvSpPr>
          <p:cNvPr id="31" name="a5|texte"/>
          <p:cNvSpPr txBox="1"/>
          <p:nvPr/>
        </p:nvSpPr>
        <p:spPr>
          <a:xfrm>
            <a:off x="8046720" y="3886200"/>
            <a:ext cx="3429000" cy="1051560"/>
          </a:xfrm>
          <a:prstGeom prst="rect">
            <a:avLst/>
          </a:prstGeom>
          <a:noFill/>
          <a:ln/>
        </p:spPr>
        <p:txBody>
          <a:bodyPr wrap="square" lIns="0" tIns="0" rIns="0" bIns="0" rtlCol="0" anchor="t"/>
          <a:lstStyle/>
          <a:p>
            <a:pPr indent="0" marL="0">
              <a:spcAft>
                <a:spcPts val="300"/>
              </a:spcAft>
              <a:buNone/>
            </a:pPr>
            <a:r>
              <a:rPr lang="en-US" sz="1700" b="1" dirty="0">
                <a:solidFill>
                  <a:schemeClr val="accent4"/>
                </a:solidFill>
              </a:rPr>
              <a:t>CNIL sous 72 h</a:t>
            </a:r>
            <a:endParaRPr lang="en-US" sz="1400" dirty="0"/>
          </a:p>
          <a:p>
            <a:pPr indent="0" marL="0">
              <a:spcAft>
                <a:spcPts val="300"/>
              </a:spcAft>
              <a:buNone/>
            </a:pPr>
            <a:r>
              <a:rPr lang="en-US" sz="1400" dirty="0">
                <a:solidFill>
                  <a:schemeClr val="bg1"/>
                </a:solidFill>
              </a:rPr>
              <a:t>Notification obligatoire en cas de violation de données personnelles à risque (RGPD, art. 33).</a:t>
            </a:r>
            <a:endParaRPr lang="en-US" sz="1400" dirty="0"/>
          </a:p>
        </p:txBody>
      </p:sp>
      <p:sp>
        <p:nvSpPr>
          <p:cNvPr id="32" name="a6|chute"/>
          <p:cNvSpPr txBox="1"/>
          <p:nvPr/>
        </p:nvSpPr>
        <p:spPr>
          <a:xfrm>
            <a:off x="7406640" y="5074920"/>
            <a:ext cx="4023360" cy="457200"/>
          </a:xfrm>
          <a:prstGeom prst="rect">
            <a:avLst/>
          </a:prstGeom>
          <a:noFill/>
          <a:ln/>
        </p:spPr>
        <p:txBody>
          <a:bodyPr wrap="square" lIns="0" tIns="0" rIns="0" bIns="0" rtlCol="0" anchor="ctr"/>
          <a:lstStyle/>
          <a:p>
            <a:pPr indent="0" marL="0">
              <a:buNone/>
            </a:pPr>
            <a:r>
              <a:rPr lang="en-US" sz="1500" b="1" i="1" dirty="0">
                <a:solidFill>
                  <a:schemeClr val="accent1"/>
                </a:solidFill>
              </a:rPr>
              <a:t>Un clic caché trois jours peut coûter l'indemnisation.</a:t>
            </a:r>
            <a:endParaRPr lang="en-US" sz="1500" dirty="0"/>
          </a:p>
        </p:txBody>
      </p:sp>
      <p:sp>
        <p:nvSpPr>
          <p:cNvPr id="33" name="Text 24"/>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Sources : loi n° 2023-22 du 24 janvier 2023 (LOPMI), art. 5 ; règlement (UE) 2016/679 (RGPD), art. 33</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2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2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2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nodeType="withEffect">
                                  <p:stCondLst>
                                    <p:cond delay="25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2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2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5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5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nodeType="withEffect">
                                  <p:stCondLst>
                                    <p:cond delay="75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75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nodeType="withEffect">
                                  <p:stCondLst>
                                    <p:cond delay="100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100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125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9" grpId="0" animBg="1"/>
      <p:bldP spid="31"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1|numéro"/>
          <p:cNvSpPr txBox="1"/>
          <p:nvPr/>
        </p:nvSpPr>
        <p:spPr>
          <a:xfrm>
            <a:off x="731520" y="132588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02</a:t>
            </a:r>
            <a:endParaRPr lang="en-US" sz="12000" dirty="0"/>
          </a:p>
        </p:txBody>
      </p:sp>
      <p:sp>
        <p:nvSpPr>
          <p:cNvPr id="3" name="Text 0"/>
          <p:cNvSpPr/>
          <p:nvPr>
            <p:ph idx="100" type="title" hasCustomPrompt="1"/>
          </p:nvPr>
        </p:nvSpPr>
        <p:spPr>
          <a:xfrm>
            <a:off x="731520" y="3154680"/>
            <a:ext cx="6949440" cy="868680"/>
          </a:xfrm>
          <a:prstGeom prst="rect">
            <a:avLst/>
          </a:prstGeom>
          <a:noFill/>
          <a:ln/>
        </p:spPr>
        <p:txBody>
          <a:bodyPr wrap="square" lIns="0" tIns="0" rIns="0" bIns="0" rtlCol="0" anchor="t"/>
          <a:lstStyle/>
          <a:p>
            <a:pPr algn="l" indent="0" marL="0">
              <a:buNone/>
            </a:pPr>
            <a:r>
              <a:rPr lang="en-US" sz="4400" b="1" dirty="0">
                <a:solidFill>
                  <a:schemeClr val="bg1"/>
                </a:solidFill>
              </a:rPr>
              <a:t>Reconnaître une attaque</a:t>
            </a:r>
            <a:endParaRPr lang="en-US" sz="4400" dirty="0"/>
          </a:p>
        </p:txBody>
      </p:sp>
      <p:sp>
        <p:nvSpPr>
          <p:cNvPr id="4" name="Text 0"/>
          <p:cNvSpPr/>
          <p:nvPr>
            <p:ph idx="101" type="body" hasCustomPrompt="1"/>
          </p:nvPr>
        </p:nvSpPr>
        <p:spPr>
          <a:xfrm>
            <a:off x="731520" y="4114800"/>
            <a:ext cx="6766560" cy="822960"/>
          </a:xfrm>
          <a:prstGeom prst="rect">
            <a:avLst/>
          </a:prstGeom>
          <a:noFill/>
          <a:ln/>
        </p:spPr>
        <p:txBody>
          <a:bodyPr wrap="square" lIns="0" tIns="0" rIns="0" bIns="0" rtlCol="0" anchor="t"/>
          <a:lstStyle/>
          <a:p>
            <a:pPr algn="l" indent="0" marL="0">
              <a:buNone/>
            </a:pPr>
            <a:r>
              <a:rPr lang="en-US" sz="2000" dirty="0">
                <a:solidFill>
                  <a:schemeClr val="bg2"/>
                </a:solidFill>
              </a:rPr>
              <a:t>Les indices qui ne trompent pas, et ceux qui ne suffisent plus</a:t>
            </a:r>
            <a:endParaRPr lang="en-US" sz="2000" dirty="0"/>
          </a:p>
        </p:txBody>
      </p:sp>
      <p:pic>
        <p:nvPicPr>
          <p:cNvPr id="5" name="a1|illustration" descr="">
            <a:extLst>
              <a:ext uri="{C183D7F6-B498-43B3-948B-1728B52AA6E4}">
                <adec:decorative xmlns:adec="http://schemas.microsoft.com/office/drawing/2017/decorative" val="1"/>
              </a:ext>
            </a:extLst>
          </p:cNvPr>
          <p:cNvPicPr>
            <a:picLocks noChangeAspect="1"/>
          </p:cNvPicPr>
          <p:nvPr/>
        </p:nvPicPr>
        <p:blipFill>
          <a:blip r:embed="rId1">
            <a:alphaModFix amt="12000"/>
          </a:blip>
          <a:stretch>
            <a:fillRect/>
          </a:stretch>
        </p:blipFill>
        <p:spPr>
          <a:xfrm>
            <a:off x="8183880" y="1417320"/>
            <a:ext cx="3291840" cy="3291840"/>
          </a:xfrm>
          <a:prstGeom prst="rect">
            <a:avLst/>
          </a:prstGeom>
        </p:spPr>
      </p:pic>
      <p:sp>
        <p:nvSpPr>
          <p:cNvPr id="6" name="Text 3"/>
          <p:cNvSpPr txBox="1"/>
          <p:nvPr/>
        </p:nvSpPr>
        <p:spPr>
          <a:xfrm>
            <a:off x="7315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01  La menace</a:t>
            </a:r>
            <a:endParaRPr lang="en-US" sz="1300" dirty="0"/>
          </a:p>
        </p:txBody>
      </p:sp>
      <p:sp>
        <p:nvSpPr>
          <p:cNvPr id="7" name="Text 4"/>
          <p:cNvSpPr txBox="1"/>
          <p:nvPr/>
        </p:nvSpPr>
        <p:spPr>
          <a:xfrm>
            <a:off x="3246120" y="5897880"/>
            <a:ext cx="2377440" cy="320040"/>
          </a:xfrm>
          <a:prstGeom prst="rect">
            <a:avLst/>
          </a:prstGeom>
          <a:noFill/>
          <a:ln/>
        </p:spPr>
        <p:txBody>
          <a:bodyPr wrap="square" lIns="0" tIns="0" rIns="0" bIns="0" rtlCol="0" anchor="ctr"/>
          <a:lstStyle/>
          <a:p>
            <a:pPr indent="0" marL="0">
              <a:buNone/>
            </a:pPr>
            <a:r>
              <a:rPr lang="en-US" sz="1300" b="1" dirty="0">
                <a:solidFill>
                  <a:schemeClr val="bg1"/>
                </a:solidFill>
              </a:rPr>
              <a:t>02  Reconnaître</a:t>
            </a:r>
            <a:endParaRPr lang="en-US" sz="1300" dirty="0"/>
          </a:p>
        </p:txBody>
      </p:sp>
      <p:sp>
        <p:nvSpPr>
          <p:cNvPr id="8" name="Text 5"/>
          <p:cNvSpPr txBox="1"/>
          <p:nvPr/>
        </p:nvSpPr>
        <p:spPr>
          <a:xfrm>
            <a:off x="57607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03  Réflexes</a:t>
            </a:r>
            <a:endParaRPr lang="en-US" sz="1300" dirty="0"/>
          </a:p>
        </p:txBody>
      </p:sp>
      <p:sp>
        <p:nvSpPr>
          <p:cNvPr id="9" name="Text 6"/>
          <p:cNvSpPr txBox="1"/>
          <p:nvPr/>
        </p:nvSpPr>
        <p:spPr>
          <a:xfrm>
            <a:off x="82753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04  Plan d'action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02 · RECONNAÎTRE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Anatomie d'un e-mail piégé</a:t>
            </a:r>
            <a:endParaRPr lang="en-US" sz="3600" dirty="0"/>
          </a:p>
        </p:txBody>
      </p:sp>
      <p:sp>
        <p:nvSpPr>
          <p:cNvPr id="4" name="a1|fenêtre"/>
          <p:cNvSpPr/>
          <p:nvPr/>
        </p:nvSpPr>
        <p:spPr>
          <a:xfrm>
            <a:off x="548640" y="1645920"/>
            <a:ext cx="6400800" cy="4160520"/>
          </a:xfrm>
          <a:prstGeom prst="roundRect">
            <a:avLst>
              <a:gd name="adj" fmla="val 1758"/>
            </a:avLst>
          </a:prstGeom>
          <a:solidFill>
            <a:schemeClr val="bg1"/>
          </a:solidFill>
          <a:ln/>
          <a:effectLst>
            <a:outerShdw sx="100000" sy="100000" kx="0" ky="0" algn="bl" rotWithShape="0" blurRad="114300" dist="25400" dir="5400000">
              <a:srgbClr val="0E2235">
                <a:alpha val="12000"/>
              </a:srgbClr>
            </a:outerShdw>
          </a:effectLst>
        </p:spPr>
      </p:sp>
      <p:sp>
        <p:nvSpPr>
          <p:cNvPr id="5" name="a1|barre"/>
          <p:cNvSpPr/>
          <p:nvPr/>
        </p:nvSpPr>
        <p:spPr>
          <a:xfrm>
            <a:off x="548640" y="1645920"/>
            <a:ext cx="6400800" cy="384048"/>
          </a:xfrm>
          <a:prstGeom prst="roundRect">
            <a:avLst>
              <a:gd name="adj" fmla="val 19048"/>
            </a:avLst>
          </a:prstGeom>
          <a:solidFill>
            <a:schemeClr val="tx2"/>
          </a:solidFill>
          <a:ln/>
        </p:spPr>
      </p:sp>
      <p:sp>
        <p:nvSpPr>
          <p:cNvPr id="6" name="a1|barre"/>
          <p:cNvSpPr/>
          <p:nvPr/>
        </p:nvSpPr>
        <p:spPr>
          <a:xfrm>
            <a:off x="548640" y="1874520"/>
            <a:ext cx="6400800" cy="155448"/>
          </a:xfrm>
          <a:prstGeom prst="rect">
            <a:avLst/>
          </a:prstGeom>
          <a:solidFill>
            <a:schemeClr val="tx2"/>
          </a:solidFill>
          <a:ln/>
        </p:spPr>
      </p:sp>
      <p:sp>
        <p:nvSpPr>
          <p:cNvPr id="7" name="a1|point"/>
          <p:cNvSpPr/>
          <p:nvPr/>
        </p:nvSpPr>
        <p:spPr>
          <a:xfrm>
            <a:off x="749808" y="1773936"/>
            <a:ext cx="118872" cy="118872"/>
          </a:xfrm>
          <a:prstGeom prst="ellipse">
            <a:avLst/>
          </a:prstGeom>
          <a:solidFill>
            <a:srgbClr val="C62F3B"/>
          </a:solidFill>
          <a:ln/>
        </p:spPr>
      </p:sp>
      <p:sp>
        <p:nvSpPr>
          <p:cNvPr id="8" name="a1|point"/>
          <p:cNvSpPr/>
          <p:nvPr/>
        </p:nvSpPr>
        <p:spPr>
          <a:xfrm>
            <a:off x="950976" y="1773936"/>
            <a:ext cx="118872" cy="118872"/>
          </a:xfrm>
          <a:prstGeom prst="ellipse">
            <a:avLst/>
          </a:prstGeom>
          <a:solidFill>
            <a:srgbClr val="F2A900"/>
          </a:solidFill>
          <a:ln/>
        </p:spPr>
      </p:sp>
      <p:sp>
        <p:nvSpPr>
          <p:cNvPr id="9" name="a1|point"/>
          <p:cNvSpPr/>
          <p:nvPr/>
        </p:nvSpPr>
        <p:spPr>
          <a:xfrm>
            <a:off x="1152144" y="1773936"/>
            <a:ext cx="118872" cy="118872"/>
          </a:xfrm>
          <a:prstGeom prst="ellipse">
            <a:avLst/>
          </a:prstGeom>
          <a:solidFill>
            <a:srgbClr val="2E9E5B"/>
          </a:solidFill>
          <a:ln/>
        </p:spPr>
      </p:sp>
      <p:sp>
        <p:nvSpPr>
          <p:cNvPr id="10" name="a1|barre"/>
          <p:cNvSpPr txBox="1"/>
          <p:nvPr/>
        </p:nvSpPr>
        <p:spPr>
          <a:xfrm>
            <a:off x="1463040" y="1645920"/>
            <a:ext cx="4572000" cy="384048"/>
          </a:xfrm>
          <a:prstGeom prst="rect">
            <a:avLst/>
          </a:prstGeom>
          <a:noFill/>
          <a:ln/>
        </p:spPr>
        <p:txBody>
          <a:bodyPr wrap="square" lIns="0" tIns="0" rIns="0" bIns="0" rtlCol="0" anchor="ctr"/>
          <a:lstStyle/>
          <a:p>
            <a:pPr indent="0" marL="0">
              <a:buNone/>
            </a:pPr>
            <a:r>
              <a:rPr lang="en-US" sz="1200" dirty="0">
                <a:solidFill>
                  <a:schemeClr val="bg1"/>
                </a:solidFill>
              </a:rPr>
              <a:t>Boîte de réception</a:t>
            </a:r>
            <a:endParaRPr lang="en-US" sz="1200" dirty="0"/>
          </a:p>
        </p:txBody>
      </p:sp>
      <p:sp>
        <p:nvSpPr>
          <p:cNvPr id="11" name="a1|entête"/>
          <p:cNvSpPr/>
          <p:nvPr/>
        </p:nvSpPr>
        <p:spPr>
          <a:xfrm>
            <a:off x="548640" y="2029968"/>
            <a:ext cx="6400800" cy="1234440"/>
          </a:xfrm>
          <a:prstGeom prst="rect">
            <a:avLst/>
          </a:prstGeom>
          <a:solidFill>
            <a:schemeClr val="bg2"/>
          </a:solidFill>
          <a:ln/>
        </p:spPr>
      </p:sp>
      <p:sp>
        <p:nvSpPr>
          <p:cNvPr id="12" name="a1|badge"/>
          <p:cNvSpPr/>
          <p:nvPr/>
        </p:nvSpPr>
        <p:spPr>
          <a:xfrm>
            <a:off x="731520" y="2139696"/>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a1|ligne"/>
          <p:cNvSpPr txBox="1"/>
          <p:nvPr/>
        </p:nvSpPr>
        <p:spPr>
          <a:xfrm>
            <a:off x="1143000" y="2121408"/>
            <a:ext cx="5669280" cy="310896"/>
          </a:xfrm>
          <a:prstGeom prst="rect">
            <a:avLst/>
          </a:prstGeom>
          <a:noFill/>
          <a:ln/>
        </p:spPr>
        <p:txBody>
          <a:bodyPr wrap="square" lIns="0" tIns="0" rIns="0" bIns="0" rtlCol="0" anchor="ctr"/>
          <a:lstStyle/>
          <a:p>
            <a:pPr indent="0" marL="0">
              <a:buNone/>
            </a:pPr>
            <a:r>
              <a:rPr lang="en-US" sz="1400" b="1" dirty="0">
                <a:solidFill>
                  <a:schemeClr val="tx1"/>
                </a:solidFill>
              </a:rPr>
              <a:t>De : </a:t>
            </a:r>
            <a:pPr indent="0" marL="0">
              <a:buNone/>
            </a:pPr>
            <a:r>
              <a:rPr lang="en-US" sz="1400" dirty="0">
                <a:solidFill>
                  <a:schemeClr val="tx1"/>
                </a:solidFill>
              </a:rPr>
              <a:t>Support Microsoft 365 &lt;no-reply@micr0soft-support.com&gt;</a:t>
            </a:r>
            <a:endParaRPr lang="en-US" sz="1400" dirty="0"/>
          </a:p>
        </p:txBody>
      </p:sp>
      <p:sp>
        <p:nvSpPr>
          <p:cNvPr id="14" name="a1|badge"/>
          <p:cNvSpPr/>
          <p:nvPr/>
        </p:nvSpPr>
        <p:spPr>
          <a:xfrm>
            <a:off x="731520" y="2505456"/>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a1|ligne"/>
          <p:cNvSpPr txBox="1"/>
          <p:nvPr/>
        </p:nvSpPr>
        <p:spPr>
          <a:xfrm>
            <a:off x="1143000" y="2487168"/>
            <a:ext cx="5669280" cy="310896"/>
          </a:xfrm>
          <a:prstGeom prst="rect">
            <a:avLst/>
          </a:prstGeom>
          <a:noFill/>
          <a:ln/>
        </p:spPr>
        <p:txBody>
          <a:bodyPr wrap="square" lIns="0" tIns="0" rIns="0" bIns="0" rtlCol="0" anchor="ctr"/>
          <a:lstStyle/>
          <a:p>
            <a:pPr indent="0" marL="0">
              <a:buNone/>
            </a:pPr>
            <a:r>
              <a:rPr lang="en-US" sz="1400" b="1" dirty="0">
                <a:solidFill>
                  <a:schemeClr val="tx1"/>
                </a:solidFill>
              </a:rPr>
              <a:t>Objet : </a:t>
            </a:r>
            <a:pPr indent="0" marL="0">
              <a:buNone/>
            </a:pPr>
            <a:r>
              <a:rPr lang="en-US" sz="1400" dirty="0">
                <a:solidFill>
                  <a:schemeClr val="tx1"/>
                </a:solidFill>
              </a:rPr>
              <a:t>URGENT : votre compte sera suspendu sous 24 h</a:t>
            </a:r>
            <a:endParaRPr lang="en-US" sz="1400" dirty="0"/>
          </a:p>
        </p:txBody>
      </p:sp>
      <p:sp>
        <p:nvSpPr>
          <p:cNvPr id="16" name="a1|badge"/>
          <p:cNvSpPr/>
          <p:nvPr/>
        </p:nvSpPr>
        <p:spPr>
          <a:xfrm>
            <a:off x="731520" y="2871216"/>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a1|ligne"/>
          <p:cNvSpPr txBox="1"/>
          <p:nvPr/>
        </p:nvSpPr>
        <p:spPr>
          <a:xfrm>
            <a:off x="1143000" y="2852928"/>
            <a:ext cx="5669280" cy="310896"/>
          </a:xfrm>
          <a:prstGeom prst="rect">
            <a:avLst/>
          </a:prstGeom>
          <a:noFill/>
          <a:ln/>
        </p:spPr>
        <p:txBody>
          <a:bodyPr wrap="square" lIns="0" tIns="0" rIns="0" bIns="0" rtlCol="0" anchor="ctr"/>
          <a:lstStyle/>
          <a:p>
            <a:pPr indent="0" marL="0">
              <a:buNone/>
            </a:pPr>
            <a:endParaRPr lang="en-US" sz="1400" dirty="0"/>
          </a:p>
        </p:txBody>
      </p:sp>
      <p:pic>
        <p:nvPicPr>
          <p:cNvPr id="18" name="a1|trombo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152144" y="2898648"/>
            <a:ext cx="201168" cy="201168"/>
          </a:xfrm>
          <a:prstGeom prst="rect">
            <a:avLst/>
          </a:prstGeom>
        </p:spPr>
      </p:pic>
      <p:sp>
        <p:nvSpPr>
          <p:cNvPr id="19" name="a1|ligne"/>
          <p:cNvSpPr txBox="1"/>
          <p:nvPr/>
        </p:nvSpPr>
        <p:spPr>
          <a:xfrm>
            <a:off x="1444752" y="2852928"/>
            <a:ext cx="4572000" cy="310896"/>
          </a:xfrm>
          <a:prstGeom prst="rect">
            <a:avLst/>
          </a:prstGeom>
          <a:noFill/>
          <a:ln/>
        </p:spPr>
        <p:txBody>
          <a:bodyPr wrap="square" lIns="0" tIns="0" rIns="0" bIns="0" rtlCol="0" anchor="ctr"/>
          <a:lstStyle/>
          <a:p>
            <a:pPr indent="0" marL="0">
              <a:buNone/>
            </a:pPr>
            <a:r>
              <a:rPr lang="en-US" sz="1400" dirty="0">
                <a:solidFill>
                  <a:schemeClr val="tx1"/>
                </a:solidFill>
              </a:rPr>
              <a:t>Facture_2026.zip</a:t>
            </a:r>
            <a:endParaRPr lang="en-US" sz="1400" dirty="0"/>
          </a:p>
        </p:txBody>
      </p:sp>
      <p:sp>
        <p:nvSpPr>
          <p:cNvPr id="20" name="a1|badge"/>
          <p:cNvSpPr/>
          <p:nvPr/>
        </p:nvSpPr>
        <p:spPr>
          <a:xfrm>
            <a:off x="731520" y="3474720"/>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a1|corps"/>
          <p:cNvSpPr txBox="1"/>
          <p:nvPr/>
        </p:nvSpPr>
        <p:spPr>
          <a:xfrm>
            <a:off x="1143000" y="3438144"/>
            <a:ext cx="5577840" cy="329184"/>
          </a:xfrm>
          <a:prstGeom prst="rect">
            <a:avLst/>
          </a:prstGeom>
          <a:noFill/>
          <a:ln/>
        </p:spPr>
        <p:txBody>
          <a:bodyPr wrap="square" lIns="0" tIns="0" rIns="0" bIns="0" rtlCol="0" anchor="ctr"/>
          <a:lstStyle/>
          <a:p>
            <a:pPr indent="0" marL="0">
              <a:buNone/>
            </a:pPr>
            <a:r>
              <a:rPr lang="en-US" sz="1500" b="1" dirty="0">
                <a:solidFill>
                  <a:schemeClr val="tx1"/>
                </a:solidFill>
              </a:rPr>
              <a:t>Bonjour cher utilisateur,</a:t>
            </a:r>
            <a:endParaRPr lang="en-US" sz="1500" dirty="0"/>
          </a:p>
        </p:txBody>
      </p:sp>
      <p:sp>
        <p:nvSpPr>
          <p:cNvPr id="22" name="a1|corps"/>
          <p:cNvSpPr txBox="1"/>
          <p:nvPr/>
        </p:nvSpPr>
        <p:spPr>
          <a:xfrm>
            <a:off x="1143000" y="3822192"/>
            <a:ext cx="5577840" cy="685800"/>
          </a:xfrm>
          <a:prstGeom prst="rect">
            <a:avLst/>
          </a:prstGeom>
          <a:noFill/>
          <a:ln/>
        </p:spPr>
        <p:txBody>
          <a:bodyPr wrap="square" lIns="0" tIns="0" rIns="0" bIns="0" rtlCol="0" anchor="t"/>
          <a:lstStyle/>
          <a:p>
            <a:pPr indent="0" marL="0">
              <a:buNone/>
            </a:pPr>
            <a:r>
              <a:rPr lang="en-US" sz="1400" dirty="0">
                <a:solidFill>
                  <a:schemeClr val="tx1"/>
                </a:solidFill>
              </a:rPr>
              <a:t>Une activité inhabituelle à été détectée. Pour éviter la suspension, verifier vos identifiants maintenant.</a:t>
            </a:r>
            <a:endParaRPr lang="en-US" sz="1400" dirty="0"/>
          </a:p>
        </p:txBody>
      </p:sp>
      <p:sp>
        <p:nvSpPr>
          <p:cNvPr id="23" name="a1|badge"/>
          <p:cNvSpPr/>
          <p:nvPr/>
        </p:nvSpPr>
        <p:spPr>
          <a:xfrm>
            <a:off x="731520" y="4828032"/>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4" name="a1|bouton"/>
          <p:cNvSpPr/>
          <p:nvPr/>
        </p:nvSpPr>
        <p:spPr>
          <a:xfrm>
            <a:off x="1143000" y="4681728"/>
            <a:ext cx="2377440" cy="566928"/>
          </a:xfrm>
          <a:prstGeom prst="roundRect">
            <a:avLst>
              <a:gd name="adj" fmla="val 12903"/>
            </a:avLst>
          </a:prstGeom>
          <a:solidFill>
            <a:schemeClr val="accent1"/>
          </a:solidFill>
          <a:ln/>
        </p:spPr>
        <p:txBody>
          <a:bodyPr wrap="square" lIns="0" tIns="0" rIns="0" bIns="0" rtlCol="0" anchor="ctr"/>
          <a:lstStyle/>
          <a:p>
            <a:pPr algn="ctr" indent="0" marL="0">
              <a:buNone/>
            </a:pPr>
            <a:r>
              <a:rPr lang="en-US" sz="1500" b="1" dirty="0">
                <a:solidFill>
                  <a:schemeClr val="bg1"/>
                </a:solidFill>
              </a:rPr>
              <a:t>Vérifier mon compte</a:t>
            </a:r>
            <a:endParaRPr lang="en-US" sz="1500" dirty="0"/>
          </a:p>
        </p:txBody>
      </p:sp>
      <p:pic>
        <p:nvPicPr>
          <p:cNvPr id="25" name="a1|curseur"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46120" y="5029200"/>
            <a:ext cx="329184" cy="329184"/>
          </a:xfrm>
          <a:prstGeom prst="rect">
            <a:avLst/>
          </a:prstGeom>
        </p:spPr>
      </p:pic>
      <p:sp>
        <p:nvSpPr>
          <p:cNvPr id="26" name="a1|infobulle"/>
          <p:cNvSpPr/>
          <p:nvPr/>
        </p:nvSpPr>
        <p:spPr>
          <a:xfrm>
            <a:off x="3657600" y="5120640"/>
            <a:ext cx="3063240" cy="365760"/>
          </a:xfrm>
          <a:prstGeom prst="roundRect">
            <a:avLst>
              <a:gd name="adj" fmla="val 12500"/>
            </a:avLst>
          </a:prstGeom>
          <a:solidFill>
            <a:schemeClr val="tx1"/>
          </a:solid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http://bit.ly/x9Kq-login</a:t>
            </a:r>
            <a:endParaRPr lang="en-US" sz="1300" dirty="0"/>
          </a:p>
        </p:txBody>
      </p:sp>
      <p:sp>
        <p:nvSpPr>
          <p:cNvPr id="27" name="a2|badge"/>
          <p:cNvSpPr/>
          <p:nvPr/>
        </p:nvSpPr>
        <p:spPr>
          <a:xfrm>
            <a:off x="7269480" y="1664208"/>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8" name="a2|indice"/>
          <p:cNvSpPr txBox="1"/>
          <p:nvPr/>
        </p:nvSpPr>
        <p:spPr>
          <a:xfrm>
            <a:off x="7818120" y="1645920"/>
            <a:ext cx="3822192" cy="804672"/>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Expéditeur trompeur</a:t>
            </a:r>
            <a:endParaRPr lang="en-US" sz="1400" dirty="0"/>
          </a:p>
          <a:p>
            <a:pPr indent="0" marL="0">
              <a:spcAft>
                <a:spcPts val="200"/>
              </a:spcAft>
              <a:buNone/>
            </a:pPr>
            <a:r>
              <a:rPr lang="en-US" sz="1400" dirty="0">
                <a:solidFill>
                  <a:schemeClr val="tx1"/>
                </a:solidFill>
              </a:rPr>
              <a:t>« micr0soft » avec un zéro : le domaine imite le vrai.</a:t>
            </a:r>
            <a:endParaRPr lang="en-US" sz="1400" dirty="0"/>
          </a:p>
        </p:txBody>
      </p:sp>
      <p:sp>
        <p:nvSpPr>
          <p:cNvPr id="29" name="a3|badge"/>
          <p:cNvSpPr/>
          <p:nvPr/>
        </p:nvSpPr>
        <p:spPr>
          <a:xfrm>
            <a:off x="7269480" y="2514600"/>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0" name="a3|indice"/>
          <p:cNvSpPr txBox="1"/>
          <p:nvPr/>
        </p:nvSpPr>
        <p:spPr>
          <a:xfrm>
            <a:off x="7818120" y="2496312"/>
            <a:ext cx="3822192" cy="804672"/>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Urgence et menace</a:t>
            </a:r>
            <a:endParaRPr lang="en-US" sz="1400" dirty="0"/>
          </a:p>
          <a:p>
            <a:pPr indent="0" marL="0">
              <a:spcAft>
                <a:spcPts val="200"/>
              </a:spcAft>
              <a:buNone/>
            </a:pPr>
            <a:r>
              <a:rPr lang="en-US" sz="1400" dirty="0">
                <a:solidFill>
                  <a:schemeClr val="tx1"/>
                </a:solidFill>
              </a:rPr>
              <a:t>On vous pousse à agir avant de réfléchir.</a:t>
            </a:r>
            <a:endParaRPr lang="en-US" sz="1400" dirty="0"/>
          </a:p>
        </p:txBody>
      </p:sp>
      <p:sp>
        <p:nvSpPr>
          <p:cNvPr id="31" name="a4|badge"/>
          <p:cNvSpPr/>
          <p:nvPr/>
        </p:nvSpPr>
        <p:spPr>
          <a:xfrm>
            <a:off x="7269480" y="3364992"/>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2" name="a4|indice"/>
          <p:cNvSpPr txBox="1"/>
          <p:nvPr/>
        </p:nvSpPr>
        <p:spPr>
          <a:xfrm>
            <a:off x="7818120" y="3346704"/>
            <a:ext cx="3822192" cy="804672"/>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Pièce jointe inattendue</a:t>
            </a:r>
            <a:endParaRPr lang="en-US" sz="1400" dirty="0"/>
          </a:p>
          <a:p>
            <a:pPr indent="0" marL="0">
              <a:spcAft>
                <a:spcPts val="200"/>
              </a:spcAft>
              <a:buNone/>
            </a:pPr>
            <a:r>
              <a:rPr lang="en-US" sz="1400" dirty="0">
                <a:solidFill>
                  <a:schemeClr val="tx1"/>
                </a:solidFill>
              </a:rPr>
              <a:t>Un .zip ou une facture que vous n'attendiez pas.</a:t>
            </a:r>
            <a:endParaRPr lang="en-US" sz="1400" dirty="0"/>
          </a:p>
        </p:txBody>
      </p:sp>
      <p:sp>
        <p:nvSpPr>
          <p:cNvPr id="33" name="a5|badge"/>
          <p:cNvSpPr/>
          <p:nvPr/>
        </p:nvSpPr>
        <p:spPr>
          <a:xfrm>
            <a:off x="7269480" y="421538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4" name="a5|indice"/>
          <p:cNvSpPr txBox="1"/>
          <p:nvPr/>
        </p:nvSpPr>
        <p:spPr>
          <a:xfrm>
            <a:off x="7818120" y="4197096"/>
            <a:ext cx="3822192" cy="804672"/>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Formule générique</a:t>
            </a:r>
            <a:endParaRPr lang="en-US" sz="1400" dirty="0"/>
          </a:p>
          <a:p>
            <a:pPr indent="0" marL="0">
              <a:spcAft>
                <a:spcPts val="200"/>
              </a:spcAft>
              <a:buNone/>
            </a:pPr>
            <a:r>
              <a:rPr lang="en-US" sz="1400" dirty="0">
                <a:solidFill>
                  <a:schemeClr val="tx1"/>
                </a:solidFill>
              </a:rPr>
              <a:t>« Cher utilisateur » : il ne vous connaît pas. Avec l'IA, les fautes se font rares.</a:t>
            </a:r>
            <a:endParaRPr lang="en-US" sz="1400" dirty="0"/>
          </a:p>
        </p:txBody>
      </p:sp>
      <p:sp>
        <p:nvSpPr>
          <p:cNvPr id="35" name="a6|badge"/>
          <p:cNvSpPr/>
          <p:nvPr/>
        </p:nvSpPr>
        <p:spPr>
          <a:xfrm>
            <a:off x="7269480" y="5065776"/>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6" name="a6|indice"/>
          <p:cNvSpPr txBox="1"/>
          <p:nvPr/>
        </p:nvSpPr>
        <p:spPr>
          <a:xfrm>
            <a:off x="7818120" y="5047488"/>
            <a:ext cx="3822192" cy="804672"/>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Lien déguisé</a:t>
            </a:r>
            <a:endParaRPr lang="en-US" sz="1400" dirty="0"/>
          </a:p>
          <a:p>
            <a:pPr indent="0" marL="0">
              <a:spcAft>
                <a:spcPts val="200"/>
              </a:spcAft>
              <a:buNone/>
            </a:pPr>
            <a:r>
              <a:rPr lang="en-US" sz="1400" dirty="0">
                <a:solidFill>
                  <a:schemeClr val="tx1"/>
                </a:solidFill>
              </a:rPr>
              <a:t>Au survol, le bouton révèle une adresse raccourcie ou étrangère.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25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25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5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50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75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75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100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10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125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125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02 · RECONNAÎTRE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 phishing a plusieurs visages</a:t>
            </a:r>
            <a:endParaRPr lang="en-US" sz="3600" dirty="0"/>
          </a:p>
        </p:txBody>
      </p:sp>
      <p:sp>
        <p:nvSpPr>
          <p:cNvPr id="4" name="a1|carte"/>
          <p:cNvSpPr/>
          <p:nvPr/>
        </p:nvSpPr>
        <p:spPr>
          <a:xfrm>
            <a:off x="548640" y="1645920"/>
            <a:ext cx="3547872" cy="1938528"/>
          </a:xfrm>
          <a:prstGeom prst="roundRect">
            <a:avLst>
              <a:gd name="adj" fmla="val 4717"/>
            </a:avLst>
          </a:prstGeom>
          <a:solidFill>
            <a:schemeClr val="bg2"/>
          </a:solidFill>
          <a:ln/>
        </p:spPr>
      </p:sp>
      <p:sp>
        <p:nvSpPr>
          <p:cNvPr id="5" name="a1|icône"/>
          <p:cNvSpPr/>
          <p:nvPr/>
        </p:nvSpPr>
        <p:spPr>
          <a:xfrm>
            <a:off x="822960" y="1920240"/>
            <a:ext cx="548640" cy="548640"/>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0120" y="2057400"/>
            <a:ext cx="274320" cy="274320"/>
          </a:xfrm>
          <a:prstGeom prst="rect">
            <a:avLst/>
          </a:prstGeom>
        </p:spPr>
      </p:pic>
      <p:sp>
        <p:nvSpPr>
          <p:cNvPr id="7" name="a1|titre"/>
          <p:cNvSpPr txBox="1"/>
          <p:nvPr/>
        </p:nvSpPr>
        <p:spPr>
          <a:xfrm>
            <a:off x="1508760" y="192024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E-mail</a:t>
            </a:r>
            <a:endParaRPr lang="en-US" sz="1700" dirty="0"/>
          </a:p>
        </p:txBody>
      </p:sp>
      <p:sp>
        <p:nvSpPr>
          <p:cNvPr id="8" name="a1|texte"/>
          <p:cNvSpPr txBox="1"/>
          <p:nvPr/>
        </p:nvSpPr>
        <p:spPr>
          <a:xfrm>
            <a:off x="822960" y="2606040"/>
            <a:ext cx="3017520" cy="868680"/>
          </a:xfrm>
          <a:prstGeom prst="rect">
            <a:avLst/>
          </a:prstGeom>
          <a:noFill/>
          <a:ln/>
        </p:spPr>
        <p:txBody>
          <a:bodyPr wrap="square" lIns="0" tIns="0" rIns="0" bIns="0" rtlCol="0" anchor="t"/>
          <a:lstStyle/>
          <a:p>
            <a:pPr indent="0" marL="0">
              <a:buNone/>
            </a:pPr>
            <a:r>
              <a:rPr lang="en-US" sz="1400" dirty="0">
                <a:solidFill>
                  <a:schemeClr val="tx1"/>
                </a:solidFill>
              </a:rPr>
              <a:t>Faux mails de banques, de fournisseurs, d'administrations ou de services en ligne.</a:t>
            </a:r>
            <a:endParaRPr lang="en-US" sz="1400" dirty="0"/>
          </a:p>
        </p:txBody>
      </p:sp>
      <p:sp>
        <p:nvSpPr>
          <p:cNvPr id="9" name="a1|carte"/>
          <p:cNvSpPr/>
          <p:nvPr/>
        </p:nvSpPr>
        <p:spPr>
          <a:xfrm>
            <a:off x="4321454" y="1645920"/>
            <a:ext cx="3547872" cy="1938528"/>
          </a:xfrm>
          <a:prstGeom prst="roundRect">
            <a:avLst>
              <a:gd name="adj" fmla="val 4717"/>
            </a:avLst>
          </a:prstGeom>
          <a:solidFill>
            <a:schemeClr val="bg2"/>
          </a:solidFill>
          <a:ln/>
        </p:spPr>
      </p:sp>
      <p:sp>
        <p:nvSpPr>
          <p:cNvPr id="10" name="a1|icône"/>
          <p:cNvSpPr/>
          <p:nvPr/>
        </p:nvSpPr>
        <p:spPr>
          <a:xfrm>
            <a:off x="4595774" y="1920240"/>
            <a:ext cx="548640" cy="548640"/>
          </a:xfrm>
          <a:prstGeom prst="ellipse">
            <a:avLst/>
          </a:prstGeom>
          <a:solidFill>
            <a:schemeClr val="accent1"/>
          </a:solidFill>
          <a:ln/>
        </p:spPr>
      </p:sp>
      <p:pic>
        <p:nvPicPr>
          <p:cNvPr id="11" name="a1|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32934" y="2057400"/>
            <a:ext cx="274320" cy="274320"/>
          </a:xfrm>
          <a:prstGeom prst="rect">
            <a:avLst/>
          </a:prstGeom>
        </p:spPr>
      </p:pic>
      <p:sp>
        <p:nvSpPr>
          <p:cNvPr id="12" name="a1|titre"/>
          <p:cNvSpPr txBox="1"/>
          <p:nvPr/>
        </p:nvSpPr>
        <p:spPr>
          <a:xfrm>
            <a:off x="5281574" y="192024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SMS (smishing)</a:t>
            </a:r>
            <a:endParaRPr lang="en-US" sz="1700" dirty="0"/>
          </a:p>
        </p:txBody>
      </p:sp>
      <p:sp>
        <p:nvSpPr>
          <p:cNvPr id="13" name="a1|texte"/>
          <p:cNvSpPr txBox="1"/>
          <p:nvPr/>
        </p:nvSpPr>
        <p:spPr>
          <a:xfrm>
            <a:off x="4595774" y="2606040"/>
            <a:ext cx="3017520" cy="868680"/>
          </a:xfrm>
          <a:prstGeom prst="rect">
            <a:avLst/>
          </a:prstGeom>
          <a:noFill/>
          <a:ln/>
        </p:spPr>
        <p:txBody>
          <a:bodyPr wrap="square" lIns="0" tIns="0" rIns="0" bIns="0" rtlCol="0" anchor="t"/>
          <a:lstStyle/>
          <a:p>
            <a:pPr indent="0" marL="0">
              <a:buNone/>
            </a:pPr>
            <a:r>
              <a:rPr lang="en-US" sz="1400" dirty="0">
                <a:solidFill>
                  <a:schemeClr val="tx1"/>
                </a:solidFill>
              </a:rPr>
              <a:t>Faux colis, amendes, impôts ou banque, avec un lien piégé.</a:t>
            </a:r>
            <a:endParaRPr lang="en-US" sz="1400" dirty="0"/>
          </a:p>
        </p:txBody>
      </p:sp>
      <p:sp>
        <p:nvSpPr>
          <p:cNvPr id="14" name="a1|carte"/>
          <p:cNvSpPr/>
          <p:nvPr/>
        </p:nvSpPr>
        <p:spPr>
          <a:xfrm>
            <a:off x="8094269" y="1645920"/>
            <a:ext cx="3547872" cy="1938528"/>
          </a:xfrm>
          <a:prstGeom prst="roundRect">
            <a:avLst>
              <a:gd name="adj" fmla="val 4717"/>
            </a:avLst>
          </a:prstGeom>
          <a:solidFill>
            <a:schemeClr val="bg2"/>
          </a:solidFill>
          <a:ln/>
        </p:spPr>
      </p:sp>
      <p:sp>
        <p:nvSpPr>
          <p:cNvPr id="15" name="a1|icône"/>
          <p:cNvSpPr/>
          <p:nvPr/>
        </p:nvSpPr>
        <p:spPr>
          <a:xfrm>
            <a:off x="8368589" y="1920240"/>
            <a:ext cx="548640" cy="548640"/>
          </a:xfrm>
          <a:prstGeom prst="ellipse">
            <a:avLst/>
          </a:prstGeom>
          <a:solidFill>
            <a:schemeClr val="accent1"/>
          </a:solidFill>
          <a:ln/>
        </p:spPr>
      </p:sp>
      <p:pic>
        <p:nvPicPr>
          <p:cNvPr id="16" name="a1|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05749" y="2057400"/>
            <a:ext cx="274320" cy="274320"/>
          </a:xfrm>
          <a:prstGeom prst="rect">
            <a:avLst/>
          </a:prstGeom>
        </p:spPr>
      </p:pic>
      <p:sp>
        <p:nvSpPr>
          <p:cNvPr id="17" name="a1|titre"/>
          <p:cNvSpPr txBox="1"/>
          <p:nvPr/>
        </p:nvSpPr>
        <p:spPr>
          <a:xfrm>
            <a:off x="9054389" y="192024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Téléphone (vishing)</a:t>
            </a:r>
            <a:endParaRPr lang="en-US" sz="1700" dirty="0"/>
          </a:p>
        </p:txBody>
      </p:sp>
      <p:sp>
        <p:nvSpPr>
          <p:cNvPr id="18" name="a1|texte"/>
          <p:cNvSpPr txBox="1"/>
          <p:nvPr/>
        </p:nvSpPr>
        <p:spPr>
          <a:xfrm>
            <a:off x="8368589" y="2606040"/>
            <a:ext cx="3017520" cy="868680"/>
          </a:xfrm>
          <a:prstGeom prst="rect">
            <a:avLst/>
          </a:prstGeom>
          <a:noFill/>
          <a:ln/>
        </p:spPr>
        <p:txBody>
          <a:bodyPr wrap="square" lIns="0" tIns="0" rIns="0" bIns="0" rtlCol="0" anchor="t"/>
          <a:lstStyle/>
          <a:p>
            <a:pPr indent="0" marL="0">
              <a:buNone/>
            </a:pPr>
            <a:r>
              <a:rPr lang="en-US" sz="1400" dirty="0">
                <a:solidFill>
                  <a:schemeClr val="tx1"/>
                </a:solidFill>
              </a:rPr>
              <a:t>Faux conseiller bancaire ou faux support technique qui demande un code.</a:t>
            </a:r>
            <a:endParaRPr lang="en-US" sz="1400" dirty="0"/>
          </a:p>
        </p:txBody>
      </p:sp>
      <p:sp>
        <p:nvSpPr>
          <p:cNvPr id="19" name="a2|carte"/>
          <p:cNvSpPr/>
          <p:nvPr/>
        </p:nvSpPr>
        <p:spPr>
          <a:xfrm>
            <a:off x="548640" y="3767328"/>
            <a:ext cx="3547872" cy="1938528"/>
          </a:xfrm>
          <a:prstGeom prst="roundRect">
            <a:avLst>
              <a:gd name="adj" fmla="val 4717"/>
            </a:avLst>
          </a:prstGeom>
          <a:solidFill>
            <a:schemeClr val="accent1">
              <a:alpha val="14000"/>
            </a:schemeClr>
          </a:solidFill>
          <a:ln/>
        </p:spPr>
      </p:sp>
      <p:sp>
        <p:nvSpPr>
          <p:cNvPr id="20" name="a2|icône"/>
          <p:cNvSpPr/>
          <p:nvPr/>
        </p:nvSpPr>
        <p:spPr>
          <a:xfrm>
            <a:off x="822960" y="4041648"/>
            <a:ext cx="548640" cy="548640"/>
          </a:xfrm>
          <a:prstGeom prst="ellipse">
            <a:avLst/>
          </a:prstGeom>
          <a:solidFill>
            <a:schemeClr val="accent1"/>
          </a:solidFill>
          <a:ln/>
        </p:spPr>
      </p:sp>
      <p:pic>
        <p:nvPicPr>
          <p:cNvPr id="21" name="a2|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60120" y="4178808"/>
            <a:ext cx="274320" cy="274320"/>
          </a:xfrm>
          <a:prstGeom prst="rect">
            <a:avLst/>
          </a:prstGeom>
        </p:spPr>
      </p:pic>
      <p:sp>
        <p:nvSpPr>
          <p:cNvPr id="22" name="a2|titre"/>
          <p:cNvSpPr txBox="1"/>
          <p:nvPr/>
        </p:nvSpPr>
        <p:spPr>
          <a:xfrm>
            <a:off x="1508760" y="40416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Fraude au président</a:t>
            </a:r>
            <a:endParaRPr lang="en-US" sz="1700" dirty="0"/>
          </a:p>
        </p:txBody>
      </p:sp>
      <p:sp>
        <p:nvSpPr>
          <p:cNvPr id="23" name="a2|texte"/>
          <p:cNvSpPr txBox="1"/>
          <p:nvPr/>
        </p:nvSpPr>
        <p:spPr>
          <a:xfrm>
            <a:off x="822960" y="4727448"/>
            <a:ext cx="3017520" cy="868680"/>
          </a:xfrm>
          <a:prstGeom prst="rect">
            <a:avLst/>
          </a:prstGeom>
          <a:noFill/>
          <a:ln/>
        </p:spPr>
        <p:txBody>
          <a:bodyPr wrap="square" lIns="0" tIns="0" rIns="0" bIns="0" rtlCol="0" anchor="t"/>
          <a:lstStyle/>
          <a:p>
            <a:pPr indent="0" marL="0">
              <a:buNone/>
            </a:pPr>
            <a:r>
              <a:rPr lang="en-US" sz="1400" dirty="0">
                <a:solidFill>
                  <a:schemeClr val="tx1"/>
                </a:solidFill>
              </a:rPr>
              <a:t>Un faux dirigeant exige un virement urgent et confidentiel.</a:t>
            </a:r>
            <a:endParaRPr lang="en-US" sz="1400" dirty="0"/>
          </a:p>
        </p:txBody>
      </p:sp>
      <p:sp>
        <p:nvSpPr>
          <p:cNvPr id="24" name="a3|étiquette"/>
          <p:cNvSpPr/>
          <p:nvPr/>
        </p:nvSpPr>
        <p:spPr>
          <a:xfrm>
            <a:off x="2606040" y="3611880"/>
            <a:ext cx="132588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La plus coûteuse</a:t>
            </a:r>
            <a:endParaRPr lang="en-US" sz="1100" dirty="0"/>
          </a:p>
        </p:txBody>
      </p:sp>
      <p:sp>
        <p:nvSpPr>
          <p:cNvPr id="25" name="a2|carte"/>
          <p:cNvSpPr/>
          <p:nvPr/>
        </p:nvSpPr>
        <p:spPr>
          <a:xfrm>
            <a:off x="4321454" y="3767328"/>
            <a:ext cx="3547872" cy="1938528"/>
          </a:xfrm>
          <a:prstGeom prst="roundRect">
            <a:avLst>
              <a:gd name="adj" fmla="val 4717"/>
            </a:avLst>
          </a:prstGeom>
          <a:solidFill>
            <a:schemeClr val="bg2"/>
          </a:solidFill>
          <a:ln/>
        </p:spPr>
      </p:sp>
      <p:sp>
        <p:nvSpPr>
          <p:cNvPr id="26" name="a2|icône"/>
          <p:cNvSpPr/>
          <p:nvPr/>
        </p:nvSpPr>
        <p:spPr>
          <a:xfrm>
            <a:off x="4595774" y="4041648"/>
            <a:ext cx="548640" cy="548640"/>
          </a:xfrm>
          <a:prstGeom prst="ellipse">
            <a:avLst/>
          </a:prstGeom>
          <a:solidFill>
            <a:schemeClr val="accent1"/>
          </a:solidFill>
          <a:ln/>
        </p:spPr>
      </p:sp>
      <p:pic>
        <p:nvPicPr>
          <p:cNvPr id="27" name="a2|icôn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732934" y="4178808"/>
            <a:ext cx="274320" cy="274320"/>
          </a:xfrm>
          <a:prstGeom prst="rect">
            <a:avLst/>
          </a:prstGeom>
        </p:spPr>
      </p:pic>
      <p:sp>
        <p:nvSpPr>
          <p:cNvPr id="28" name="a2|titre"/>
          <p:cNvSpPr txBox="1"/>
          <p:nvPr/>
        </p:nvSpPr>
        <p:spPr>
          <a:xfrm>
            <a:off x="5281574" y="40416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QR code (quishing)</a:t>
            </a:r>
            <a:endParaRPr lang="en-US" sz="1700" dirty="0"/>
          </a:p>
        </p:txBody>
      </p:sp>
      <p:sp>
        <p:nvSpPr>
          <p:cNvPr id="29" name="a2|texte"/>
          <p:cNvSpPr txBox="1"/>
          <p:nvPr/>
        </p:nvSpPr>
        <p:spPr>
          <a:xfrm>
            <a:off x="4595774" y="4727448"/>
            <a:ext cx="3017520" cy="868680"/>
          </a:xfrm>
          <a:prstGeom prst="rect">
            <a:avLst/>
          </a:prstGeom>
          <a:noFill/>
          <a:ln/>
        </p:spPr>
        <p:txBody>
          <a:bodyPr wrap="square" lIns="0" tIns="0" rIns="0" bIns="0" rtlCol="0" anchor="t"/>
          <a:lstStyle/>
          <a:p>
            <a:pPr indent="0" marL="0">
              <a:buNone/>
            </a:pPr>
            <a:r>
              <a:rPr lang="en-US" sz="1400" dirty="0">
                <a:solidFill>
                  <a:schemeClr val="tx1"/>
                </a:solidFill>
              </a:rPr>
              <a:t>Un QR code piégé, collé ou envoyé, mène vers un faux site de connexion.</a:t>
            </a:r>
            <a:endParaRPr lang="en-US" sz="1400" dirty="0"/>
          </a:p>
        </p:txBody>
      </p:sp>
      <p:sp>
        <p:nvSpPr>
          <p:cNvPr id="30" name="a2|carte"/>
          <p:cNvSpPr/>
          <p:nvPr/>
        </p:nvSpPr>
        <p:spPr>
          <a:xfrm>
            <a:off x="8094269" y="3767328"/>
            <a:ext cx="3547872" cy="1938528"/>
          </a:xfrm>
          <a:prstGeom prst="roundRect">
            <a:avLst>
              <a:gd name="adj" fmla="val 4717"/>
            </a:avLst>
          </a:prstGeom>
          <a:solidFill>
            <a:schemeClr val="bg2"/>
          </a:solidFill>
          <a:ln/>
        </p:spPr>
      </p:sp>
      <p:sp>
        <p:nvSpPr>
          <p:cNvPr id="31" name="a2|icône"/>
          <p:cNvSpPr/>
          <p:nvPr/>
        </p:nvSpPr>
        <p:spPr>
          <a:xfrm>
            <a:off x="8368589" y="4041648"/>
            <a:ext cx="548640" cy="548640"/>
          </a:xfrm>
          <a:prstGeom prst="ellipse">
            <a:avLst/>
          </a:prstGeom>
          <a:solidFill>
            <a:schemeClr val="accent1"/>
          </a:solidFill>
          <a:ln/>
        </p:spPr>
      </p:sp>
      <p:pic>
        <p:nvPicPr>
          <p:cNvPr id="32" name="a2|icône"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505749" y="4178808"/>
            <a:ext cx="274320" cy="274320"/>
          </a:xfrm>
          <a:prstGeom prst="rect">
            <a:avLst/>
          </a:prstGeom>
        </p:spPr>
      </p:pic>
      <p:sp>
        <p:nvSpPr>
          <p:cNvPr id="33" name="a2|titre"/>
          <p:cNvSpPr txBox="1"/>
          <p:nvPr/>
        </p:nvSpPr>
        <p:spPr>
          <a:xfrm>
            <a:off x="9054389" y="40416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Messageries pro</a:t>
            </a:r>
            <a:endParaRPr lang="en-US" sz="1700" dirty="0"/>
          </a:p>
        </p:txBody>
      </p:sp>
      <p:sp>
        <p:nvSpPr>
          <p:cNvPr id="34" name="a2|texte"/>
          <p:cNvSpPr txBox="1"/>
          <p:nvPr/>
        </p:nvSpPr>
        <p:spPr>
          <a:xfrm>
            <a:off x="8368589" y="4727448"/>
            <a:ext cx="3017520" cy="868680"/>
          </a:xfrm>
          <a:prstGeom prst="rect">
            <a:avLst/>
          </a:prstGeom>
          <a:noFill/>
          <a:ln/>
        </p:spPr>
        <p:txBody>
          <a:bodyPr wrap="square" lIns="0" tIns="0" rIns="0" bIns="0" rtlCol="0" anchor="t"/>
          <a:lstStyle/>
          <a:p>
            <a:pPr indent="0" marL="0">
              <a:buNone/>
            </a:pPr>
            <a:r>
              <a:rPr lang="en-US" sz="1400" dirty="0">
                <a:solidFill>
                  <a:schemeClr val="tx1"/>
                </a:solidFill>
              </a:rPr>
              <a:t>Faux messages sur Teams, LinkedIn ou WhatsApp, parfois depuis un compte piraté.</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2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2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nodeType="withEffect">
                                  <p:stCondLst>
                                    <p:cond delay="25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2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2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25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grpId="0" nodeType="withEffect">
                                  <p:stCondLst>
                                    <p:cond delay="25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nodeType="withEffect">
                                  <p:stCondLst>
                                    <p:cond delay="25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25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par>
                                <p:cTn id="77" presetID="10" presetClass="entr" presetSubtype="0" fill="hold" grpId="0" nodeType="withEffect">
                                  <p:stCondLst>
                                    <p:cond delay="25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50"/>
                                        <p:tgtEl>
                                          <p:spTgt spid="29"/>
                                        </p:tgtEl>
                                      </p:cBhvr>
                                    </p:animEffect>
                                  </p:childTnLst>
                                </p:cTn>
                              </p:par>
                              <p:par>
                                <p:cTn id="80" presetID="10" presetClass="entr" presetSubtype="0" fill="hold" grpId="0" nodeType="withEffect">
                                  <p:stCondLst>
                                    <p:cond delay="25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50"/>
                                        <p:tgtEl>
                                          <p:spTgt spid="30"/>
                                        </p:tgtEl>
                                      </p:cBhvr>
                                    </p:animEffect>
                                  </p:childTnLst>
                                </p:cTn>
                              </p:par>
                              <p:par>
                                <p:cTn id="83" presetID="10" presetClass="entr" presetSubtype="0" fill="hold" grpId="0" nodeType="withEffect">
                                  <p:stCondLst>
                                    <p:cond delay="25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50"/>
                                        <p:tgtEl>
                                          <p:spTgt spid="31"/>
                                        </p:tgtEl>
                                      </p:cBhvr>
                                    </p:animEffect>
                                  </p:childTnLst>
                                </p:cTn>
                              </p:par>
                              <p:par>
                                <p:cTn id="86" presetID="10" presetClass="entr" presetSubtype="0" fill="hold" nodeType="withEffect">
                                  <p:stCondLst>
                                    <p:cond delay="25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450"/>
                                        <p:tgtEl>
                                          <p:spTgt spid="32"/>
                                        </p:tgtEl>
                                      </p:cBhvr>
                                    </p:animEffect>
                                  </p:childTnLst>
                                </p:cTn>
                              </p:par>
                              <p:par>
                                <p:cTn id="89" presetID="10" presetClass="entr" presetSubtype="0" fill="hold" grpId="0" nodeType="withEffect">
                                  <p:stCondLst>
                                    <p:cond delay="25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450"/>
                                        <p:tgtEl>
                                          <p:spTgt spid="33"/>
                                        </p:tgtEl>
                                      </p:cBhvr>
                                    </p:animEffect>
                                  </p:childTnLst>
                                </p:cTn>
                              </p:par>
                              <p:par>
                                <p:cTn id="92" presetID="10" presetClass="entr" presetSubtype="0" fill="hold" grpId="0" nodeType="withEffect">
                                  <p:stCondLst>
                                    <p:cond delay="25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50"/>
                                        <p:tgtEl>
                                          <p:spTgt spid="34"/>
                                        </p:tgtEl>
                                      </p:cBhvr>
                                    </p:animEffect>
                                  </p:childTnLst>
                                </p:cTn>
                              </p:par>
                              <p:par>
                                <p:cTn id="95" presetID="10" presetClass="entr" presetSubtype="0" fill="hold" grpId="0" nodeType="withEffect">
                                  <p:stCondLst>
                                    <p:cond delay="50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5" grpId="0" animBg="1"/>
      <p:bldP spid="26" grpId="0" animBg="1"/>
      <p:bldP spid="28" grpId="0" animBg="1"/>
      <p:bldP spid="29" grpId="0" animBg="1"/>
      <p:bldP spid="30" grpId="0" animBg="1"/>
      <p:bldP spid="31" grpId="0" animBg="1"/>
      <p:bldP spid="33" grpId="0" animBg="1"/>
      <p:bldP spid="34"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02 · RECONNAÎTRE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L'IA rend les pièges plus crédibles</a:t>
            </a:r>
            <a:endParaRPr lang="en-US" sz="3600" dirty="0"/>
          </a:p>
        </p:txBody>
      </p:sp>
      <p:sp>
        <p:nvSpPr>
          <p:cNvPr id="4" name="a1|carte"/>
          <p:cNvSpPr/>
          <p:nvPr/>
        </p:nvSpPr>
        <p:spPr>
          <a:xfrm>
            <a:off x="548640" y="1645920"/>
            <a:ext cx="3547872" cy="3017520"/>
          </a:xfrm>
          <a:prstGeom prst="roundRect">
            <a:avLst>
              <a:gd name="adj" fmla="val 3030"/>
            </a:avLst>
          </a:prstGeom>
          <a:solidFill>
            <a:schemeClr val="bg2"/>
          </a:solidFill>
          <a:ln/>
        </p:spPr>
      </p:sp>
      <p:sp>
        <p:nvSpPr>
          <p:cNvPr id="5" name="a1|icône"/>
          <p:cNvSpPr/>
          <p:nvPr/>
        </p:nvSpPr>
        <p:spPr>
          <a:xfrm>
            <a:off x="822960" y="1920240"/>
            <a:ext cx="640080" cy="640080"/>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82980" y="2080260"/>
            <a:ext cx="320040" cy="320040"/>
          </a:xfrm>
          <a:prstGeom prst="rect">
            <a:avLst/>
          </a:prstGeom>
        </p:spPr>
      </p:pic>
      <p:sp>
        <p:nvSpPr>
          <p:cNvPr id="7" name="a1|titre"/>
          <p:cNvSpPr txBox="1"/>
          <p:nvPr/>
        </p:nvSpPr>
        <p:spPr>
          <a:xfrm>
            <a:off x="822960" y="2697480"/>
            <a:ext cx="3017520" cy="365760"/>
          </a:xfrm>
          <a:prstGeom prst="rect">
            <a:avLst/>
          </a:prstGeom>
          <a:noFill/>
          <a:ln/>
        </p:spPr>
        <p:txBody>
          <a:bodyPr wrap="square" lIns="0" tIns="0" rIns="0" bIns="0" rtlCol="0" anchor="t"/>
          <a:lstStyle/>
          <a:p>
            <a:pPr indent="0" marL="0">
              <a:buNone/>
            </a:pPr>
            <a:r>
              <a:rPr lang="en-US" sz="1800" b="1" dirty="0">
                <a:solidFill>
                  <a:schemeClr val="tx2"/>
                </a:solidFill>
              </a:rPr>
              <a:t>Des messages sans fautes</a:t>
            </a:r>
            <a:endParaRPr lang="en-US" sz="1800" dirty="0"/>
          </a:p>
        </p:txBody>
      </p:sp>
      <p:sp>
        <p:nvSpPr>
          <p:cNvPr id="8" name="a1|texte"/>
          <p:cNvSpPr txBox="1"/>
          <p:nvPr/>
        </p:nvSpPr>
        <p:spPr>
          <a:xfrm>
            <a:off x="822960" y="3154680"/>
            <a:ext cx="3017520" cy="1371600"/>
          </a:xfrm>
          <a:prstGeom prst="rect">
            <a:avLst/>
          </a:prstGeom>
          <a:noFill/>
          <a:ln/>
        </p:spPr>
        <p:txBody>
          <a:bodyPr wrap="square" lIns="0" tIns="0" rIns="0" bIns="0" rtlCol="0" anchor="t"/>
          <a:lstStyle/>
          <a:p>
            <a:pPr indent="0" marL="0">
              <a:buNone/>
            </a:pPr>
            <a:r>
              <a:rPr lang="en-US" sz="1400" dirty="0">
                <a:solidFill>
                  <a:schemeClr val="tx1"/>
                </a:solidFill>
              </a:rPr>
              <a:t>Rédigés par IA et personnalisés grâce aux données volées lors de fuites : votre nom, votre poste, vos fournisseurs.</a:t>
            </a:r>
            <a:endParaRPr lang="en-US" sz="1400" dirty="0"/>
          </a:p>
        </p:txBody>
      </p:sp>
      <p:sp>
        <p:nvSpPr>
          <p:cNvPr id="9" name="a2|carte"/>
          <p:cNvSpPr/>
          <p:nvPr/>
        </p:nvSpPr>
        <p:spPr>
          <a:xfrm>
            <a:off x="4321454" y="1645920"/>
            <a:ext cx="3547872" cy="3017520"/>
          </a:xfrm>
          <a:prstGeom prst="roundRect">
            <a:avLst>
              <a:gd name="adj" fmla="val 3030"/>
            </a:avLst>
          </a:prstGeom>
          <a:solidFill>
            <a:schemeClr val="bg2"/>
          </a:solidFill>
          <a:ln/>
        </p:spPr>
      </p:sp>
      <p:sp>
        <p:nvSpPr>
          <p:cNvPr id="10" name="a2|icône"/>
          <p:cNvSpPr/>
          <p:nvPr/>
        </p:nvSpPr>
        <p:spPr>
          <a:xfrm>
            <a:off x="4595774" y="1920240"/>
            <a:ext cx="640080" cy="640080"/>
          </a:xfrm>
          <a:prstGeom prst="ellipse">
            <a:avLst/>
          </a:prstGeom>
          <a:solidFill>
            <a:schemeClr val="accent1"/>
          </a:solidFill>
          <a:ln/>
        </p:spPr>
      </p:sp>
      <p:pic>
        <p:nvPicPr>
          <p:cNvPr id="11"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55794" y="2080260"/>
            <a:ext cx="320040" cy="320040"/>
          </a:xfrm>
          <a:prstGeom prst="rect">
            <a:avLst/>
          </a:prstGeom>
        </p:spPr>
      </p:pic>
      <p:sp>
        <p:nvSpPr>
          <p:cNvPr id="12" name="a2|titre"/>
          <p:cNvSpPr txBox="1"/>
          <p:nvPr/>
        </p:nvSpPr>
        <p:spPr>
          <a:xfrm>
            <a:off x="4595774" y="2697480"/>
            <a:ext cx="3017520" cy="365760"/>
          </a:xfrm>
          <a:prstGeom prst="rect">
            <a:avLst/>
          </a:prstGeom>
          <a:noFill/>
          <a:ln/>
        </p:spPr>
        <p:txBody>
          <a:bodyPr wrap="square" lIns="0" tIns="0" rIns="0" bIns="0" rtlCol="0" anchor="t"/>
          <a:lstStyle/>
          <a:p>
            <a:pPr indent="0" marL="0">
              <a:buNone/>
            </a:pPr>
            <a:r>
              <a:rPr lang="en-US" sz="1800" b="1" dirty="0">
                <a:solidFill>
                  <a:schemeClr val="tx2"/>
                </a:solidFill>
              </a:rPr>
              <a:t>Des voix et des visages clonés</a:t>
            </a:r>
            <a:endParaRPr lang="en-US" sz="1800" dirty="0"/>
          </a:p>
        </p:txBody>
      </p:sp>
      <p:sp>
        <p:nvSpPr>
          <p:cNvPr id="13" name="a2|texte"/>
          <p:cNvSpPr txBox="1"/>
          <p:nvPr/>
        </p:nvSpPr>
        <p:spPr>
          <a:xfrm>
            <a:off x="4595774" y="3154680"/>
            <a:ext cx="3017520" cy="1371600"/>
          </a:xfrm>
          <a:prstGeom prst="rect">
            <a:avLst/>
          </a:prstGeom>
          <a:noFill/>
          <a:ln/>
        </p:spPr>
        <p:txBody>
          <a:bodyPr wrap="square" lIns="0" tIns="0" rIns="0" bIns="0" rtlCol="0" anchor="t"/>
          <a:lstStyle/>
          <a:p>
            <a:pPr indent="0" marL="0">
              <a:buNone/>
            </a:pPr>
            <a:r>
              <a:rPr lang="en-US" sz="1400" dirty="0">
                <a:solidFill>
                  <a:schemeClr val="tx1"/>
                </a:solidFill>
              </a:rPr>
              <a:t>En 2024, un salarié d'Arup a viré 25 M$ après une visioconférence où son directeur financier et ses collègues étaient des deepfakes.</a:t>
            </a:r>
            <a:endParaRPr lang="en-US" sz="1400" dirty="0"/>
          </a:p>
        </p:txBody>
      </p:sp>
      <p:sp>
        <p:nvSpPr>
          <p:cNvPr id="14" name="a3|carte"/>
          <p:cNvSpPr/>
          <p:nvPr/>
        </p:nvSpPr>
        <p:spPr>
          <a:xfrm>
            <a:off x="8094269" y="1645920"/>
            <a:ext cx="3547872" cy="3017520"/>
          </a:xfrm>
          <a:prstGeom prst="roundRect">
            <a:avLst>
              <a:gd name="adj" fmla="val 3030"/>
            </a:avLst>
          </a:prstGeom>
          <a:solidFill>
            <a:schemeClr val="bg2"/>
          </a:solidFill>
          <a:ln/>
        </p:spPr>
      </p:sp>
      <p:sp>
        <p:nvSpPr>
          <p:cNvPr id="15" name="a3|icône"/>
          <p:cNvSpPr/>
          <p:nvPr/>
        </p:nvSpPr>
        <p:spPr>
          <a:xfrm>
            <a:off x="8368589" y="1920240"/>
            <a:ext cx="640080" cy="640080"/>
          </a:xfrm>
          <a:prstGeom prst="ellipse">
            <a:avLst/>
          </a:prstGeom>
          <a:solidFill>
            <a:schemeClr val="accent1"/>
          </a:solidFill>
          <a:ln/>
        </p:spPr>
      </p:sp>
      <p:pic>
        <p:nvPicPr>
          <p:cNvPr id="16"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8609" y="2080260"/>
            <a:ext cx="320040" cy="320040"/>
          </a:xfrm>
          <a:prstGeom prst="rect">
            <a:avLst/>
          </a:prstGeom>
        </p:spPr>
      </p:pic>
      <p:sp>
        <p:nvSpPr>
          <p:cNvPr id="17" name="a3|titre"/>
          <p:cNvSpPr txBox="1"/>
          <p:nvPr/>
        </p:nvSpPr>
        <p:spPr>
          <a:xfrm>
            <a:off x="8368589" y="2697480"/>
            <a:ext cx="3017520" cy="365760"/>
          </a:xfrm>
          <a:prstGeom prst="rect">
            <a:avLst/>
          </a:prstGeom>
          <a:noFill/>
          <a:ln/>
        </p:spPr>
        <p:txBody>
          <a:bodyPr wrap="square" lIns="0" tIns="0" rIns="0" bIns="0" rtlCol="0" anchor="t"/>
          <a:lstStyle/>
          <a:p>
            <a:pPr indent="0" marL="0">
              <a:buNone/>
            </a:pPr>
            <a:r>
              <a:rPr lang="en-US" sz="1800" b="1" dirty="0">
                <a:solidFill>
                  <a:schemeClr val="tx2"/>
                </a:solidFill>
              </a:rPr>
              <a:t>Le MFA contourné</a:t>
            </a:r>
            <a:endParaRPr lang="en-US" sz="1800" dirty="0"/>
          </a:p>
        </p:txBody>
      </p:sp>
      <p:sp>
        <p:nvSpPr>
          <p:cNvPr id="18" name="a3|texte"/>
          <p:cNvSpPr txBox="1"/>
          <p:nvPr/>
        </p:nvSpPr>
        <p:spPr>
          <a:xfrm>
            <a:off x="8368589" y="3154680"/>
            <a:ext cx="3017520" cy="1371600"/>
          </a:xfrm>
          <a:prstGeom prst="rect">
            <a:avLst/>
          </a:prstGeom>
          <a:noFill/>
          <a:ln/>
        </p:spPr>
        <p:txBody>
          <a:bodyPr wrap="square" lIns="0" tIns="0" rIns="0" bIns="0" rtlCol="0" anchor="t"/>
          <a:lstStyle/>
          <a:p>
            <a:pPr indent="0" marL="0">
              <a:buNone/>
            </a:pPr>
            <a:r>
              <a:rPr lang="en-US" sz="1400" dirty="0">
                <a:solidFill>
                  <a:schemeClr val="tx1"/>
                </a:solidFill>
              </a:rPr>
              <a:t>Des kits de phishing interceptent le code reçu par SMS, ou harcèlent de notifications jusqu'à ce qu'on accepte.</a:t>
            </a:r>
            <a:endParaRPr lang="en-US" sz="1400" dirty="0"/>
          </a:p>
        </p:txBody>
      </p:sp>
      <p:sp>
        <p:nvSpPr>
          <p:cNvPr id="19" name="a4|bandeau"/>
          <p:cNvSpPr/>
          <p:nvPr/>
        </p:nvSpPr>
        <p:spPr>
          <a:xfrm>
            <a:off x="548640" y="4846320"/>
            <a:ext cx="11094415" cy="960120"/>
          </a:xfrm>
          <a:prstGeom prst="roundRect">
            <a:avLst>
              <a:gd name="adj" fmla="val 9524"/>
            </a:avLst>
          </a:prstGeom>
          <a:solidFill>
            <a:schemeClr val="tx2"/>
          </a:solidFill>
          <a:ln/>
        </p:spPr>
      </p:sp>
      <p:sp>
        <p:nvSpPr>
          <p:cNvPr id="20" name="a4|texte"/>
          <p:cNvSpPr txBox="1"/>
          <p:nvPr/>
        </p:nvSpPr>
        <p:spPr>
          <a:xfrm>
            <a:off x="822960" y="4919472"/>
            <a:ext cx="6400800" cy="822960"/>
          </a:xfrm>
          <a:prstGeom prst="rect">
            <a:avLst/>
          </a:prstGeom>
          <a:noFill/>
          <a:ln/>
        </p:spPr>
        <p:txBody>
          <a:bodyPr wrap="square" lIns="0" tIns="0" rIns="0" bIns="0" rtlCol="0" anchor="ctr"/>
          <a:lstStyle/>
          <a:p>
            <a:pPr indent="0" marL="0">
              <a:buNone/>
            </a:pPr>
            <a:r>
              <a:rPr lang="en-US" sz="1600" b="1" dirty="0">
                <a:solidFill>
                  <a:schemeClr val="accent4"/>
                </a:solidFill>
              </a:rPr>
              <a:t>La nouvelle règle :</a:t>
            </a:r>
            <a:endParaRPr lang="en-US" sz="1600" dirty="0"/>
          </a:p>
          <a:p>
            <a:pPr indent="0" marL="0">
              <a:buNone/>
            </a:pPr>
            <a:r>
              <a:rPr lang="en-US" sz="1600" dirty="0">
                <a:solidFill>
                  <a:schemeClr val="bg1"/>
                </a:solidFill>
              </a:rPr>
              <a:t>on ne juge plus un message à sa forme, mais à ce qu'il demande.</a:t>
            </a:r>
            <a:endParaRPr lang="en-US" sz="1600" dirty="0"/>
          </a:p>
        </p:txBody>
      </p:sp>
      <p:sp>
        <p:nvSpPr>
          <p:cNvPr id="21" name="a5|mot"/>
          <p:cNvSpPr/>
          <p:nvPr/>
        </p:nvSpPr>
        <p:spPr>
          <a:xfrm>
            <a:off x="7452360" y="5120640"/>
            <a:ext cx="932688"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Argent</a:t>
            </a:r>
            <a:endParaRPr lang="en-US" sz="1300" dirty="0"/>
          </a:p>
        </p:txBody>
      </p:sp>
      <p:sp>
        <p:nvSpPr>
          <p:cNvPr id="22" name="a5|mot"/>
          <p:cNvSpPr/>
          <p:nvPr/>
        </p:nvSpPr>
        <p:spPr>
          <a:xfrm>
            <a:off x="8476488" y="5120640"/>
            <a:ext cx="932688"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Identifiants</a:t>
            </a:r>
            <a:endParaRPr lang="en-US" sz="1300" dirty="0"/>
          </a:p>
        </p:txBody>
      </p:sp>
      <p:sp>
        <p:nvSpPr>
          <p:cNvPr id="23" name="a5|mot"/>
          <p:cNvSpPr/>
          <p:nvPr/>
        </p:nvSpPr>
        <p:spPr>
          <a:xfrm>
            <a:off x="9500616" y="5120640"/>
            <a:ext cx="932688"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Urgence</a:t>
            </a:r>
            <a:endParaRPr lang="en-US" sz="1300" dirty="0"/>
          </a:p>
        </p:txBody>
      </p:sp>
      <p:sp>
        <p:nvSpPr>
          <p:cNvPr id="24" name="a5|mot"/>
          <p:cNvSpPr/>
          <p:nvPr/>
        </p:nvSpPr>
        <p:spPr>
          <a:xfrm>
            <a:off x="10524744" y="5120640"/>
            <a:ext cx="932688"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Secret</a:t>
            </a:r>
            <a:endParaRPr lang="en-US" sz="1300" dirty="0"/>
          </a:p>
        </p:txBody>
      </p:sp>
      <p:sp>
        <p:nvSpPr>
          <p:cNvPr id="25" name="Text 20"/>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Sources : Cybermalveillance.gouv.fr, rapport d'activité 2025 (personnalisation par les données fuitées) ; affaire Arup, Hong Kong, janvier 2024, confirmée par l'entreprise en mai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7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10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10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02 · RECONNAÎTRE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Scénario : la fraude au faux RIB</a:t>
            </a:r>
            <a:endParaRPr lang="en-US" sz="3600" dirty="0"/>
          </a:p>
        </p:txBody>
      </p:sp>
      <p:sp>
        <p:nvSpPr>
          <p:cNvPr id="4" name="a1|fil"/>
          <p:cNvSpPr/>
          <p:nvPr/>
        </p:nvSpPr>
        <p:spPr>
          <a:xfrm>
            <a:off x="1577340" y="2011680"/>
            <a:ext cx="9037015" cy="0"/>
          </a:xfrm>
          <a:prstGeom prst="line">
            <a:avLst/>
          </a:prstGeom>
          <a:noFill/>
          <a:ln w="19050">
            <a:solidFill>
              <a:srgbClr val="4E6A84"/>
            </a:solidFill>
            <a:prstDash val="dash"/>
          </a:ln>
        </p:spPr>
      </p:sp>
      <p:sp>
        <p:nvSpPr>
          <p:cNvPr id="5" name="a1|étape"/>
          <p:cNvSpPr/>
          <p:nvPr/>
        </p:nvSpPr>
        <p:spPr>
          <a:xfrm>
            <a:off x="1211580" y="1645920"/>
            <a:ext cx="731520" cy="731520"/>
          </a:xfrm>
          <a:prstGeom prst="ellipse">
            <a:avLst/>
          </a:prstGeom>
          <a:solidFill>
            <a:schemeClr val="tx2"/>
          </a:solidFill>
          <a:ln/>
        </p:spPr>
      </p:sp>
      <p:pic>
        <p:nvPicPr>
          <p:cNvPr id="6" name="a1|étap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394460" y="1828800"/>
            <a:ext cx="365760" cy="365760"/>
          </a:xfrm>
          <a:prstGeom prst="rect">
            <a:avLst/>
          </a:prstGeom>
        </p:spPr>
      </p:pic>
      <p:sp>
        <p:nvSpPr>
          <p:cNvPr id="7" name="a1|carte"/>
          <p:cNvSpPr/>
          <p:nvPr/>
        </p:nvSpPr>
        <p:spPr>
          <a:xfrm>
            <a:off x="548640" y="2560320"/>
            <a:ext cx="2057400" cy="1691640"/>
          </a:xfrm>
          <a:prstGeom prst="roundRect">
            <a:avLst>
              <a:gd name="adj" fmla="val 5405"/>
            </a:avLst>
          </a:prstGeom>
          <a:solidFill>
            <a:schemeClr val="bg2"/>
          </a:solidFill>
          <a:ln/>
        </p:spPr>
      </p:sp>
      <p:sp>
        <p:nvSpPr>
          <p:cNvPr id="8" name="a1|titre"/>
          <p:cNvSpPr txBox="1"/>
          <p:nvPr/>
        </p:nvSpPr>
        <p:spPr>
          <a:xfrm>
            <a:off x="731520" y="2697480"/>
            <a:ext cx="1691640" cy="502920"/>
          </a:xfrm>
          <a:prstGeom prst="rect">
            <a:avLst/>
          </a:prstGeom>
          <a:noFill/>
          <a:ln/>
        </p:spPr>
        <p:txBody>
          <a:bodyPr wrap="square" lIns="0" tIns="0" rIns="0" bIns="0" rtlCol="0" anchor="t"/>
          <a:lstStyle/>
          <a:p>
            <a:pPr indent="0" marL="0">
              <a:buNone/>
            </a:pPr>
            <a:r>
              <a:rPr lang="en-US" sz="1500" b="1" dirty="0">
                <a:solidFill>
                  <a:schemeClr val="tx2"/>
                </a:solidFill>
              </a:rPr>
              <a:t>Un clic de trop</a:t>
            </a:r>
            <a:endParaRPr lang="en-US" sz="1500" dirty="0"/>
          </a:p>
        </p:txBody>
      </p:sp>
      <p:sp>
        <p:nvSpPr>
          <p:cNvPr id="9" name="a1|texte"/>
          <p:cNvSpPr txBox="1"/>
          <p:nvPr/>
        </p:nvSpPr>
        <p:spPr>
          <a:xfrm>
            <a:off x="731520" y="3218688"/>
            <a:ext cx="1691640" cy="960120"/>
          </a:xfrm>
          <a:prstGeom prst="rect">
            <a:avLst/>
          </a:prstGeom>
          <a:noFill/>
          <a:ln/>
        </p:spPr>
        <p:txBody>
          <a:bodyPr wrap="square" lIns="0" tIns="0" rIns="0" bIns="0" rtlCol="0" anchor="t"/>
          <a:lstStyle/>
          <a:p>
            <a:pPr indent="0" marL="0">
              <a:buNone/>
            </a:pPr>
            <a:r>
              <a:rPr lang="en-US" sz="1400" dirty="0">
                <a:solidFill>
                  <a:schemeClr val="tx1"/>
                </a:solidFill>
              </a:rPr>
              <a:t>Un mail piégé vole les identifiants du comptable.</a:t>
            </a:r>
            <a:endParaRPr lang="en-US" sz="1400" dirty="0"/>
          </a:p>
        </p:txBody>
      </p:sp>
      <p:sp>
        <p:nvSpPr>
          <p:cNvPr id="10" name="a2|étape"/>
          <p:cNvSpPr/>
          <p:nvPr/>
        </p:nvSpPr>
        <p:spPr>
          <a:xfrm>
            <a:off x="3470834" y="1645920"/>
            <a:ext cx="731520" cy="731520"/>
          </a:xfrm>
          <a:prstGeom prst="ellipse">
            <a:avLst/>
          </a:prstGeom>
          <a:solidFill>
            <a:schemeClr val="tx2"/>
          </a:solidFill>
          <a:ln/>
        </p:spPr>
      </p:sp>
      <p:pic>
        <p:nvPicPr>
          <p:cNvPr id="11" name="a2|étap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53714" y="1828800"/>
            <a:ext cx="365760" cy="365760"/>
          </a:xfrm>
          <a:prstGeom prst="rect">
            <a:avLst/>
          </a:prstGeom>
        </p:spPr>
      </p:pic>
      <p:sp>
        <p:nvSpPr>
          <p:cNvPr id="12" name="a2|carte"/>
          <p:cNvSpPr/>
          <p:nvPr/>
        </p:nvSpPr>
        <p:spPr>
          <a:xfrm>
            <a:off x="2807894" y="2560320"/>
            <a:ext cx="2057400" cy="1691640"/>
          </a:xfrm>
          <a:prstGeom prst="roundRect">
            <a:avLst>
              <a:gd name="adj" fmla="val 5405"/>
            </a:avLst>
          </a:prstGeom>
          <a:solidFill>
            <a:schemeClr val="bg2"/>
          </a:solidFill>
          <a:ln/>
        </p:spPr>
      </p:sp>
      <p:sp>
        <p:nvSpPr>
          <p:cNvPr id="13" name="a2|titre"/>
          <p:cNvSpPr txBox="1"/>
          <p:nvPr/>
        </p:nvSpPr>
        <p:spPr>
          <a:xfrm>
            <a:off x="2990774" y="2697480"/>
            <a:ext cx="1691640" cy="502920"/>
          </a:xfrm>
          <a:prstGeom prst="rect">
            <a:avLst/>
          </a:prstGeom>
          <a:noFill/>
          <a:ln/>
        </p:spPr>
        <p:txBody>
          <a:bodyPr wrap="square" lIns="0" tIns="0" rIns="0" bIns="0" rtlCol="0" anchor="t"/>
          <a:lstStyle/>
          <a:p>
            <a:pPr indent="0" marL="0">
              <a:buNone/>
            </a:pPr>
            <a:r>
              <a:rPr lang="en-US" sz="1500" b="1" dirty="0">
                <a:solidFill>
                  <a:schemeClr val="tx2"/>
                </a:solidFill>
              </a:rPr>
              <a:t>L'attaquant observe</a:t>
            </a:r>
            <a:endParaRPr lang="en-US" sz="1500" dirty="0"/>
          </a:p>
        </p:txBody>
      </p:sp>
      <p:sp>
        <p:nvSpPr>
          <p:cNvPr id="14" name="a2|texte"/>
          <p:cNvSpPr txBox="1"/>
          <p:nvPr/>
        </p:nvSpPr>
        <p:spPr>
          <a:xfrm>
            <a:off x="2990774" y="3218688"/>
            <a:ext cx="1691640" cy="960120"/>
          </a:xfrm>
          <a:prstGeom prst="rect">
            <a:avLst/>
          </a:prstGeom>
          <a:noFill/>
          <a:ln/>
        </p:spPr>
        <p:txBody>
          <a:bodyPr wrap="square" lIns="0" tIns="0" rIns="0" bIns="0" rtlCol="0" anchor="t"/>
          <a:lstStyle/>
          <a:p>
            <a:pPr indent="0" marL="0">
              <a:buNone/>
            </a:pPr>
            <a:r>
              <a:rPr lang="en-US" sz="1400" dirty="0">
                <a:solidFill>
                  <a:schemeClr val="tx1"/>
                </a:solidFill>
              </a:rPr>
              <a:t>Il lit la messagerie pendant des semaines, sans se montrer.</a:t>
            </a:r>
            <a:endParaRPr lang="en-US" sz="1400" dirty="0"/>
          </a:p>
        </p:txBody>
      </p:sp>
      <p:sp>
        <p:nvSpPr>
          <p:cNvPr id="15" name="a3|étape"/>
          <p:cNvSpPr/>
          <p:nvPr/>
        </p:nvSpPr>
        <p:spPr>
          <a:xfrm>
            <a:off x="5730088" y="1645920"/>
            <a:ext cx="731520" cy="731520"/>
          </a:xfrm>
          <a:prstGeom prst="ellipse">
            <a:avLst/>
          </a:prstGeom>
          <a:solidFill>
            <a:schemeClr val="tx2"/>
          </a:solidFill>
          <a:ln/>
        </p:spPr>
      </p:sp>
      <p:pic>
        <p:nvPicPr>
          <p:cNvPr id="16" name="a3|étap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12968" y="1828800"/>
            <a:ext cx="365760" cy="365760"/>
          </a:xfrm>
          <a:prstGeom prst="rect">
            <a:avLst/>
          </a:prstGeom>
        </p:spPr>
      </p:pic>
      <p:sp>
        <p:nvSpPr>
          <p:cNvPr id="17" name="a3|carte"/>
          <p:cNvSpPr/>
          <p:nvPr/>
        </p:nvSpPr>
        <p:spPr>
          <a:xfrm>
            <a:off x="5067148" y="2560320"/>
            <a:ext cx="2057400" cy="1691640"/>
          </a:xfrm>
          <a:prstGeom prst="roundRect">
            <a:avLst>
              <a:gd name="adj" fmla="val 5405"/>
            </a:avLst>
          </a:prstGeom>
          <a:solidFill>
            <a:schemeClr val="bg2"/>
          </a:solidFill>
          <a:ln/>
        </p:spPr>
      </p:sp>
      <p:sp>
        <p:nvSpPr>
          <p:cNvPr id="18" name="a3|titre"/>
          <p:cNvSpPr txBox="1"/>
          <p:nvPr/>
        </p:nvSpPr>
        <p:spPr>
          <a:xfrm>
            <a:off x="5250028" y="2697480"/>
            <a:ext cx="1691640" cy="502920"/>
          </a:xfrm>
          <a:prstGeom prst="rect">
            <a:avLst/>
          </a:prstGeom>
          <a:noFill/>
          <a:ln/>
        </p:spPr>
        <p:txBody>
          <a:bodyPr wrap="square" lIns="0" tIns="0" rIns="0" bIns="0" rtlCol="0" anchor="t"/>
          <a:lstStyle/>
          <a:p>
            <a:pPr indent="0" marL="0">
              <a:buNone/>
            </a:pPr>
            <a:r>
              <a:rPr lang="en-US" sz="1500" b="1" dirty="0">
                <a:solidFill>
                  <a:schemeClr val="tx2"/>
                </a:solidFill>
              </a:rPr>
              <a:t>Il repère un paiement</a:t>
            </a:r>
            <a:endParaRPr lang="en-US" sz="1500" dirty="0"/>
          </a:p>
        </p:txBody>
      </p:sp>
      <p:sp>
        <p:nvSpPr>
          <p:cNvPr id="19" name="a3|texte"/>
          <p:cNvSpPr txBox="1"/>
          <p:nvPr/>
        </p:nvSpPr>
        <p:spPr>
          <a:xfrm>
            <a:off x="5250028" y="3218688"/>
            <a:ext cx="1691640" cy="960120"/>
          </a:xfrm>
          <a:prstGeom prst="rect">
            <a:avLst/>
          </a:prstGeom>
          <a:noFill/>
          <a:ln/>
        </p:spPr>
        <p:txBody>
          <a:bodyPr wrap="square" lIns="0" tIns="0" rIns="0" bIns="0" rtlCol="0" anchor="t"/>
          <a:lstStyle/>
          <a:p>
            <a:pPr indent="0" marL="0">
              <a:buNone/>
            </a:pPr>
            <a:r>
              <a:rPr lang="en-US" sz="1400" dirty="0">
                <a:solidFill>
                  <a:schemeClr val="tx1"/>
                </a:solidFill>
              </a:rPr>
              <a:t>Un gros règlement fournisseur est prévu.</a:t>
            </a:r>
            <a:endParaRPr lang="en-US" sz="1400" dirty="0"/>
          </a:p>
        </p:txBody>
      </p:sp>
      <p:sp>
        <p:nvSpPr>
          <p:cNvPr id="20" name="a4|étape"/>
          <p:cNvSpPr/>
          <p:nvPr/>
        </p:nvSpPr>
        <p:spPr>
          <a:xfrm>
            <a:off x="7989341" y="1645920"/>
            <a:ext cx="731520" cy="731520"/>
          </a:xfrm>
          <a:prstGeom prst="ellipse">
            <a:avLst/>
          </a:prstGeom>
          <a:solidFill>
            <a:schemeClr val="tx2"/>
          </a:solidFill>
          <a:ln/>
        </p:spPr>
      </p:sp>
      <p:pic>
        <p:nvPicPr>
          <p:cNvPr id="21" name="a4|étap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72221" y="1828800"/>
            <a:ext cx="365760" cy="365760"/>
          </a:xfrm>
          <a:prstGeom prst="rect">
            <a:avLst/>
          </a:prstGeom>
        </p:spPr>
      </p:pic>
      <p:sp>
        <p:nvSpPr>
          <p:cNvPr id="22" name="a4|carte"/>
          <p:cNvSpPr/>
          <p:nvPr/>
        </p:nvSpPr>
        <p:spPr>
          <a:xfrm>
            <a:off x="7326401" y="2560320"/>
            <a:ext cx="2057400" cy="1691640"/>
          </a:xfrm>
          <a:prstGeom prst="roundRect">
            <a:avLst>
              <a:gd name="adj" fmla="val 5405"/>
            </a:avLst>
          </a:prstGeom>
          <a:solidFill>
            <a:schemeClr val="bg2"/>
          </a:solidFill>
          <a:ln/>
        </p:spPr>
      </p:sp>
      <p:sp>
        <p:nvSpPr>
          <p:cNvPr id="23" name="a4|titre"/>
          <p:cNvSpPr txBox="1"/>
          <p:nvPr/>
        </p:nvSpPr>
        <p:spPr>
          <a:xfrm>
            <a:off x="7509281" y="2697480"/>
            <a:ext cx="1691640" cy="502920"/>
          </a:xfrm>
          <a:prstGeom prst="rect">
            <a:avLst/>
          </a:prstGeom>
          <a:noFill/>
          <a:ln/>
        </p:spPr>
        <p:txBody>
          <a:bodyPr wrap="square" lIns="0" tIns="0" rIns="0" bIns="0" rtlCol="0" anchor="t"/>
          <a:lstStyle/>
          <a:p>
            <a:pPr indent="0" marL="0">
              <a:buNone/>
            </a:pPr>
            <a:r>
              <a:rPr lang="en-US" sz="1500" b="1" dirty="0">
                <a:solidFill>
                  <a:schemeClr val="tx2"/>
                </a:solidFill>
              </a:rPr>
              <a:t>Le faux RIB</a:t>
            </a:r>
            <a:endParaRPr lang="en-US" sz="1500" dirty="0"/>
          </a:p>
        </p:txBody>
      </p:sp>
      <p:sp>
        <p:nvSpPr>
          <p:cNvPr id="24" name="a4|texte"/>
          <p:cNvSpPr txBox="1"/>
          <p:nvPr/>
        </p:nvSpPr>
        <p:spPr>
          <a:xfrm>
            <a:off x="7509281" y="3218688"/>
            <a:ext cx="1691640" cy="960120"/>
          </a:xfrm>
          <a:prstGeom prst="rect">
            <a:avLst/>
          </a:prstGeom>
          <a:noFill/>
          <a:ln/>
        </p:spPr>
        <p:txBody>
          <a:bodyPr wrap="square" lIns="0" tIns="0" rIns="0" bIns="0" rtlCol="0" anchor="t"/>
          <a:lstStyle/>
          <a:p>
            <a:pPr indent="0" marL="0">
              <a:buNone/>
            </a:pPr>
            <a:r>
              <a:rPr lang="en-US" sz="1400" dirty="0">
                <a:solidFill>
                  <a:schemeClr val="tx1"/>
                </a:solidFill>
              </a:rPr>
              <a:t>Un mail imitant le fournisseur change les coordonnées bancaires.</a:t>
            </a:r>
            <a:endParaRPr lang="en-US" sz="1400" dirty="0"/>
          </a:p>
        </p:txBody>
      </p:sp>
      <p:sp>
        <p:nvSpPr>
          <p:cNvPr id="25" name="a5|étape"/>
          <p:cNvSpPr/>
          <p:nvPr/>
        </p:nvSpPr>
        <p:spPr>
          <a:xfrm>
            <a:off x="10248595" y="1645920"/>
            <a:ext cx="731520" cy="731520"/>
          </a:xfrm>
          <a:prstGeom prst="ellipse">
            <a:avLst/>
          </a:prstGeom>
          <a:solidFill>
            <a:schemeClr val="accent5"/>
          </a:solidFill>
          <a:ln/>
        </p:spPr>
      </p:sp>
      <p:pic>
        <p:nvPicPr>
          <p:cNvPr id="26" name="a5|étap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431475" y="1828800"/>
            <a:ext cx="365760" cy="365760"/>
          </a:xfrm>
          <a:prstGeom prst="rect">
            <a:avLst/>
          </a:prstGeom>
        </p:spPr>
      </p:pic>
      <p:sp>
        <p:nvSpPr>
          <p:cNvPr id="27" name="a5|carte"/>
          <p:cNvSpPr/>
          <p:nvPr/>
        </p:nvSpPr>
        <p:spPr>
          <a:xfrm>
            <a:off x="9585655" y="2560320"/>
            <a:ext cx="2057400" cy="1691640"/>
          </a:xfrm>
          <a:prstGeom prst="roundRect">
            <a:avLst>
              <a:gd name="adj" fmla="val 5405"/>
            </a:avLst>
          </a:prstGeom>
          <a:solidFill>
            <a:schemeClr val="bg2"/>
          </a:solidFill>
          <a:ln/>
        </p:spPr>
      </p:sp>
      <p:sp>
        <p:nvSpPr>
          <p:cNvPr id="28" name="a5|titre"/>
          <p:cNvSpPr txBox="1"/>
          <p:nvPr/>
        </p:nvSpPr>
        <p:spPr>
          <a:xfrm>
            <a:off x="9768535" y="2697480"/>
            <a:ext cx="1691640" cy="502920"/>
          </a:xfrm>
          <a:prstGeom prst="rect">
            <a:avLst/>
          </a:prstGeom>
          <a:noFill/>
          <a:ln/>
        </p:spPr>
        <p:txBody>
          <a:bodyPr wrap="square" lIns="0" tIns="0" rIns="0" bIns="0" rtlCol="0" anchor="t"/>
          <a:lstStyle/>
          <a:p>
            <a:pPr indent="0" marL="0">
              <a:buNone/>
            </a:pPr>
            <a:r>
              <a:rPr lang="en-US" sz="1500" b="1" dirty="0">
                <a:solidFill>
                  <a:schemeClr val="accent5"/>
                </a:solidFill>
              </a:rPr>
              <a:t>Le virement part</a:t>
            </a:r>
            <a:endParaRPr lang="en-US" sz="1500" dirty="0"/>
          </a:p>
        </p:txBody>
      </p:sp>
      <p:sp>
        <p:nvSpPr>
          <p:cNvPr id="29" name="a5|texte"/>
          <p:cNvSpPr txBox="1"/>
          <p:nvPr/>
        </p:nvSpPr>
        <p:spPr>
          <a:xfrm>
            <a:off x="9768535" y="3218688"/>
            <a:ext cx="1691640" cy="960120"/>
          </a:xfrm>
          <a:prstGeom prst="rect">
            <a:avLst/>
          </a:prstGeom>
          <a:noFill/>
          <a:ln/>
        </p:spPr>
        <p:txBody>
          <a:bodyPr wrap="square" lIns="0" tIns="0" rIns="0" bIns="0" rtlCol="0" anchor="t"/>
          <a:lstStyle/>
          <a:p>
            <a:pPr indent="0" marL="0">
              <a:buNone/>
            </a:pPr>
            <a:r>
              <a:rPr lang="en-US" sz="1400" dirty="0">
                <a:solidFill>
                  <a:schemeClr val="tx1"/>
                </a:solidFill>
              </a:rPr>
              <a:t>L'argent arrive sur le compte des fraudeurs.</a:t>
            </a:r>
            <a:endParaRPr lang="en-US" sz="1400" dirty="0"/>
          </a:p>
        </p:txBody>
      </p:sp>
      <p:sp>
        <p:nvSpPr>
          <p:cNvPr id="30" name="a6|parade"/>
          <p:cNvSpPr/>
          <p:nvPr/>
        </p:nvSpPr>
        <p:spPr>
          <a:xfrm>
            <a:off x="548640" y="4480560"/>
            <a:ext cx="11094415" cy="1280160"/>
          </a:xfrm>
          <a:prstGeom prst="roundRect">
            <a:avLst>
              <a:gd name="adj" fmla="val 7143"/>
            </a:avLst>
          </a:prstGeom>
          <a:solidFill>
            <a:schemeClr val="tx2"/>
          </a:solidFill>
          <a:ln/>
        </p:spPr>
      </p:sp>
      <p:sp>
        <p:nvSpPr>
          <p:cNvPr id="31" name="a6|titre"/>
          <p:cNvSpPr txBox="1"/>
          <p:nvPr/>
        </p:nvSpPr>
        <p:spPr>
          <a:xfrm>
            <a:off x="822960" y="4480560"/>
            <a:ext cx="1645920" cy="1280160"/>
          </a:xfrm>
          <a:prstGeom prst="rect">
            <a:avLst/>
          </a:prstGeom>
          <a:noFill/>
          <a:ln/>
        </p:spPr>
        <p:txBody>
          <a:bodyPr wrap="square" lIns="0" tIns="0" rIns="0" bIns="0" rtlCol="0" anchor="ctr"/>
          <a:lstStyle/>
          <a:p>
            <a:pPr indent="0" marL="0">
              <a:buNone/>
            </a:pPr>
            <a:r>
              <a:rPr lang="en-US" sz="1800" b="1" dirty="0">
                <a:solidFill>
                  <a:schemeClr val="accent4"/>
                </a:solidFill>
              </a:rPr>
              <a:t>La parade</a:t>
            </a:r>
            <a:endParaRPr lang="en-US" sz="1800" dirty="0"/>
          </a:p>
        </p:txBody>
      </p:sp>
      <p:sp>
        <p:nvSpPr>
          <p:cNvPr id="32" name="a7|coche"/>
          <p:cNvSpPr/>
          <p:nvPr/>
        </p:nvSpPr>
        <p:spPr>
          <a:xfrm>
            <a:off x="2331720" y="4873752"/>
            <a:ext cx="475488" cy="475488"/>
          </a:xfrm>
          <a:prstGeom prst="ellipse">
            <a:avLst/>
          </a:prstGeom>
          <a:solidFill>
            <a:schemeClr val="accent2"/>
          </a:solidFill>
          <a:ln/>
        </p:spPr>
      </p:sp>
      <p:pic>
        <p:nvPicPr>
          <p:cNvPr id="33" name="a7|coche"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450592" y="4992624"/>
            <a:ext cx="237744" cy="237744"/>
          </a:xfrm>
          <a:prstGeom prst="rect">
            <a:avLst/>
          </a:prstGeom>
        </p:spPr>
      </p:pic>
      <p:sp>
        <p:nvSpPr>
          <p:cNvPr id="34" name="a7|texte"/>
          <p:cNvSpPr txBox="1"/>
          <p:nvPr/>
        </p:nvSpPr>
        <p:spPr>
          <a:xfrm>
            <a:off x="2953512" y="4663440"/>
            <a:ext cx="2331720" cy="914400"/>
          </a:xfrm>
          <a:prstGeom prst="rect">
            <a:avLst/>
          </a:prstGeom>
          <a:noFill/>
          <a:ln/>
        </p:spPr>
        <p:txBody>
          <a:bodyPr wrap="square" lIns="0" tIns="0" rIns="0" bIns="0" rtlCol="0" anchor="ctr"/>
          <a:lstStyle/>
          <a:p>
            <a:pPr indent="0" marL="0">
              <a:buNone/>
            </a:pPr>
            <a:r>
              <a:rPr lang="en-US" sz="1400" dirty="0">
                <a:solidFill>
                  <a:schemeClr val="bg1"/>
                </a:solidFill>
              </a:rPr>
              <a:t>Rappeler le fournisseur sur un numéro déjà connu</a:t>
            </a:r>
            <a:endParaRPr lang="en-US" sz="1400" dirty="0"/>
          </a:p>
        </p:txBody>
      </p:sp>
      <p:sp>
        <p:nvSpPr>
          <p:cNvPr id="35" name="a8|coche"/>
          <p:cNvSpPr/>
          <p:nvPr/>
        </p:nvSpPr>
        <p:spPr>
          <a:xfrm>
            <a:off x="5440680" y="4873752"/>
            <a:ext cx="475488" cy="475488"/>
          </a:xfrm>
          <a:prstGeom prst="ellipse">
            <a:avLst/>
          </a:prstGeom>
          <a:solidFill>
            <a:schemeClr val="accent2"/>
          </a:solidFill>
          <a:ln/>
        </p:spPr>
      </p:sp>
      <p:pic>
        <p:nvPicPr>
          <p:cNvPr id="36" name="a8|coche"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559552" y="4992624"/>
            <a:ext cx="237744" cy="237744"/>
          </a:xfrm>
          <a:prstGeom prst="rect">
            <a:avLst/>
          </a:prstGeom>
        </p:spPr>
      </p:pic>
      <p:sp>
        <p:nvSpPr>
          <p:cNvPr id="37" name="a8|texte"/>
          <p:cNvSpPr txBox="1"/>
          <p:nvPr/>
        </p:nvSpPr>
        <p:spPr>
          <a:xfrm>
            <a:off x="6062472" y="4663440"/>
            <a:ext cx="2331720" cy="914400"/>
          </a:xfrm>
          <a:prstGeom prst="rect">
            <a:avLst/>
          </a:prstGeom>
          <a:noFill/>
          <a:ln/>
        </p:spPr>
        <p:txBody>
          <a:bodyPr wrap="square" lIns="0" tIns="0" rIns="0" bIns="0" rtlCol="0" anchor="ctr"/>
          <a:lstStyle/>
          <a:p>
            <a:pPr indent="0" marL="0">
              <a:buNone/>
            </a:pPr>
            <a:r>
              <a:rPr lang="en-US" sz="1400" dirty="0">
                <a:solidFill>
                  <a:schemeClr val="bg1"/>
                </a:solidFill>
              </a:rPr>
              <a:t>Double validation de tout changement de RIB</a:t>
            </a:r>
            <a:endParaRPr lang="en-US" sz="1400" dirty="0"/>
          </a:p>
        </p:txBody>
      </p:sp>
      <p:sp>
        <p:nvSpPr>
          <p:cNvPr id="38" name="a9|coche"/>
          <p:cNvSpPr/>
          <p:nvPr/>
        </p:nvSpPr>
        <p:spPr>
          <a:xfrm>
            <a:off x="8549640" y="4873752"/>
            <a:ext cx="475488" cy="475488"/>
          </a:xfrm>
          <a:prstGeom prst="ellipse">
            <a:avLst/>
          </a:prstGeom>
          <a:solidFill>
            <a:schemeClr val="accent2"/>
          </a:solidFill>
          <a:ln/>
        </p:spPr>
      </p:sp>
      <p:pic>
        <p:nvPicPr>
          <p:cNvPr id="39" name="a9|coche"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668512" y="4992624"/>
            <a:ext cx="237744" cy="237744"/>
          </a:xfrm>
          <a:prstGeom prst="rect">
            <a:avLst/>
          </a:prstGeom>
        </p:spPr>
      </p:pic>
      <p:sp>
        <p:nvSpPr>
          <p:cNvPr id="40" name="a9|texte"/>
          <p:cNvSpPr txBox="1"/>
          <p:nvPr/>
        </p:nvSpPr>
        <p:spPr>
          <a:xfrm>
            <a:off x="9171432" y="4663440"/>
            <a:ext cx="2331720" cy="914400"/>
          </a:xfrm>
          <a:prstGeom prst="rect">
            <a:avLst/>
          </a:prstGeom>
          <a:noFill/>
          <a:ln/>
        </p:spPr>
        <p:txBody>
          <a:bodyPr wrap="square" lIns="0" tIns="0" rIns="0" bIns="0" rtlCol="0" anchor="ctr"/>
          <a:lstStyle/>
          <a:p>
            <a:pPr indent="0" marL="0">
              <a:buNone/>
            </a:pPr>
            <a:r>
              <a:rPr lang="en-US" sz="1400" dirty="0">
                <a:solidFill>
                  <a:schemeClr val="bg1"/>
                </a:solidFill>
              </a:rPr>
              <a:t>MFA sur la messagerie de la comptabilité</a:t>
            </a:r>
            <a:endParaRPr lang="en-US" sz="1400" dirty="0"/>
          </a:p>
        </p:txBody>
      </p:sp>
      <p:sp>
        <p:nvSpPr>
          <p:cNvPr id="41" name="Text 31"/>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accent3"/>
                </a:solidFill>
              </a:rPr>
              <a:t>Scénario illustratif, inspiré de cas fréquents en PME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7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nodeType="withEffect">
                                  <p:stCondLst>
                                    <p:cond delay="75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7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7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75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10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10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10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10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10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125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125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150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nodeType="withEffect">
                                  <p:stCondLst>
                                    <p:cond delay="150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15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175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nodeType="withEffect">
                                  <p:stCondLst>
                                    <p:cond delay="175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175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par>
                                <p:cTn id="107" presetID="10" presetClass="entr" presetSubtype="0" fill="hold" grpId="0" nodeType="withEffect">
                                  <p:stCondLst>
                                    <p:cond delay="200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50"/>
                                        <p:tgtEl>
                                          <p:spTgt spid="38"/>
                                        </p:tgtEl>
                                      </p:cBhvr>
                                    </p:animEffect>
                                  </p:childTnLst>
                                </p:cTn>
                              </p:par>
                              <p:par>
                                <p:cTn id="110" presetID="10" presetClass="entr" presetSubtype="0" fill="hold" nodeType="withEffect">
                                  <p:stCondLst>
                                    <p:cond delay="200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50"/>
                                        <p:tgtEl>
                                          <p:spTgt spid="39"/>
                                        </p:tgtEl>
                                      </p:cBhvr>
                                    </p:animEffect>
                                  </p:childTnLst>
                                </p:cTn>
                              </p:par>
                              <p:par>
                                <p:cTn id="113" presetID="10" presetClass="entr" presetSubtype="0" fill="hold" grpId="0" nodeType="withEffect">
                                  <p:stCondLst>
                                    <p:cond delay="200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4" grpId="0" animBg="1"/>
      <p:bldP spid="35" grpId="0" animBg="1"/>
      <p:bldP spid="37" grpId="0" animBg="1"/>
      <p:bldP spid="38" grpId="0" animBg="1"/>
      <p:bldP spid="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02 · RECONNAÎTRE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À vous de jouer : piégé ou légitime ?</a:t>
            </a:r>
            <a:endParaRPr lang="en-US" sz="3600" dirty="0"/>
          </a:p>
        </p:txBody>
      </p:sp>
      <p:sp>
        <p:nvSpPr>
          <p:cNvPr id="4" name="a1|carte"/>
          <p:cNvSpPr/>
          <p:nvPr/>
        </p:nvSpPr>
        <p:spPr>
          <a:xfrm>
            <a:off x="548640" y="1645920"/>
            <a:ext cx="3547872" cy="3886200"/>
          </a:xfrm>
          <a:prstGeom prst="roundRect">
            <a:avLst>
              <a:gd name="adj" fmla="val 2577"/>
            </a:avLst>
          </a:prstGeom>
          <a:solidFill>
            <a:schemeClr val="bg1"/>
          </a:solidFill>
          <a:ln/>
          <a:effectLst>
            <a:outerShdw sx="100000" sy="100000" kx="0" ky="0" algn="bl" rotWithShape="0" blurRad="114300" dist="25400" dir="5400000">
              <a:srgbClr val="0E2235">
                <a:alpha val="12000"/>
              </a:srgbClr>
            </a:outerShdw>
          </a:effectLst>
        </p:spPr>
      </p:sp>
      <p:sp>
        <p:nvSpPr>
          <p:cNvPr id="5" name="a1|icône"/>
          <p:cNvSpPr/>
          <p:nvPr/>
        </p:nvSpPr>
        <p:spPr>
          <a:xfrm>
            <a:off x="822960" y="1874520"/>
            <a:ext cx="502920" cy="502920"/>
          </a:xfrm>
          <a:prstGeom prst="ellipse">
            <a:avLst/>
          </a:prstGeom>
          <a:solidFill>
            <a:schemeClr val="tx2"/>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8690" y="2000250"/>
            <a:ext cx="251460" cy="251460"/>
          </a:xfrm>
          <a:prstGeom prst="rect">
            <a:avLst/>
          </a:prstGeom>
        </p:spPr>
      </p:pic>
      <p:sp>
        <p:nvSpPr>
          <p:cNvPr id="7" name="a1|titre"/>
          <p:cNvSpPr txBox="1"/>
          <p:nvPr/>
        </p:nvSpPr>
        <p:spPr>
          <a:xfrm>
            <a:off x="1463040" y="1874520"/>
            <a:ext cx="2286000" cy="502920"/>
          </a:xfrm>
          <a:prstGeom prst="rect">
            <a:avLst/>
          </a:prstGeom>
          <a:noFill/>
          <a:ln/>
        </p:spPr>
        <p:txBody>
          <a:bodyPr wrap="square" lIns="0" tIns="0" rIns="0" bIns="0" rtlCol="0" anchor="ctr"/>
          <a:lstStyle/>
          <a:p>
            <a:pPr indent="0" marL="0">
              <a:buNone/>
            </a:pPr>
            <a:r>
              <a:rPr lang="en-US" sz="1900" b="1" dirty="0">
                <a:solidFill>
                  <a:schemeClr val="tx2"/>
                </a:solidFill>
              </a:rPr>
              <a:t>E-mail 1</a:t>
            </a:r>
            <a:endParaRPr lang="en-US" sz="1900" dirty="0"/>
          </a:p>
        </p:txBody>
      </p:sp>
      <p:sp>
        <p:nvSpPr>
          <p:cNvPr id="8" name="a1|entête"/>
          <p:cNvSpPr txBox="1"/>
          <p:nvPr/>
        </p:nvSpPr>
        <p:spPr>
          <a:xfrm>
            <a:off x="822960" y="2606040"/>
            <a:ext cx="3017520" cy="11430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De : </a:t>
            </a:r>
            <a:pPr indent="0" marL="0">
              <a:spcAft>
                <a:spcPts val="600"/>
              </a:spcAft>
              <a:buNone/>
            </a:pPr>
            <a:r>
              <a:rPr lang="en-US" sz="1400" dirty="0">
                <a:solidFill>
                  <a:schemeClr val="tx1"/>
                </a:solidFill>
              </a:rPr>
              <a:t>impots-gouv@secure-remboursement.info</a:t>
            </a:r>
            <a:endParaRPr lang="en-US" sz="1400" dirty="0"/>
          </a:p>
          <a:p>
            <a:pPr indent="0" marL="0">
              <a:spcAft>
                <a:spcPts val="600"/>
              </a:spcAft>
              <a:buNone/>
            </a:pPr>
            <a:r>
              <a:rPr lang="en-US" sz="1400" b="1" dirty="0">
                <a:solidFill>
                  <a:schemeClr val="tx1"/>
                </a:solidFill>
              </a:rPr>
              <a:t>Objet : </a:t>
            </a:r>
            <a:pPr indent="0" marL="0">
              <a:spcAft>
                <a:spcPts val="600"/>
              </a:spcAft>
              <a:buNone/>
            </a:pPr>
            <a:r>
              <a:rPr lang="en-US" sz="1400" dirty="0">
                <a:solidFill>
                  <a:schemeClr val="tx1"/>
                </a:solidFill>
              </a:rPr>
              <a:t>Remboursement de 312,40 € en attente</a:t>
            </a:r>
            <a:endParaRPr lang="en-US" sz="1400" dirty="0"/>
          </a:p>
        </p:txBody>
      </p:sp>
      <p:sp>
        <p:nvSpPr>
          <p:cNvPr id="9" name="a1|corps"/>
          <p:cNvSpPr txBox="1"/>
          <p:nvPr/>
        </p:nvSpPr>
        <p:spPr>
          <a:xfrm>
            <a:off x="822960" y="3794760"/>
            <a:ext cx="3017520" cy="914400"/>
          </a:xfrm>
          <a:prstGeom prst="rect">
            <a:avLst/>
          </a:prstGeom>
          <a:noFill/>
          <a:ln/>
        </p:spPr>
        <p:txBody>
          <a:bodyPr wrap="square" lIns="0" tIns="0" rIns="0" bIns="0" rtlCol="0" anchor="t"/>
          <a:lstStyle/>
          <a:p>
            <a:pPr indent="0" marL="0">
              <a:buNone/>
            </a:pPr>
            <a:r>
              <a:rPr lang="en-US" sz="1400" i="1" dirty="0">
                <a:solidFill>
                  <a:schemeClr val="accent3"/>
                </a:solidFill>
              </a:rPr>
              <a:t>« Cliquez sous 24 h pour le recevoir sur votre compte. »</a:t>
            </a:r>
            <a:endParaRPr lang="en-US" sz="1400" dirty="0"/>
          </a:p>
        </p:txBody>
      </p:sp>
      <p:sp>
        <p:nvSpPr>
          <p:cNvPr id="10" name="a1|question"/>
          <p:cNvSpPr/>
          <p:nvPr/>
        </p:nvSpPr>
        <p:spPr>
          <a:xfrm>
            <a:off x="822960" y="4892040"/>
            <a:ext cx="2999232" cy="438912"/>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tx2"/>
                </a:solidFill>
              </a:rPr>
              <a:t>Piégé ou légitime ?</a:t>
            </a:r>
            <a:endParaRPr lang="en-US" sz="1500" dirty="0"/>
          </a:p>
        </p:txBody>
      </p:sp>
      <p:sp>
        <p:nvSpPr>
          <p:cNvPr id="11" name="a2|carte"/>
          <p:cNvSpPr/>
          <p:nvPr/>
        </p:nvSpPr>
        <p:spPr>
          <a:xfrm>
            <a:off x="4321454" y="1645920"/>
            <a:ext cx="3547872" cy="3886200"/>
          </a:xfrm>
          <a:prstGeom prst="roundRect">
            <a:avLst>
              <a:gd name="adj" fmla="val 2577"/>
            </a:avLst>
          </a:prstGeom>
          <a:solidFill>
            <a:schemeClr val="bg1"/>
          </a:solidFill>
          <a:ln/>
          <a:effectLst>
            <a:outerShdw sx="100000" sy="100000" kx="0" ky="0" algn="bl" rotWithShape="0" blurRad="114300" dist="25400" dir="5400000">
              <a:srgbClr val="0E2235">
                <a:alpha val="12000"/>
              </a:srgbClr>
            </a:outerShdw>
          </a:effectLst>
        </p:spPr>
      </p:sp>
      <p:sp>
        <p:nvSpPr>
          <p:cNvPr id="12" name="a2|icône"/>
          <p:cNvSpPr/>
          <p:nvPr/>
        </p:nvSpPr>
        <p:spPr>
          <a:xfrm>
            <a:off x="4595774" y="1874520"/>
            <a:ext cx="502920" cy="502920"/>
          </a:xfrm>
          <a:prstGeom prst="ellipse">
            <a:avLst/>
          </a:prstGeom>
          <a:solidFill>
            <a:schemeClr val="tx2"/>
          </a:solidFill>
          <a:ln/>
        </p:spPr>
      </p:sp>
      <p:pic>
        <p:nvPicPr>
          <p:cNvPr id="13"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21504" y="2000250"/>
            <a:ext cx="251460" cy="251460"/>
          </a:xfrm>
          <a:prstGeom prst="rect">
            <a:avLst/>
          </a:prstGeom>
        </p:spPr>
      </p:pic>
      <p:sp>
        <p:nvSpPr>
          <p:cNvPr id="14" name="a2|titre"/>
          <p:cNvSpPr txBox="1"/>
          <p:nvPr/>
        </p:nvSpPr>
        <p:spPr>
          <a:xfrm>
            <a:off x="5235854" y="1874520"/>
            <a:ext cx="2286000" cy="502920"/>
          </a:xfrm>
          <a:prstGeom prst="rect">
            <a:avLst/>
          </a:prstGeom>
          <a:noFill/>
          <a:ln/>
        </p:spPr>
        <p:txBody>
          <a:bodyPr wrap="square" lIns="0" tIns="0" rIns="0" bIns="0" rtlCol="0" anchor="ctr"/>
          <a:lstStyle/>
          <a:p>
            <a:pPr indent="0" marL="0">
              <a:buNone/>
            </a:pPr>
            <a:r>
              <a:rPr lang="en-US" sz="1900" b="1" dirty="0">
                <a:solidFill>
                  <a:schemeClr val="tx2"/>
                </a:solidFill>
              </a:rPr>
              <a:t>E-mail 2</a:t>
            </a:r>
            <a:endParaRPr lang="en-US" sz="1900" dirty="0"/>
          </a:p>
        </p:txBody>
      </p:sp>
      <p:sp>
        <p:nvSpPr>
          <p:cNvPr id="15" name="a2|entête"/>
          <p:cNvSpPr txBox="1"/>
          <p:nvPr/>
        </p:nvSpPr>
        <p:spPr>
          <a:xfrm>
            <a:off x="4595774" y="2606040"/>
            <a:ext cx="3017520" cy="11430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De : </a:t>
            </a:r>
            <a:pPr indent="0" marL="0">
              <a:spcAft>
                <a:spcPts val="600"/>
              </a:spcAft>
              <a:buNone/>
            </a:pPr>
            <a:r>
              <a:rPr lang="en-US" sz="1400" dirty="0">
                <a:solidFill>
                  <a:schemeClr val="tx1"/>
                </a:solidFill>
              </a:rPr>
              <a:t>Marie Durand &lt;marie.durand@votre-entreprise.fr&gt;</a:t>
            </a:r>
            <a:endParaRPr lang="en-US" sz="1400" dirty="0"/>
          </a:p>
          <a:p>
            <a:pPr indent="0" marL="0">
              <a:spcAft>
                <a:spcPts val="600"/>
              </a:spcAft>
              <a:buNone/>
            </a:pPr>
            <a:r>
              <a:rPr lang="en-US" sz="1400" b="1" dirty="0">
                <a:solidFill>
                  <a:schemeClr val="tx1"/>
                </a:solidFill>
              </a:rPr>
              <a:t>Objet : </a:t>
            </a:r>
            <a:pPr indent="0" marL="0">
              <a:spcAft>
                <a:spcPts val="600"/>
              </a:spcAft>
              <a:buNone/>
            </a:pPr>
            <a:r>
              <a:rPr lang="en-US" sz="1400" dirty="0">
                <a:solidFill>
                  <a:schemeClr val="tx1"/>
                </a:solidFill>
              </a:rPr>
              <a:t>Réunion jeudi 14 h : ordre du jour</a:t>
            </a:r>
            <a:endParaRPr lang="en-US" sz="1400" dirty="0"/>
          </a:p>
        </p:txBody>
      </p:sp>
      <p:sp>
        <p:nvSpPr>
          <p:cNvPr id="16" name="a2|corps"/>
          <p:cNvSpPr txBox="1"/>
          <p:nvPr/>
        </p:nvSpPr>
        <p:spPr>
          <a:xfrm>
            <a:off x="4595774" y="3794760"/>
            <a:ext cx="3017520" cy="914400"/>
          </a:xfrm>
          <a:prstGeom prst="rect">
            <a:avLst/>
          </a:prstGeom>
          <a:noFill/>
          <a:ln/>
        </p:spPr>
        <p:txBody>
          <a:bodyPr wrap="square" lIns="0" tIns="0" rIns="0" bIns="0" rtlCol="0" anchor="t"/>
          <a:lstStyle/>
          <a:p>
            <a:pPr indent="0" marL="0">
              <a:buNone/>
            </a:pPr>
            <a:r>
              <a:rPr lang="en-US" sz="1400" i="1" dirty="0">
                <a:solidFill>
                  <a:schemeClr val="accent3"/>
                </a:solidFill>
              </a:rPr>
              <a:t>« L'ordre du jour est en pièce jointe (PDF). »</a:t>
            </a:r>
            <a:endParaRPr lang="en-US" sz="1400" dirty="0"/>
          </a:p>
        </p:txBody>
      </p:sp>
      <p:sp>
        <p:nvSpPr>
          <p:cNvPr id="17" name="a2|question"/>
          <p:cNvSpPr/>
          <p:nvPr/>
        </p:nvSpPr>
        <p:spPr>
          <a:xfrm>
            <a:off x="4595774" y="4892040"/>
            <a:ext cx="2999232" cy="438912"/>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tx2"/>
                </a:solidFill>
              </a:rPr>
              <a:t>Piégé ou légitime ?</a:t>
            </a:r>
            <a:endParaRPr lang="en-US" sz="1500" dirty="0"/>
          </a:p>
        </p:txBody>
      </p:sp>
      <p:sp>
        <p:nvSpPr>
          <p:cNvPr id="18" name="a3|carte"/>
          <p:cNvSpPr/>
          <p:nvPr/>
        </p:nvSpPr>
        <p:spPr>
          <a:xfrm>
            <a:off x="8094269" y="1645920"/>
            <a:ext cx="3547872" cy="3886200"/>
          </a:xfrm>
          <a:prstGeom prst="roundRect">
            <a:avLst>
              <a:gd name="adj" fmla="val 2577"/>
            </a:avLst>
          </a:prstGeom>
          <a:solidFill>
            <a:schemeClr val="bg1"/>
          </a:solidFill>
          <a:ln/>
          <a:effectLst>
            <a:outerShdw sx="100000" sy="100000" kx="0" ky="0" algn="bl" rotWithShape="0" blurRad="114300" dist="25400" dir="5400000">
              <a:srgbClr val="0E2235">
                <a:alpha val="12000"/>
              </a:srgbClr>
            </a:outerShdw>
          </a:effectLst>
        </p:spPr>
      </p:sp>
      <p:sp>
        <p:nvSpPr>
          <p:cNvPr id="19" name="a3|icône"/>
          <p:cNvSpPr/>
          <p:nvPr/>
        </p:nvSpPr>
        <p:spPr>
          <a:xfrm>
            <a:off x="8368589" y="1874520"/>
            <a:ext cx="502920" cy="502920"/>
          </a:xfrm>
          <a:prstGeom prst="ellipse">
            <a:avLst/>
          </a:prstGeom>
          <a:solidFill>
            <a:schemeClr val="tx2"/>
          </a:solidFill>
          <a:ln/>
        </p:spPr>
      </p:sp>
      <p:pic>
        <p:nvPicPr>
          <p:cNvPr id="20"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94319" y="2000250"/>
            <a:ext cx="251460" cy="251460"/>
          </a:xfrm>
          <a:prstGeom prst="rect">
            <a:avLst/>
          </a:prstGeom>
        </p:spPr>
      </p:pic>
      <p:sp>
        <p:nvSpPr>
          <p:cNvPr id="21" name="a3|titre"/>
          <p:cNvSpPr txBox="1"/>
          <p:nvPr/>
        </p:nvSpPr>
        <p:spPr>
          <a:xfrm>
            <a:off x="9008669" y="1874520"/>
            <a:ext cx="2286000" cy="502920"/>
          </a:xfrm>
          <a:prstGeom prst="rect">
            <a:avLst/>
          </a:prstGeom>
          <a:noFill/>
          <a:ln/>
        </p:spPr>
        <p:txBody>
          <a:bodyPr wrap="square" lIns="0" tIns="0" rIns="0" bIns="0" rtlCol="0" anchor="ctr"/>
          <a:lstStyle/>
          <a:p>
            <a:pPr indent="0" marL="0">
              <a:buNone/>
            </a:pPr>
            <a:r>
              <a:rPr lang="en-US" sz="1900" b="1" dirty="0">
                <a:solidFill>
                  <a:schemeClr val="tx2"/>
                </a:solidFill>
              </a:rPr>
              <a:t>E-mail 3</a:t>
            </a:r>
            <a:endParaRPr lang="en-US" sz="1900" dirty="0"/>
          </a:p>
        </p:txBody>
      </p:sp>
      <p:sp>
        <p:nvSpPr>
          <p:cNvPr id="22" name="a3|entête"/>
          <p:cNvSpPr txBox="1"/>
          <p:nvPr/>
        </p:nvSpPr>
        <p:spPr>
          <a:xfrm>
            <a:off x="8368589" y="2606040"/>
            <a:ext cx="3017520" cy="11430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De : </a:t>
            </a:r>
            <a:pPr indent="0" marL="0">
              <a:spcAft>
                <a:spcPts val="600"/>
              </a:spcAft>
              <a:buNone/>
            </a:pPr>
            <a:r>
              <a:rPr lang="en-US" sz="1400" dirty="0">
                <a:solidFill>
                  <a:schemeClr val="tx1"/>
                </a:solidFill>
              </a:rPr>
              <a:t>Direction &lt;dirigeant.pro@outlook.com&gt;</a:t>
            </a:r>
            <a:endParaRPr lang="en-US" sz="1400" dirty="0"/>
          </a:p>
          <a:p>
            <a:pPr indent="0" marL="0">
              <a:spcAft>
                <a:spcPts val="600"/>
              </a:spcAft>
              <a:buNone/>
            </a:pPr>
            <a:r>
              <a:rPr lang="en-US" sz="1400" b="1" dirty="0">
                <a:solidFill>
                  <a:schemeClr val="tx1"/>
                </a:solidFill>
              </a:rPr>
              <a:t>Objet : </a:t>
            </a:r>
            <a:pPr indent="0" marL="0">
              <a:spcAft>
                <a:spcPts val="600"/>
              </a:spcAft>
              <a:buNone/>
            </a:pPr>
            <a:r>
              <a:rPr lang="en-US" sz="1400" dirty="0">
                <a:solidFill>
                  <a:schemeClr val="tx1"/>
                </a:solidFill>
              </a:rPr>
              <a:t>Urgent et confidentiel</a:t>
            </a:r>
            <a:endParaRPr lang="en-US" sz="1400" dirty="0"/>
          </a:p>
        </p:txBody>
      </p:sp>
      <p:sp>
        <p:nvSpPr>
          <p:cNvPr id="23" name="a3|corps"/>
          <p:cNvSpPr txBox="1"/>
          <p:nvPr/>
        </p:nvSpPr>
        <p:spPr>
          <a:xfrm>
            <a:off x="8368589" y="3794760"/>
            <a:ext cx="3017520" cy="914400"/>
          </a:xfrm>
          <a:prstGeom prst="rect">
            <a:avLst/>
          </a:prstGeom>
          <a:noFill/>
          <a:ln/>
        </p:spPr>
        <p:txBody>
          <a:bodyPr wrap="square" lIns="0" tIns="0" rIns="0" bIns="0" rtlCol="0" anchor="t"/>
          <a:lstStyle/>
          <a:p>
            <a:pPr indent="0" marL="0">
              <a:buNone/>
            </a:pPr>
            <a:r>
              <a:rPr lang="en-US" sz="1400" i="1" dirty="0">
                <a:solidFill>
                  <a:schemeClr val="accent3"/>
                </a:solidFill>
              </a:rPr>
              <a:t>« Virement de 18 500 € à faire aujourd'hui. Je suis en rendez-vous, ne m'appelez pas. »</a:t>
            </a:r>
            <a:endParaRPr lang="en-US" sz="1400" dirty="0"/>
          </a:p>
        </p:txBody>
      </p:sp>
      <p:sp>
        <p:nvSpPr>
          <p:cNvPr id="24" name="a3|question"/>
          <p:cNvSpPr/>
          <p:nvPr/>
        </p:nvSpPr>
        <p:spPr>
          <a:xfrm>
            <a:off x="8368589" y="4892040"/>
            <a:ext cx="2999232" cy="438912"/>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tx2"/>
                </a:solidFill>
              </a:rPr>
              <a:t>Piégé ou légitime ?</a:t>
            </a:r>
            <a:endParaRPr lang="en-US" sz="1500" dirty="0"/>
          </a:p>
        </p:txBody>
      </p:sp>
      <p:sp>
        <p:nvSpPr>
          <p:cNvPr id="25" name="a4|indice"/>
          <p:cNvSpPr txBox="1"/>
          <p:nvPr/>
        </p:nvSpPr>
        <p:spPr>
          <a:xfrm>
            <a:off x="548640" y="5669280"/>
            <a:ext cx="11094415" cy="320040"/>
          </a:xfrm>
          <a:prstGeom prst="rect">
            <a:avLst/>
          </a:prstGeom>
          <a:noFill/>
          <a:ln/>
        </p:spPr>
        <p:txBody>
          <a:bodyPr wrap="square" lIns="0" tIns="0" rIns="0" bIns="0" rtlCol="0" anchor="t"/>
          <a:lstStyle/>
          <a:p>
            <a:pPr indent="0" marL="0">
              <a:buNone/>
            </a:pPr>
            <a:r>
              <a:rPr lang="en-US" sz="1500" b="1" dirty="0">
                <a:solidFill>
                  <a:schemeClr val="tx2"/>
                </a:solidFill>
              </a:rPr>
              <a:t>Indices à chercher : le domaine de l'expéditeur, l'urgence, le contexte attendu ou non.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5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75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02 · RECONNAÎTRE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Les réponses</a:t>
            </a:r>
            <a:endParaRPr lang="en-US" sz="3600" dirty="0"/>
          </a:p>
        </p:txBody>
      </p:sp>
      <p:sp>
        <p:nvSpPr>
          <p:cNvPr id="4" name="a1|carte"/>
          <p:cNvSpPr/>
          <p:nvPr/>
        </p:nvSpPr>
        <p:spPr>
          <a:xfrm>
            <a:off x="548640" y="1645920"/>
            <a:ext cx="3547872" cy="3794760"/>
          </a:xfrm>
          <a:prstGeom prst="roundRect">
            <a:avLst>
              <a:gd name="adj" fmla="val 2577"/>
            </a:avLst>
          </a:prstGeom>
          <a:solidFill>
            <a:schemeClr val="bg1"/>
          </a:solidFill>
          <a:ln/>
          <a:effectLst>
            <a:outerShdw sx="100000" sy="100000" kx="0" ky="0" algn="bl" rotWithShape="0" blurRad="114300" dist="25400" dir="5400000">
              <a:srgbClr val="0E2235">
                <a:alpha val="12000"/>
              </a:srgbClr>
            </a:outerShdw>
          </a:effectLst>
        </p:spPr>
      </p:sp>
      <p:sp>
        <p:nvSpPr>
          <p:cNvPr id="5" name="a1|titre"/>
          <p:cNvSpPr txBox="1"/>
          <p:nvPr/>
        </p:nvSpPr>
        <p:spPr>
          <a:xfrm>
            <a:off x="822960" y="1828800"/>
            <a:ext cx="3017520" cy="365760"/>
          </a:xfrm>
          <a:prstGeom prst="rect">
            <a:avLst/>
          </a:prstGeom>
          <a:noFill/>
          <a:ln/>
        </p:spPr>
        <p:txBody>
          <a:bodyPr wrap="square" lIns="0" tIns="0" rIns="0" bIns="0" rtlCol="0" anchor="t"/>
          <a:lstStyle/>
          <a:p>
            <a:pPr indent="0" marL="0">
              <a:buNone/>
            </a:pPr>
            <a:r>
              <a:rPr lang="en-US" sz="1900" b="1" dirty="0">
                <a:solidFill>
                  <a:schemeClr val="tx2"/>
                </a:solidFill>
              </a:rPr>
              <a:t>E-mail 1</a:t>
            </a:r>
            <a:endParaRPr lang="en-US" sz="1900" dirty="0"/>
          </a:p>
        </p:txBody>
      </p:sp>
      <p:sp>
        <p:nvSpPr>
          <p:cNvPr id="6" name="a1|verdict"/>
          <p:cNvSpPr/>
          <p:nvPr/>
        </p:nvSpPr>
        <p:spPr>
          <a:xfrm>
            <a:off x="822960" y="2286000"/>
            <a:ext cx="2999232" cy="502920"/>
          </a:xfrm>
          <a:prstGeom prst="roundRect">
            <a:avLst>
              <a:gd name="adj" fmla="val 50000"/>
            </a:avLst>
          </a:prstGeom>
          <a:solidFill>
            <a:schemeClr val="accent5"/>
          </a:solidFill>
          <a:ln/>
        </p:spPr>
        <p:txBody>
          <a:bodyPr wrap="square" lIns="0" tIns="0" rIns="0" bIns="0" rtlCol="0" anchor="ctr"/>
          <a:lstStyle/>
          <a:p>
            <a:pPr algn="ctr" indent="0" marL="0">
              <a:buNone/>
            </a:pPr>
            <a:r>
              <a:rPr lang="en-US" sz="1700" b="1" dirty="0">
                <a:solidFill>
                  <a:schemeClr val="bg1"/>
                </a:solidFill>
              </a:rPr>
              <a:t>PIÉGÉ</a:t>
            </a:r>
            <a:endParaRPr lang="en-US" sz="1700" dirty="0"/>
          </a:p>
        </p:txBody>
      </p:sp>
      <p:sp>
        <p:nvSpPr>
          <p:cNvPr id="7" name="a1|points"/>
          <p:cNvSpPr txBox="1"/>
          <p:nvPr/>
        </p:nvSpPr>
        <p:spPr>
          <a:xfrm>
            <a:off x="822960" y="3017520"/>
            <a:ext cx="30175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Domaine non officiel : le vrai est impots.gouv.fr</a:t>
            </a:r>
            <a:endParaRPr lang="en-US" sz="1500" dirty="0"/>
          </a:p>
          <a:p>
            <a:pPr marL="342900" indent="-342900">
              <a:spcAft>
                <a:spcPts val="800"/>
              </a:spcAft>
              <a:buSzPct val="100000"/>
              <a:buChar char="•"/>
            </a:pPr>
            <a:r>
              <a:rPr lang="en-US" sz="1500" dirty="0">
                <a:solidFill>
                  <a:schemeClr val="tx1"/>
                </a:solidFill>
              </a:rPr>
              <a:t>Promesse d'argent</a:t>
            </a:r>
            <a:endParaRPr lang="en-US" sz="1500" dirty="0"/>
          </a:p>
          <a:p>
            <a:pPr marL="342900" indent="-342900">
              <a:spcAft>
                <a:spcPts val="800"/>
              </a:spcAft>
              <a:buSzPct val="100000"/>
              <a:buChar char="•"/>
            </a:pPr>
            <a:r>
              <a:rPr lang="en-US" sz="1500" dirty="0">
                <a:solidFill>
                  <a:schemeClr val="tx1"/>
                </a:solidFill>
              </a:rPr>
              <a:t>Délai de 24 h pour vous presser</a:t>
            </a:r>
            <a:endParaRPr lang="en-US" sz="1500" dirty="0"/>
          </a:p>
        </p:txBody>
      </p:sp>
      <p:sp>
        <p:nvSpPr>
          <p:cNvPr id="8" name="a1|réflexe"/>
          <p:cNvSpPr/>
          <p:nvPr/>
        </p:nvSpPr>
        <p:spPr>
          <a:xfrm>
            <a:off x="731520" y="4434840"/>
            <a:ext cx="3182112" cy="841248"/>
          </a:xfrm>
          <a:prstGeom prst="roundRect">
            <a:avLst>
              <a:gd name="adj" fmla="val 8696"/>
            </a:avLst>
          </a:prstGeom>
          <a:solidFill>
            <a:schemeClr val="accent2">
              <a:alpha val="12000"/>
            </a:schemeClr>
          </a:solidFill>
          <a:ln/>
        </p:spPr>
      </p:sp>
      <p:sp>
        <p:nvSpPr>
          <p:cNvPr id="9" name="a1|réflexe"/>
          <p:cNvSpPr txBox="1"/>
          <p:nvPr/>
        </p:nvSpPr>
        <p:spPr>
          <a:xfrm>
            <a:off x="868680" y="4434840"/>
            <a:ext cx="2926080" cy="841248"/>
          </a:xfrm>
          <a:prstGeom prst="rect">
            <a:avLst/>
          </a:prstGeom>
          <a:noFill/>
          <a:ln/>
        </p:spPr>
        <p:txBody>
          <a:bodyPr wrap="square" lIns="0" tIns="0" rIns="0" bIns="0" rtlCol="0" anchor="ctr"/>
          <a:lstStyle/>
          <a:p>
            <a:pPr indent="0" marL="0">
              <a:buNone/>
            </a:pPr>
            <a:r>
              <a:rPr lang="en-US" sz="1400" b="1" dirty="0">
                <a:solidFill>
                  <a:schemeClr val="accent2"/>
                </a:solidFill>
              </a:rPr>
              <a:t>Le bon réflexe : </a:t>
            </a:r>
            <a:pPr indent="0" marL="0">
              <a:buNone/>
            </a:pPr>
            <a:r>
              <a:rPr lang="en-US" sz="1400" dirty="0">
                <a:solidFill>
                  <a:schemeClr val="tx1"/>
                </a:solidFill>
              </a:rPr>
              <a:t>Aller soi-même sur impots.gouv.fr, sans passer par le lien.</a:t>
            </a:r>
            <a:endParaRPr lang="en-US" sz="1400" dirty="0"/>
          </a:p>
        </p:txBody>
      </p:sp>
      <p:sp>
        <p:nvSpPr>
          <p:cNvPr id="10" name="a2|carte"/>
          <p:cNvSpPr/>
          <p:nvPr/>
        </p:nvSpPr>
        <p:spPr>
          <a:xfrm>
            <a:off x="4321454" y="1645920"/>
            <a:ext cx="3547872" cy="3794760"/>
          </a:xfrm>
          <a:prstGeom prst="roundRect">
            <a:avLst>
              <a:gd name="adj" fmla="val 2577"/>
            </a:avLst>
          </a:prstGeom>
          <a:solidFill>
            <a:schemeClr val="bg1"/>
          </a:solidFill>
          <a:ln/>
          <a:effectLst>
            <a:outerShdw sx="100000" sy="100000" kx="0" ky="0" algn="bl" rotWithShape="0" blurRad="114300" dist="25400" dir="5400000">
              <a:srgbClr val="0E2235">
                <a:alpha val="12000"/>
              </a:srgbClr>
            </a:outerShdw>
          </a:effectLst>
        </p:spPr>
      </p:sp>
      <p:sp>
        <p:nvSpPr>
          <p:cNvPr id="11" name="a2|titre"/>
          <p:cNvSpPr txBox="1"/>
          <p:nvPr/>
        </p:nvSpPr>
        <p:spPr>
          <a:xfrm>
            <a:off x="4595774" y="1828800"/>
            <a:ext cx="3017520" cy="365760"/>
          </a:xfrm>
          <a:prstGeom prst="rect">
            <a:avLst/>
          </a:prstGeom>
          <a:noFill/>
          <a:ln/>
        </p:spPr>
        <p:txBody>
          <a:bodyPr wrap="square" lIns="0" tIns="0" rIns="0" bIns="0" rtlCol="0" anchor="t"/>
          <a:lstStyle/>
          <a:p>
            <a:pPr indent="0" marL="0">
              <a:buNone/>
            </a:pPr>
            <a:r>
              <a:rPr lang="en-US" sz="1900" b="1" dirty="0">
                <a:solidFill>
                  <a:schemeClr val="tx2"/>
                </a:solidFill>
              </a:rPr>
              <a:t>E-mail 2</a:t>
            </a:r>
            <a:endParaRPr lang="en-US" sz="1900" dirty="0"/>
          </a:p>
        </p:txBody>
      </p:sp>
      <p:sp>
        <p:nvSpPr>
          <p:cNvPr id="12" name="a2|verdict"/>
          <p:cNvSpPr/>
          <p:nvPr/>
        </p:nvSpPr>
        <p:spPr>
          <a:xfrm>
            <a:off x="4595774" y="2286000"/>
            <a:ext cx="2999232" cy="502920"/>
          </a:xfrm>
          <a:prstGeom prst="roundRect">
            <a:avLst>
              <a:gd name="adj" fmla="val 50000"/>
            </a:avLst>
          </a:prstGeom>
          <a:solidFill>
            <a:schemeClr val="accent6"/>
          </a:solidFill>
          <a:ln/>
        </p:spPr>
        <p:txBody>
          <a:bodyPr wrap="square" lIns="0" tIns="0" rIns="0" bIns="0" rtlCol="0" anchor="ctr"/>
          <a:lstStyle/>
          <a:p>
            <a:pPr algn="ctr" indent="0" marL="0">
              <a:buNone/>
            </a:pPr>
            <a:r>
              <a:rPr lang="en-US" sz="1700" b="1" dirty="0">
                <a:solidFill>
                  <a:schemeClr val="bg1"/>
                </a:solidFill>
              </a:rPr>
              <a:t>LÉGITIME, a priori</a:t>
            </a:r>
            <a:endParaRPr lang="en-US" sz="1700" dirty="0"/>
          </a:p>
        </p:txBody>
      </p:sp>
      <p:sp>
        <p:nvSpPr>
          <p:cNvPr id="13" name="a2|points"/>
          <p:cNvSpPr txBox="1"/>
          <p:nvPr/>
        </p:nvSpPr>
        <p:spPr>
          <a:xfrm>
            <a:off x="4595774" y="3017520"/>
            <a:ext cx="30175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Collègue connu, domaine de l'entreprise</a:t>
            </a:r>
            <a:endParaRPr lang="en-US" sz="1500" dirty="0"/>
          </a:p>
          <a:p>
            <a:pPr marL="342900" indent="-342900">
              <a:spcAft>
                <a:spcPts val="800"/>
              </a:spcAft>
              <a:buSzPct val="100000"/>
              <a:buChar char="•"/>
            </a:pPr>
            <a:r>
              <a:rPr lang="en-US" sz="1500" dirty="0">
                <a:solidFill>
                  <a:schemeClr val="tx1"/>
                </a:solidFill>
              </a:rPr>
              <a:t>Réunion attendue, pièce jointe cohérente</a:t>
            </a:r>
            <a:endParaRPr lang="en-US" sz="1500" dirty="0"/>
          </a:p>
          <a:p>
            <a:pPr marL="342900" indent="-342900">
              <a:spcAft>
                <a:spcPts val="800"/>
              </a:spcAft>
              <a:buSzPct val="100000"/>
              <a:buChar char="•"/>
            </a:pPr>
            <a:r>
              <a:rPr lang="en-US" sz="1500" dirty="0">
                <a:solidFill>
                  <a:schemeClr val="tx1"/>
                </a:solidFill>
              </a:rPr>
              <a:t>Un doute ? Un appel suffit</a:t>
            </a:r>
            <a:endParaRPr lang="en-US" sz="1500" dirty="0"/>
          </a:p>
        </p:txBody>
      </p:sp>
      <p:sp>
        <p:nvSpPr>
          <p:cNvPr id="14" name="a2|réflexe"/>
          <p:cNvSpPr/>
          <p:nvPr/>
        </p:nvSpPr>
        <p:spPr>
          <a:xfrm>
            <a:off x="4504334" y="4434840"/>
            <a:ext cx="3182112" cy="841248"/>
          </a:xfrm>
          <a:prstGeom prst="roundRect">
            <a:avLst>
              <a:gd name="adj" fmla="val 8696"/>
            </a:avLst>
          </a:prstGeom>
          <a:solidFill>
            <a:schemeClr val="accent2">
              <a:alpha val="12000"/>
            </a:schemeClr>
          </a:solidFill>
          <a:ln/>
        </p:spPr>
      </p:sp>
      <p:sp>
        <p:nvSpPr>
          <p:cNvPr id="15" name="a2|réflexe"/>
          <p:cNvSpPr txBox="1"/>
          <p:nvPr/>
        </p:nvSpPr>
        <p:spPr>
          <a:xfrm>
            <a:off x="4641494" y="4434840"/>
            <a:ext cx="2926080" cy="841248"/>
          </a:xfrm>
          <a:prstGeom prst="rect">
            <a:avLst/>
          </a:prstGeom>
          <a:noFill/>
          <a:ln/>
        </p:spPr>
        <p:txBody>
          <a:bodyPr wrap="square" lIns="0" tIns="0" rIns="0" bIns="0" rtlCol="0" anchor="ctr"/>
          <a:lstStyle/>
          <a:p>
            <a:pPr indent="0" marL="0">
              <a:buNone/>
            </a:pPr>
            <a:r>
              <a:rPr lang="en-US" sz="1400" b="1" dirty="0">
                <a:solidFill>
                  <a:schemeClr val="accent2"/>
                </a:solidFill>
              </a:rPr>
              <a:t>Le bon réflexe : </a:t>
            </a:r>
            <a:pPr indent="0" marL="0">
              <a:buNone/>
            </a:pPr>
            <a:r>
              <a:rPr lang="en-US" sz="1400" dirty="0">
                <a:solidFill>
                  <a:schemeClr val="tx1"/>
                </a:solidFill>
              </a:rPr>
              <a:t>Si le PDF demande de se reconnecter : stop, on signale.</a:t>
            </a:r>
            <a:endParaRPr lang="en-US" sz="1400" dirty="0"/>
          </a:p>
        </p:txBody>
      </p:sp>
      <p:sp>
        <p:nvSpPr>
          <p:cNvPr id="16" name="a3|carte"/>
          <p:cNvSpPr/>
          <p:nvPr/>
        </p:nvSpPr>
        <p:spPr>
          <a:xfrm>
            <a:off x="8094269" y="1645920"/>
            <a:ext cx="3547872" cy="3794760"/>
          </a:xfrm>
          <a:prstGeom prst="roundRect">
            <a:avLst>
              <a:gd name="adj" fmla="val 2577"/>
            </a:avLst>
          </a:prstGeom>
          <a:solidFill>
            <a:schemeClr val="bg1"/>
          </a:solidFill>
          <a:ln/>
          <a:effectLst>
            <a:outerShdw sx="100000" sy="100000" kx="0" ky="0" algn="bl" rotWithShape="0" blurRad="114300" dist="25400" dir="5400000">
              <a:srgbClr val="0E2235">
                <a:alpha val="12000"/>
              </a:srgbClr>
            </a:outerShdw>
          </a:effectLst>
        </p:spPr>
      </p:sp>
      <p:sp>
        <p:nvSpPr>
          <p:cNvPr id="17" name="a3|titre"/>
          <p:cNvSpPr txBox="1"/>
          <p:nvPr/>
        </p:nvSpPr>
        <p:spPr>
          <a:xfrm>
            <a:off x="8368589" y="1828800"/>
            <a:ext cx="3017520" cy="365760"/>
          </a:xfrm>
          <a:prstGeom prst="rect">
            <a:avLst/>
          </a:prstGeom>
          <a:noFill/>
          <a:ln/>
        </p:spPr>
        <p:txBody>
          <a:bodyPr wrap="square" lIns="0" tIns="0" rIns="0" bIns="0" rtlCol="0" anchor="t"/>
          <a:lstStyle/>
          <a:p>
            <a:pPr indent="0" marL="0">
              <a:buNone/>
            </a:pPr>
            <a:r>
              <a:rPr lang="en-US" sz="1900" b="1" dirty="0">
                <a:solidFill>
                  <a:schemeClr val="tx2"/>
                </a:solidFill>
              </a:rPr>
              <a:t>E-mail 3</a:t>
            </a:r>
            <a:endParaRPr lang="en-US" sz="1900" dirty="0"/>
          </a:p>
        </p:txBody>
      </p:sp>
      <p:sp>
        <p:nvSpPr>
          <p:cNvPr id="18" name="a3|verdict"/>
          <p:cNvSpPr/>
          <p:nvPr/>
        </p:nvSpPr>
        <p:spPr>
          <a:xfrm>
            <a:off x="8368589" y="2286000"/>
            <a:ext cx="2999232" cy="502920"/>
          </a:xfrm>
          <a:prstGeom prst="roundRect">
            <a:avLst>
              <a:gd name="adj" fmla="val 50000"/>
            </a:avLst>
          </a:prstGeom>
          <a:solidFill>
            <a:schemeClr val="accent5"/>
          </a:solidFill>
          <a:ln/>
        </p:spPr>
        <p:txBody>
          <a:bodyPr wrap="square" lIns="0" tIns="0" rIns="0" bIns="0" rtlCol="0" anchor="ctr"/>
          <a:lstStyle/>
          <a:p>
            <a:pPr algn="ctr" indent="0" marL="0">
              <a:buNone/>
            </a:pPr>
            <a:r>
              <a:rPr lang="en-US" sz="1700" b="1" dirty="0">
                <a:solidFill>
                  <a:schemeClr val="bg1"/>
                </a:solidFill>
              </a:rPr>
              <a:t>PIÉGÉ</a:t>
            </a:r>
            <a:endParaRPr lang="en-US" sz="1700" dirty="0"/>
          </a:p>
        </p:txBody>
      </p:sp>
      <p:sp>
        <p:nvSpPr>
          <p:cNvPr id="19" name="a3|points"/>
          <p:cNvSpPr txBox="1"/>
          <p:nvPr/>
        </p:nvSpPr>
        <p:spPr>
          <a:xfrm>
            <a:off x="8368589" y="3017520"/>
            <a:ext cx="30175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Adresse externe (outlook.com)</a:t>
            </a:r>
            <a:endParaRPr lang="en-US" sz="1500" dirty="0"/>
          </a:p>
          <a:p>
            <a:pPr marL="342900" indent="-342900">
              <a:spcAft>
                <a:spcPts val="800"/>
              </a:spcAft>
              <a:buSzPct val="100000"/>
              <a:buChar char="•"/>
            </a:pPr>
            <a:r>
              <a:rPr lang="en-US" sz="1500" dirty="0">
                <a:solidFill>
                  <a:schemeClr val="tx1"/>
                </a:solidFill>
              </a:rPr>
              <a:t>Urgence + confidentialité</a:t>
            </a:r>
            <a:endParaRPr lang="en-US" sz="1500" dirty="0"/>
          </a:p>
          <a:p>
            <a:pPr marL="342900" indent="-342900">
              <a:spcAft>
                <a:spcPts val="800"/>
              </a:spcAft>
              <a:buSzPct val="100000"/>
              <a:buChar char="•"/>
            </a:pPr>
            <a:r>
              <a:rPr lang="en-US" sz="1500" dirty="0">
                <a:solidFill>
                  <a:schemeClr val="tx1"/>
                </a:solidFill>
              </a:rPr>
              <a:t>« Ne m'appelez pas » : on empêche la vérification</a:t>
            </a:r>
            <a:endParaRPr lang="en-US" sz="1500" dirty="0"/>
          </a:p>
        </p:txBody>
      </p:sp>
      <p:sp>
        <p:nvSpPr>
          <p:cNvPr id="20" name="a3|réflexe"/>
          <p:cNvSpPr/>
          <p:nvPr/>
        </p:nvSpPr>
        <p:spPr>
          <a:xfrm>
            <a:off x="8277149" y="4434840"/>
            <a:ext cx="3182112" cy="841248"/>
          </a:xfrm>
          <a:prstGeom prst="roundRect">
            <a:avLst>
              <a:gd name="adj" fmla="val 8696"/>
            </a:avLst>
          </a:prstGeom>
          <a:solidFill>
            <a:schemeClr val="accent2">
              <a:alpha val="12000"/>
            </a:schemeClr>
          </a:solidFill>
          <a:ln/>
        </p:spPr>
      </p:sp>
      <p:sp>
        <p:nvSpPr>
          <p:cNvPr id="21" name="a3|réflexe"/>
          <p:cNvSpPr txBox="1"/>
          <p:nvPr/>
        </p:nvSpPr>
        <p:spPr>
          <a:xfrm>
            <a:off x="8414309" y="4434840"/>
            <a:ext cx="2926080" cy="841248"/>
          </a:xfrm>
          <a:prstGeom prst="rect">
            <a:avLst/>
          </a:prstGeom>
          <a:noFill/>
          <a:ln/>
        </p:spPr>
        <p:txBody>
          <a:bodyPr wrap="square" lIns="0" tIns="0" rIns="0" bIns="0" rtlCol="0" anchor="ctr"/>
          <a:lstStyle/>
          <a:p>
            <a:pPr indent="0" marL="0">
              <a:buNone/>
            </a:pPr>
            <a:r>
              <a:rPr lang="en-US" sz="1400" b="1" dirty="0">
                <a:solidFill>
                  <a:schemeClr val="accent2"/>
                </a:solidFill>
              </a:rPr>
              <a:t>Le bon réflexe : </a:t>
            </a:r>
            <a:pPr indent="0" marL="0">
              <a:buNone/>
            </a:pPr>
            <a:r>
              <a:rPr lang="en-US" sz="1400" dirty="0">
                <a:solidFill>
                  <a:schemeClr val="tx1"/>
                </a:solidFill>
              </a:rPr>
              <a:t>Rappeler le dirigeant sur son numéro habituel.</a:t>
            </a:r>
            <a:endParaRPr lang="en-US" sz="1400" dirty="0"/>
          </a:p>
        </p:txBody>
      </p:sp>
      <p:sp>
        <p:nvSpPr>
          <p:cNvPr id="22" name="a4|bandeau"/>
          <p:cNvSpPr/>
          <p:nvPr/>
        </p:nvSpPr>
        <p:spPr>
          <a:xfrm>
            <a:off x="548640" y="5669280"/>
            <a:ext cx="11094415" cy="457200"/>
          </a:xfrm>
          <a:prstGeom prst="roundRect">
            <a:avLst>
              <a:gd name="adj" fmla="val 20000"/>
            </a:avLst>
          </a:prstGeom>
          <a:solidFill>
            <a:schemeClr val="tx2"/>
          </a:solidFill>
          <a:ln/>
        </p:spPr>
      </p:sp>
      <p:sp>
        <p:nvSpPr>
          <p:cNvPr id="23" name="a4|texte"/>
          <p:cNvSpPr txBox="1"/>
          <p:nvPr/>
        </p:nvSpPr>
        <p:spPr>
          <a:xfrm>
            <a:off x="822960" y="5669280"/>
            <a:ext cx="10545775" cy="457200"/>
          </a:xfrm>
          <a:prstGeom prst="rect">
            <a:avLst/>
          </a:prstGeom>
          <a:noFill/>
          <a:ln/>
        </p:spPr>
        <p:txBody>
          <a:bodyPr wrap="square" lIns="0" tIns="0" rIns="0" bIns="0" rtlCol="0" anchor="ctr"/>
          <a:lstStyle/>
          <a:p>
            <a:pPr indent="0" marL="0">
              <a:buNone/>
            </a:pPr>
            <a:r>
              <a:rPr lang="en-US" sz="1500" b="1" dirty="0">
                <a:solidFill>
                  <a:schemeClr val="accent4"/>
                </a:solidFill>
              </a:rPr>
              <a:t>Point commun des pièges : </a:t>
            </a:r>
            <a:pPr indent="0" marL="0">
              <a:buNone/>
            </a:pPr>
            <a:r>
              <a:rPr lang="en-US" sz="1500" dirty="0">
                <a:solidFill>
                  <a:schemeClr val="bg1"/>
                </a:solidFill>
              </a:rPr>
              <a:t>ils vous empêchent de vérifier. La parade : un autre canal.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7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7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a1|numéro"/>
          <p:cNvSpPr txBox="1"/>
          <p:nvPr/>
        </p:nvSpPr>
        <p:spPr>
          <a:xfrm>
            <a:off x="731520" y="1325880"/>
            <a:ext cx="3657600" cy="1737360"/>
          </a:xfrm>
          <a:prstGeom prst="rect">
            <a:avLst/>
          </a:prstGeom>
          <a:noFill/>
          <a:ln/>
        </p:spPr>
        <p:txBody>
          <a:bodyPr wrap="square" lIns="0" tIns="0" rIns="0" bIns="0" rtlCol="0" anchor="t"/>
          <a:lstStyle/>
          <a:p>
            <a:pPr indent="0" marL="0">
              <a:buNone/>
            </a:pPr>
            <a:r>
              <a:rPr lang="en-US" sz="12000" b="1" dirty="0">
                <a:solidFill>
                  <a:schemeClr val="accent2"/>
                </a:solidFill>
              </a:rPr>
              <a:t>03</a:t>
            </a:r>
            <a:endParaRPr lang="en-US" sz="12000" dirty="0"/>
          </a:p>
        </p:txBody>
      </p:sp>
      <p:sp>
        <p:nvSpPr>
          <p:cNvPr id="3" name="Text 0"/>
          <p:cNvSpPr/>
          <p:nvPr>
            <p:ph idx="100" type="title" hasCustomPrompt="1"/>
          </p:nvPr>
        </p:nvSpPr>
        <p:spPr>
          <a:xfrm>
            <a:off x="731520" y="3154680"/>
            <a:ext cx="6949440" cy="868680"/>
          </a:xfrm>
          <a:prstGeom prst="rect">
            <a:avLst/>
          </a:prstGeom>
          <a:noFill/>
          <a:ln/>
        </p:spPr>
        <p:txBody>
          <a:bodyPr wrap="square" lIns="0" tIns="0" rIns="0" bIns="0" rtlCol="0" anchor="t"/>
          <a:lstStyle/>
          <a:p>
            <a:pPr algn="l" indent="0" marL="0">
              <a:buNone/>
            </a:pPr>
            <a:r>
              <a:rPr lang="en-US" sz="4400" b="1" dirty="0">
                <a:solidFill>
                  <a:schemeClr val="bg1"/>
                </a:solidFill>
              </a:rPr>
              <a:t>Les bons réflexes</a:t>
            </a:r>
            <a:endParaRPr lang="en-US" sz="4400" dirty="0"/>
          </a:p>
        </p:txBody>
      </p:sp>
      <p:sp>
        <p:nvSpPr>
          <p:cNvPr id="4" name="Text 0"/>
          <p:cNvSpPr/>
          <p:nvPr>
            <p:ph idx="101" type="body" hasCustomPrompt="1"/>
          </p:nvPr>
        </p:nvSpPr>
        <p:spPr>
          <a:xfrm>
            <a:off x="731520" y="4114800"/>
            <a:ext cx="6766560" cy="822960"/>
          </a:xfrm>
          <a:prstGeom prst="rect">
            <a:avLst/>
          </a:prstGeom>
          <a:noFill/>
          <a:ln/>
        </p:spPr>
        <p:txBody>
          <a:bodyPr wrap="square" lIns="0" tIns="0" rIns="0" bIns="0" rtlCol="0" anchor="t"/>
          <a:lstStyle/>
          <a:p>
            <a:pPr algn="l" indent="0" marL="0">
              <a:buNone/>
            </a:pPr>
            <a:r>
              <a:rPr lang="en-US" sz="2000" dirty="0">
                <a:solidFill>
                  <a:schemeClr val="bg2"/>
                </a:solidFill>
              </a:rPr>
              <a:t>Avant, pendant et après un clic</a:t>
            </a:r>
            <a:endParaRPr lang="en-US" sz="2000" dirty="0"/>
          </a:p>
        </p:txBody>
      </p:sp>
      <p:pic>
        <p:nvPicPr>
          <p:cNvPr id="5" name="a1|illustration" descr="">
            <a:extLst>
              <a:ext uri="{C183D7F6-B498-43B3-948B-1728B52AA6E4}">
                <adec:decorative xmlns:adec="http://schemas.microsoft.com/office/drawing/2017/decorative" val="1"/>
              </a:ext>
            </a:extLst>
          </p:cNvPr>
          <p:cNvPicPr>
            <a:picLocks noChangeAspect="1"/>
          </p:cNvPicPr>
          <p:nvPr/>
        </p:nvPicPr>
        <p:blipFill>
          <a:blip r:embed="rId1">
            <a:alphaModFix amt="12000"/>
          </a:blip>
          <a:stretch>
            <a:fillRect/>
          </a:stretch>
        </p:blipFill>
        <p:spPr>
          <a:xfrm>
            <a:off x="8183880" y="1417320"/>
            <a:ext cx="3291840" cy="3291840"/>
          </a:xfrm>
          <a:prstGeom prst="rect">
            <a:avLst/>
          </a:prstGeom>
        </p:spPr>
      </p:pic>
      <p:sp>
        <p:nvSpPr>
          <p:cNvPr id="6" name="Text 3"/>
          <p:cNvSpPr txBox="1"/>
          <p:nvPr/>
        </p:nvSpPr>
        <p:spPr>
          <a:xfrm>
            <a:off x="7315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01  La menace</a:t>
            </a:r>
            <a:endParaRPr lang="en-US" sz="1300" dirty="0"/>
          </a:p>
        </p:txBody>
      </p:sp>
      <p:sp>
        <p:nvSpPr>
          <p:cNvPr id="7" name="Text 4"/>
          <p:cNvSpPr txBox="1"/>
          <p:nvPr/>
        </p:nvSpPr>
        <p:spPr>
          <a:xfrm>
            <a:off x="32461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02  Reconnaître</a:t>
            </a:r>
            <a:endParaRPr lang="en-US" sz="1300" dirty="0"/>
          </a:p>
        </p:txBody>
      </p:sp>
      <p:sp>
        <p:nvSpPr>
          <p:cNvPr id="8" name="Text 5"/>
          <p:cNvSpPr txBox="1"/>
          <p:nvPr/>
        </p:nvSpPr>
        <p:spPr>
          <a:xfrm>
            <a:off x="5760720" y="5897880"/>
            <a:ext cx="2377440" cy="320040"/>
          </a:xfrm>
          <a:prstGeom prst="rect">
            <a:avLst/>
          </a:prstGeom>
          <a:noFill/>
          <a:ln/>
        </p:spPr>
        <p:txBody>
          <a:bodyPr wrap="square" lIns="0" tIns="0" rIns="0" bIns="0" rtlCol="0" anchor="ctr"/>
          <a:lstStyle/>
          <a:p>
            <a:pPr indent="0" marL="0">
              <a:buNone/>
            </a:pPr>
            <a:r>
              <a:rPr lang="en-US" sz="1300" b="1" dirty="0">
                <a:solidFill>
                  <a:schemeClr val="bg1"/>
                </a:solidFill>
              </a:rPr>
              <a:t>03  Réflexes</a:t>
            </a:r>
            <a:endParaRPr lang="en-US" sz="1300" dirty="0"/>
          </a:p>
        </p:txBody>
      </p:sp>
      <p:sp>
        <p:nvSpPr>
          <p:cNvPr id="9" name="Text 6"/>
          <p:cNvSpPr txBox="1"/>
          <p:nvPr/>
        </p:nvSpPr>
        <p:spPr>
          <a:xfrm>
            <a:off x="82753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04  Plan d'action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03 · RÉFLEXES</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6 réflexes à adopter dès aujourd'hui</a:t>
            </a:r>
            <a:endParaRPr lang="en-US" sz="3600" dirty="0"/>
          </a:p>
        </p:txBody>
      </p:sp>
      <p:sp>
        <p:nvSpPr>
          <p:cNvPr id="4" name="a1|carte"/>
          <p:cNvSpPr/>
          <p:nvPr/>
        </p:nvSpPr>
        <p:spPr>
          <a:xfrm>
            <a:off x="548640" y="1645920"/>
            <a:ext cx="5440680" cy="1207008"/>
          </a:xfrm>
          <a:prstGeom prst="roundRect">
            <a:avLst>
              <a:gd name="adj" fmla="val 7576"/>
            </a:avLst>
          </a:prstGeom>
          <a:solidFill>
            <a:schemeClr val="bg2"/>
          </a:solidFill>
          <a:ln/>
        </p:spPr>
      </p:sp>
      <p:sp>
        <p:nvSpPr>
          <p:cNvPr id="5" name="a1|icône"/>
          <p:cNvSpPr/>
          <p:nvPr/>
        </p:nvSpPr>
        <p:spPr>
          <a:xfrm>
            <a:off x="822960" y="1901952"/>
            <a:ext cx="694944" cy="694944"/>
          </a:xfrm>
          <a:prstGeom prst="ellipse">
            <a:avLst/>
          </a:prstGeom>
          <a:solidFill>
            <a:schemeClr val="accent2"/>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96696" y="2075688"/>
            <a:ext cx="347472" cy="347472"/>
          </a:xfrm>
          <a:prstGeom prst="rect">
            <a:avLst/>
          </a:prstGeom>
        </p:spPr>
      </p:pic>
      <p:sp>
        <p:nvSpPr>
          <p:cNvPr id="7" name="a1|texte"/>
          <p:cNvSpPr txBox="1"/>
          <p:nvPr/>
        </p:nvSpPr>
        <p:spPr>
          <a:xfrm>
            <a:off x="1737360" y="1755648"/>
            <a:ext cx="4069080" cy="987552"/>
          </a:xfrm>
          <a:prstGeom prst="rect">
            <a:avLst/>
          </a:prstGeom>
          <a:noFill/>
          <a:ln/>
        </p:spPr>
        <p:txBody>
          <a:bodyPr wrap="square" lIns="0" tIns="0" rIns="0" bIns="0" rtlCol="0" anchor="ctr"/>
          <a:lstStyle/>
          <a:p>
            <a:pPr indent="0" marL="0">
              <a:spcAft>
                <a:spcPts val="300"/>
              </a:spcAft>
              <a:buNone/>
            </a:pPr>
            <a:r>
              <a:rPr lang="en-US" sz="1700" b="1" dirty="0">
                <a:solidFill>
                  <a:schemeClr val="tx2"/>
                </a:solidFill>
              </a:rPr>
              <a:t>Je lis l'adresse complète</a:t>
            </a:r>
            <a:endParaRPr lang="en-US" sz="1400" dirty="0"/>
          </a:p>
          <a:p>
            <a:pPr indent="0" marL="0">
              <a:spcAft>
                <a:spcPts val="300"/>
              </a:spcAft>
              <a:buNone/>
            </a:pPr>
            <a:r>
              <a:rPr lang="en-US" sz="1400" dirty="0">
                <a:solidFill>
                  <a:schemeClr val="tx1"/>
                </a:solidFill>
              </a:rPr>
              <a:t>Pas seulement le nom affiché : le domaine après le @ doit être exact.</a:t>
            </a:r>
            <a:endParaRPr lang="en-US" sz="1400" dirty="0"/>
          </a:p>
        </p:txBody>
      </p:sp>
      <p:sp>
        <p:nvSpPr>
          <p:cNvPr id="8" name="a2|carte"/>
          <p:cNvSpPr/>
          <p:nvPr/>
        </p:nvSpPr>
        <p:spPr>
          <a:xfrm>
            <a:off x="6202375" y="1645920"/>
            <a:ext cx="5440680" cy="1207008"/>
          </a:xfrm>
          <a:prstGeom prst="roundRect">
            <a:avLst>
              <a:gd name="adj" fmla="val 7576"/>
            </a:avLst>
          </a:prstGeom>
          <a:solidFill>
            <a:schemeClr val="bg2"/>
          </a:solidFill>
          <a:ln/>
        </p:spPr>
      </p:sp>
      <p:sp>
        <p:nvSpPr>
          <p:cNvPr id="9" name="a2|icône"/>
          <p:cNvSpPr/>
          <p:nvPr/>
        </p:nvSpPr>
        <p:spPr>
          <a:xfrm>
            <a:off x="6476695" y="1901952"/>
            <a:ext cx="694944" cy="694944"/>
          </a:xfrm>
          <a:prstGeom prst="ellipse">
            <a:avLst/>
          </a:prstGeom>
          <a:solidFill>
            <a:schemeClr val="accent2"/>
          </a:solidFill>
          <a:ln/>
        </p:spPr>
      </p:sp>
      <p:pic>
        <p:nvPicPr>
          <p:cNvPr id="10"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50431" y="2075688"/>
            <a:ext cx="347472" cy="347472"/>
          </a:xfrm>
          <a:prstGeom prst="rect">
            <a:avLst/>
          </a:prstGeom>
        </p:spPr>
      </p:pic>
      <p:sp>
        <p:nvSpPr>
          <p:cNvPr id="11" name="a2|texte"/>
          <p:cNvSpPr txBox="1"/>
          <p:nvPr/>
        </p:nvSpPr>
        <p:spPr>
          <a:xfrm>
            <a:off x="7391095" y="1755648"/>
            <a:ext cx="4069080" cy="987552"/>
          </a:xfrm>
          <a:prstGeom prst="rect">
            <a:avLst/>
          </a:prstGeom>
          <a:noFill/>
          <a:ln/>
        </p:spPr>
        <p:txBody>
          <a:bodyPr wrap="square" lIns="0" tIns="0" rIns="0" bIns="0" rtlCol="0" anchor="ctr"/>
          <a:lstStyle/>
          <a:p>
            <a:pPr indent="0" marL="0">
              <a:spcAft>
                <a:spcPts val="300"/>
              </a:spcAft>
              <a:buNone/>
            </a:pPr>
            <a:r>
              <a:rPr lang="en-US" sz="1700" b="1" dirty="0">
                <a:solidFill>
                  <a:schemeClr val="tx2"/>
                </a:solidFill>
              </a:rPr>
              <a:t>Je survole avant de cliquer</a:t>
            </a:r>
            <a:endParaRPr lang="en-US" sz="1400" dirty="0"/>
          </a:p>
          <a:p>
            <a:pPr indent="0" marL="0">
              <a:spcAft>
                <a:spcPts val="300"/>
              </a:spcAft>
              <a:buNone/>
            </a:pPr>
            <a:r>
              <a:rPr lang="en-US" sz="1400" dirty="0">
                <a:solidFill>
                  <a:schemeClr val="tx1"/>
                </a:solidFill>
              </a:rPr>
              <a:t>L'adresse réelle du lien s'affiche au survol (appui long sur mobile).</a:t>
            </a:r>
            <a:endParaRPr lang="en-US" sz="1400" dirty="0"/>
          </a:p>
        </p:txBody>
      </p:sp>
      <p:sp>
        <p:nvSpPr>
          <p:cNvPr id="12" name="a3|carte"/>
          <p:cNvSpPr/>
          <p:nvPr/>
        </p:nvSpPr>
        <p:spPr>
          <a:xfrm>
            <a:off x="548640" y="3017520"/>
            <a:ext cx="5440680" cy="1207008"/>
          </a:xfrm>
          <a:prstGeom prst="roundRect">
            <a:avLst>
              <a:gd name="adj" fmla="val 7576"/>
            </a:avLst>
          </a:prstGeom>
          <a:solidFill>
            <a:schemeClr val="bg2"/>
          </a:solidFill>
          <a:ln/>
        </p:spPr>
      </p:sp>
      <p:sp>
        <p:nvSpPr>
          <p:cNvPr id="13" name="a3|icône"/>
          <p:cNvSpPr/>
          <p:nvPr/>
        </p:nvSpPr>
        <p:spPr>
          <a:xfrm>
            <a:off x="822960" y="3273552"/>
            <a:ext cx="694944" cy="694944"/>
          </a:xfrm>
          <a:prstGeom prst="ellipse">
            <a:avLst/>
          </a:prstGeom>
          <a:solidFill>
            <a:schemeClr val="accent2"/>
          </a:solidFill>
          <a:ln/>
        </p:spPr>
      </p:sp>
      <p:pic>
        <p:nvPicPr>
          <p:cNvPr id="14"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96696" y="3447288"/>
            <a:ext cx="347472" cy="347472"/>
          </a:xfrm>
          <a:prstGeom prst="rect">
            <a:avLst/>
          </a:prstGeom>
        </p:spPr>
      </p:pic>
      <p:sp>
        <p:nvSpPr>
          <p:cNvPr id="15" name="a3|texte"/>
          <p:cNvSpPr txBox="1"/>
          <p:nvPr/>
        </p:nvSpPr>
        <p:spPr>
          <a:xfrm>
            <a:off x="1737360" y="3127248"/>
            <a:ext cx="4069080" cy="987552"/>
          </a:xfrm>
          <a:prstGeom prst="rect">
            <a:avLst/>
          </a:prstGeom>
          <a:noFill/>
          <a:ln/>
        </p:spPr>
        <p:txBody>
          <a:bodyPr wrap="square" lIns="0" tIns="0" rIns="0" bIns="0" rtlCol="0" anchor="ctr"/>
          <a:lstStyle/>
          <a:p>
            <a:pPr indent="0" marL="0">
              <a:spcAft>
                <a:spcPts val="300"/>
              </a:spcAft>
              <a:buNone/>
            </a:pPr>
            <a:r>
              <a:rPr lang="en-US" sz="1700" b="1" dirty="0">
                <a:solidFill>
                  <a:schemeClr val="tx2"/>
                </a:solidFill>
              </a:rPr>
              <a:t>Je me méfie de l'urgence</a:t>
            </a:r>
            <a:endParaRPr lang="en-US" sz="1400" dirty="0"/>
          </a:p>
          <a:p>
            <a:pPr indent="0" marL="0">
              <a:spcAft>
                <a:spcPts val="300"/>
              </a:spcAft>
              <a:buNone/>
            </a:pPr>
            <a:r>
              <a:rPr lang="en-US" sz="1400" dirty="0">
                <a:solidFill>
                  <a:schemeClr val="tx1"/>
                </a:solidFill>
              </a:rPr>
              <a:t>Menace, délai, confidentialité : autant de signaux d'alerte.</a:t>
            </a:r>
            <a:endParaRPr lang="en-US" sz="1400" dirty="0"/>
          </a:p>
        </p:txBody>
      </p:sp>
      <p:sp>
        <p:nvSpPr>
          <p:cNvPr id="16" name="a4|carte"/>
          <p:cNvSpPr/>
          <p:nvPr/>
        </p:nvSpPr>
        <p:spPr>
          <a:xfrm>
            <a:off x="6202375" y="3017520"/>
            <a:ext cx="5440680" cy="1207008"/>
          </a:xfrm>
          <a:prstGeom prst="roundRect">
            <a:avLst>
              <a:gd name="adj" fmla="val 7576"/>
            </a:avLst>
          </a:prstGeom>
          <a:solidFill>
            <a:schemeClr val="bg2"/>
          </a:solidFill>
          <a:ln/>
        </p:spPr>
      </p:sp>
      <p:sp>
        <p:nvSpPr>
          <p:cNvPr id="17" name="a4|icône"/>
          <p:cNvSpPr/>
          <p:nvPr/>
        </p:nvSpPr>
        <p:spPr>
          <a:xfrm>
            <a:off x="6476695" y="3273552"/>
            <a:ext cx="694944" cy="694944"/>
          </a:xfrm>
          <a:prstGeom prst="ellipse">
            <a:avLst/>
          </a:prstGeom>
          <a:solidFill>
            <a:schemeClr val="accent2"/>
          </a:solidFill>
          <a:ln/>
        </p:spPr>
      </p:sp>
      <p:pic>
        <p:nvPicPr>
          <p:cNvPr id="18" name="a4|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50431" y="3447288"/>
            <a:ext cx="347472" cy="347472"/>
          </a:xfrm>
          <a:prstGeom prst="rect">
            <a:avLst/>
          </a:prstGeom>
        </p:spPr>
      </p:pic>
      <p:sp>
        <p:nvSpPr>
          <p:cNvPr id="19" name="a4|texte"/>
          <p:cNvSpPr txBox="1"/>
          <p:nvPr/>
        </p:nvSpPr>
        <p:spPr>
          <a:xfrm>
            <a:off x="7391095" y="3127248"/>
            <a:ext cx="4069080" cy="987552"/>
          </a:xfrm>
          <a:prstGeom prst="rect">
            <a:avLst/>
          </a:prstGeom>
          <a:noFill/>
          <a:ln/>
        </p:spPr>
        <p:txBody>
          <a:bodyPr wrap="square" lIns="0" tIns="0" rIns="0" bIns="0" rtlCol="0" anchor="ctr"/>
          <a:lstStyle/>
          <a:p>
            <a:pPr indent="0" marL="0">
              <a:spcAft>
                <a:spcPts val="300"/>
              </a:spcAft>
              <a:buNone/>
            </a:pPr>
            <a:r>
              <a:rPr lang="en-US" sz="1700" b="1" dirty="0">
                <a:solidFill>
                  <a:schemeClr val="tx2"/>
                </a:solidFill>
              </a:rPr>
              <a:t>Mot de passe : jamais par message</a:t>
            </a:r>
            <a:endParaRPr lang="en-US" sz="1400" dirty="0"/>
          </a:p>
          <a:p>
            <a:pPr indent="0" marL="0">
              <a:spcAft>
                <a:spcPts val="300"/>
              </a:spcAft>
              <a:buNone/>
            </a:pPr>
            <a:r>
              <a:rPr lang="en-US" sz="1400" dirty="0">
                <a:solidFill>
                  <a:schemeClr val="tx1"/>
                </a:solidFill>
              </a:rPr>
              <a:t>Aucun service sérieux ne le demande par e-mail, SMS ou téléphone.</a:t>
            </a:r>
            <a:endParaRPr lang="en-US" sz="1400" dirty="0"/>
          </a:p>
        </p:txBody>
      </p:sp>
      <p:sp>
        <p:nvSpPr>
          <p:cNvPr id="20" name="a5|carte"/>
          <p:cNvSpPr/>
          <p:nvPr/>
        </p:nvSpPr>
        <p:spPr>
          <a:xfrm>
            <a:off x="548640" y="4389120"/>
            <a:ext cx="5440680" cy="1207008"/>
          </a:xfrm>
          <a:prstGeom prst="roundRect">
            <a:avLst>
              <a:gd name="adj" fmla="val 7576"/>
            </a:avLst>
          </a:prstGeom>
          <a:solidFill>
            <a:schemeClr val="bg2"/>
          </a:solidFill>
          <a:ln/>
        </p:spPr>
      </p:sp>
      <p:sp>
        <p:nvSpPr>
          <p:cNvPr id="21" name="a5|icône"/>
          <p:cNvSpPr/>
          <p:nvPr/>
        </p:nvSpPr>
        <p:spPr>
          <a:xfrm>
            <a:off x="822960" y="4645152"/>
            <a:ext cx="694944" cy="694944"/>
          </a:xfrm>
          <a:prstGeom prst="ellipse">
            <a:avLst/>
          </a:prstGeom>
          <a:solidFill>
            <a:schemeClr val="accent2"/>
          </a:solidFill>
          <a:ln/>
        </p:spPr>
      </p:sp>
      <p:pic>
        <p:nvPicPr>
          <p:cNvPr id="22" name="a5|icôn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96696" y="4818888"/>
            <a:ext cx="347472" cy="347472"/>
          </a:xfrm>
          <a:prstGeom prst="rect">
            <a:avLst/>
          </a:prstGeom>
        </p:spPr>
      </p:pic>
      <p:sp>
        <p:nvSpPr>
          <p:cNvPr id="23" name="a5|texte"/>
          <p:cNvSpPr txBox="1"/>
          <p:nvPr/>
        </p:nvSpPr>
        <p:spPr>
          <a:xfrm>
            <a:off x="1737360" y="4498848"/>
            <a:ext cx="4069080" cy="987552"/>
          </a:xfrm>
          <a:prstGeom prst="rect">
            <a:avLst/>
          </a:prstGeom>
          <a:noFill/>
          <a:ln/>
        </p:spPr>
        <p:txBody>
          <a:bodyPr wrap="square" lIns="0" tIns="0" rIns="0" bIns="0" rtlCol="0" anchor="ctr"/>
          <a:lstStyle/>
          <a:p>
            <a:pPr indent="0" marL="0">
              <a:spcAft>
                <a:spcPts val="300"/>
              </a:spcAft>
              <a:buNone/>
            </a:pPr>
            <a:r>
              <a:rPr lang="en-US" sz="1700" b="1" dirty="0">
                <a:solidFill>
                  <a:schemeClr val="tx2"/>
                </a:solidFill>
              </a:rPr>
              <a:t>Je vérifie par un autre canal</a:t>
            </a:r>
            <a:endParaRPr lang="en-US" sz="1400" dirty="0"/>
          </a:p>
          <a:p>
            <a:pPr indent="0" marL="0">
              <a:spcAft>
                <a:spcPts val="300"/>
              </a:spcAft>
              <a:buNone/>
            </a:pPr>
            <a:r>
              <a:rPr lang="en-US" sz="1400" dirty="0">
                <a:solidFill>
                  <a:schemeClr val="tx1"/>
                </a:solidFill>
              </a:rPr>
              <a:t>Virement ou nouveau RIB : je rappelle sur un numéro déjà connu.</a:t>
            </a:r>
            <a:endParaRPr lang="en-US" sz="1400" dirty="0"/>
          </a:p>
        </p:txBody>
      </p:sp>
      <p:sp>
        <p:nvSpPr>
          <p:cNvPr id="24" name="a6|carte"/>
          <p:cNvSpPr/>
          <p:nvPr/>
        </p:nvSpPr>
        <p:spPr>
          <a:xfrm>
            <a:off x="6202375" y="4389120"/>
            <a:ext cx="5440680" cy="1207008"/>
          </a:xfrm>
          <a:prstGeom prst="roundRect">
            <a:avLst>
              <a:gd name="adj" fmla="val 7576"/>
            </a:avLst>
          </a:prstGeom>
          <a:solidFill>
            <a:schemeClr val="bg2"/>
          </a:solidFill>
          <a:ln/>
        </p:spPr>
      </p:sp>
      <p:sp>
        <p:nvSpPr>
          <p:cNvPr id="25" name="a6|icône"/>
          <p:cNvSpPr/>
          <p:nvPr/>
        </p:nvSpPr>
        <p:spPr>
          <a:xfrm>
            <a:off x="6476695" y="4645152"/>
            <a:ext cx="694944" cy="694944"/>
          </a:xfrm>
          <a:prstGeom prst="ellipse">
            <a:avLst/>
          </a:prstGeom>
          <a:solidFill>
            <a:schemeClr val="accent2"/>
          </a:solidFill>
          <a:ln/>
        </p:spPr>
      </p:sp>
      <p:pic>
        <p:nvPicPr>
          <p:cNvPr id="26" name="a6|icône"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50431" y="4818888"/>
            <a:ext cx="347472" cy="347472"/>
          </a:xfrm>
          <a:prstGeom prst="rect">
            <a:avLst/>
          </a:prstGeom>
        </p:spPr>
      </p:pic>
      <p:sp>
        <p:nvSpPr>
          <p:cNvPr id="27" name="a6|texte"/>
          <p:cNvSpPr txBox="1"/>
          <p:nvPr/>
        </p:nvSpPr>
        <p:spPr>
          <a:xfrm>
            <a:off x="7391095" y="4498848"/>
            <a:ext cx="4069080" cy="987552"/>
          </a:xfrm>
          <a:prstGeom prst="rect">
            <a:avLst/>
          </a:prstGeom>
          <a:noFill/>
          <a:ln/>
        </p:spPr>
        <p:txBody>
          <a:bodyPr wrap="square" lIns="0" tIns="0" rIns="0" bIns="0" rtlCol="0" anchor="ctr"/>
          <a:lstStyle/>
          <a:p>
            <a:pPr indent="0" marL="0">
              <a:spcAft>
                <a:spcPts val="300"/>
              </a:spcAft>
              <a:buNone/>
            </a:pPr>
            <a:r>
              <a:rPr lang="en-US" sz="1700" b="1" dirty="0">
                <a:solidFill>
                  <a:schemeClr val="tx2"/>
                </a:solidFill>
              </a:rPr>
              <a:t>Je signale, même dans le doute</a:t>
            </a:r>
            <a:endParaRPr lang="en-US" sz="1400" dirty="0"/>
          </a:p>
          <a:p>
            <a:pPr indent="0" marL="0">
              <a:spcAft>
                <a:spcPts val="300"/>
              </a:spcAft>
              <a:buNone/>
            </a:pPr>
            <a:r>
              <a:rPr lang="en-US" sz="1400" dirty="0">
                <a:solidFill>
                  <a:schemeClr val="tx1"/>
                </a:solidFill>
              </a:rPr>
              <a:t>Je préviens le service informatique : mieux vaut une alerte de trop.</a:t>
            </a:r>
            <a:endParaRPr lang="en-US" sz="1400" dirty="0"/>
          </a:p>
        </p:txBody>
      </p:sp>
      <p:sp>
        <p:nvSpPr>
          <p:cNvPr id="28" name="a7|affiche"/>
          <p:cNvSpPr txBox="1"/>
          <p:nvPr/>
        </p:nvSpPr>
        <p:spPr>
          <a:xfrm>
            <a:off x="548640" y="5833872"/>
            <a:ext cx="11094415" cy="274320"/>
          </a:xfrm>
          <a:prstGeom prst="rect">
            <a:avLst/>
          </a:prstGeom>
          <a:noFill/>
          <a:ln/>
        </p:spPr>
        <p:txBody>
          <a:bodyPr wrap="square" lIns="0" tIns="0" rIns="0" bIns="0" rtlCol="0" anchor="t"/>
          <a:lstStyle/>
          <a:p>
            <a:pPr indent="0" marL="0">
              <a:buNone/>
            </a:pPr>
            <a:r>
              <a:rPr lang="en-US" sz="1200" i="1" dirty="0">
                <a:solidFill>
                  <a:schemeClr val="accent3"/>
                </a:solidFill>
              </a:rPr>
              <a:t>Ces six réflexes existent en affiche A4, à imprimer et à afficher près des postes.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7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nodeType="withEffect">
                                  <p:stCondLst>
                                    <p:cond delay="10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10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125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125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12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125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15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03 · RÉFLEXES</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J'ai cliqué : que faire ?</a:t>
            </a:r>
            <a:endParaRPr lang="en-US" sz="3600" dirty="0"/>
          </a:p>
        </p:txBody>
      </p:sp>
      <p:sp>
        <p:nvSpPr>
          <p:cNvPr id="4" name="a1|panneau"/>
          <p:cNvSpPr/>
          <p:nvPr/>
        </p:nvSpPr>
        <p:spPr>
          <a:xfrm>
            <a:off x="548640" y="1645920"/>
            <a:ext cx="3566160" cy="4160520"/>
          </a:xfrm>
          <a:prstGeom prst="roundRect">
            <a:avLst>
              <a:gd name="adj" fmla="val 2564"/>
            </a:avLst>
          </a:prstGeom>
          <a:solidFill>
            <a:schemeClr val="tx2"/>
          </a:solidFill>
          <a:ln/>
        </p:spPr>
      </p:sp>
      <p:sp>
        <p:nvSpPr>
          <p:cNvPr id="5" name="a1|icône"/>
          <p:cNvSpPr/>
          <p:nvPr/>
        </p:nvSpPr>
        <p:spPr>
          <a:xfrm>
            <a:off x="868680" y="1965960"/>
            <a:ext cx="731520" cy="731520"/>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51560" y="2148840"/>
            <a:ext cx="365760" cy="365760"/>
          </a:xfrm>
          <a:prstGeom prst="rect">
            <a:avLst/>
          </a:prstGeom>
        </p:spPr>
      </p:pic>
      <p:sp>
        <p:nvSpPr>
          <p:cNvPr id="7" name="a1|titre"/>
          <p:cNvSpPr txBox="1"/>
          <p:nvPr/>
        </p:nvSpPr>
        <p:spPr>
          <a:xfrm>
            <a:off x="868680" y="2880360"/>
            <a:ext cx="2926080" cy="868680"/>
          </a:xfrm>
          <a:prstGeom prst="rect">
            <a:avLst/>
          </a:prstGeom>
          <a:noFill/>
          <a:ln/>
        </p:spPr>
        <p:txBody>
          <a:bodyPr wrap="square" lIns="0" tIns="0" rIns="0" bIns="0" rtlCol="0" anchor="t"/>
          <a:lstStyle/>
          <a:p>
            <a:pPr indent="0" marL="0">
              <a:buNone/>
            </a:pPr>
            <a:r>
              <a:rPr lang="en-US" sz="2600" b="1" dirty="0">
                <a:solidFill>
                  <a:schemeClr val="bg1"/>
                </a:solidFill>
              </a:rPr>
              <a:t>Chaque minute compte</a:t>
            </a:r>
            <a:endParaRPr lang="en-US" sz="2600" dirty="0"/>
          </a:p>
        </p:txBody>
      </p:sp>
      <p:sp>
        <p:nvSpPr>
          <p:cNvPr id="8" name="a1|texte"/>
          <p:cNvSpPr txBox="1"/>
          <p:nvPr/>
        </p:nvSpPr>
        <p:spPr>
          <a:xfrm>
            <a:off x="868680" y="3794760"/>
            <a:ext cx="2926080" cy="777240"/>
          </a:xfrm>
          <a:prstGeom prst="rect">
            <a:avLst/>
          </a:prstGeom>
          <a:noFill/>
          <a:ln/>
        </p:spPr>
        <p:txBody>
          <a:bodyPr wrap="square" lIns="0" tIns="0" rIns="0" bIns="0" rtlCol="0" anchor="t"/>
          <a:lstStyle/>
          <a:p>
            <a:pPr indent="0" marL="0">
              <a:buNone/>
            </a:pPr>
            <a:r>
              <a:rPr lang="en-US" sz="1500" dirty="0">
                <a:solidFill>
                  <a:schemeClr val="bg2"/>
                </a:solidFill>
              </a:rPr>
              <a:t>Agissez dans l'ordre et sans honte : le pire est de se taire.</a:t>
            </a:r>
            <a:endParaRPr lang="en-US" sz="1500" dirty="0"/>
          </a:p>
        </p:txBody>
      </p:sp>
      <p:sp>
        <p:nvSpPr>
          <p:cNvPr id="9" name="a1|rappel"/>
          <p:cNvSpPr txBox="1"/>
          <p:nvPr/>
        </p:nvSpPr>
        <p:spPr>
          <a:xfrm>
            <a:off x="868680" y="4800600"/>
            <a:ext cx="2926080" cy="731520"/>
          </a:xfrm>
          <a:prstGeom prst="rect">
            <a:avLst/>
          </a:prstGeom>
          <a:noFill/>
          <a:ln/>
        </p:spPr>
        <p:txBody>
          <a:bodyPr wrap="square" lIns="0" tIns="0" rIns="0" bIns="0" rtlCol="0" anchor="t"/>
          <a:lstStyle/>
          <a:p>
            <a:pPr indent="0" marL="0">
              <a:buNone/>
            </a:pPr>
            <a:r>
              <a:rPr lang="en-US" sz="1400" b="1" dirty="0">
                <a:solidFill>
                  <a:schemeClr val="accent4"/>
                </a:solidFill>
              </a:rPr>
              <a:t>Plainte sous 72 h pour préserver l'indemnisation de l'assurance.</a:t>
            </a:r>
            <a:endParaRPr lang="en-US" sz="1400" dirty="0"/>
          </a:p>
        </p:txBody>
      </p:sp>
      <p:sp>
        <p:nvSpPr>
          <p:cNvPr id="10" name="a2|ligne"/>
          <p:cNvSpPr/>
          <p:nvPr/>
        </p:nvSpPr>
        <p:spPr>
          <a:xfrm>
            <a:off x="4343400" y="1645920"/>
            <a:ext cx="7299655" cy="731520"/>
          </a:xfrm>
          <a:prstGeom prst="roundRect">
            <a:avLst>
              <a:gd name="adj" fmla="val 12500"/>
            </a:avLst>
          </a:prstGeom>
          <a:solidFill>
            <a:schemeClr val="bg2"/>
          </a:solidFill>
          <a:ln/>
        </p:spPr>
      </p:sp>
      <p:sp>
        <p:nvSpPr>
          <p:cNvPr id="11" name="a2|num"/>
          <p:cNvSpPr/>
          <p:nvPr/>
        </p:nvSpPr>
        <p:spPr>
          <a:xfrm>
            <a:off x="4544568" y="178308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a2|texte"/>
          <p:cNvSpPr txBox="1"/>
          <p:nvPr/>
        </p:nvSpPr>
        <p:spPr>
          <a:xfrm>
            <a:off x="5212080" y="1700784"/>
            <a:ext cx="6263640" cy="621792"/>
          </a:xfrm>
          <a:prstGeom prst="rect">
            <a:avLst/>
          </a:prstGeom>
          <a:noFill/>
          <a:ln/>
        </p:spPr>
        <p:txBody>
          <a:bodyPr wrap="square" lIns="0" tIns="0" rIns="0" bIns="0" rtlCol="0" anchor="ctr"/>
          <a:lstStyle/>
          <a:p>
            <a:pPr indent="0" marL="0">
              <a:buNone/>
            </a:pPr>
            <a:r>
              <a:rPr lang="en-US" sz="1600" b="1" dirty="0">
                <a:solidFill>
                  <a:schemeClr val="tx2"/>
                </a:solidFill>
              </a:rPr>
              <a:t>Ne répondez pas, ne cliquez plus</a:t>
            </a:r>
            <a:endParaRPr lang="en-US" sz="1400" dirty="0"/>
          </a:p>
          <a:p>
            <a:pPr indent="0" marL="0">
              <a:buNone/>
            </a:pPr>
            <a:r>
              <a:rPr lang="en-US" sz="1400" dirty="0">
                <a:solidFill>
                  <a:schemeClr val="tx1"/>
                </a:solidFill>
              </a:rPr>
              <a:t>Gardez le message : il servira de preuve.</a:t>
            </a:r>
            <a:endParaRPr lang="en-US" sz="1400" dirty="0"/>
          </a:p>
        </p:txBody>
      </p:sp>
      <p:sp>
        <p:nvSpPr>
          <p:cNvPr id="13" name="a3|ligne"/>
          <p:cNvSpPr/>
          <p:nvPr/>
        </p:nvSpPr>
        <p:spPr>
          <a:xfrm>
            <a:off x="4343400" y="2505456"/>
            <a:ext cx="7299655" cy="731520"/>
          </a:xfrm>
          <a:prstGeom prst="roundRect">
            <a:avLst>
              <a:gd name="adj" fmla="val 12500"/>
            </a:avLst>
          </a:prstGeom>
          <a:solidFill>
            <a:schemeClr val="bg2"/>
          </a:solidFill>
          <a:ln/>
        </p:spPr>
      </p:sp>
      <p:sp>
        <p:nvSpPr>
          <p:cNvPr id="14" name="a3|num"/>
          <p:cNvSpPr/>
          <p:nvPr/>
        </p:nvSpPr>
        <p:spPr>
          <a:xfrm>
            <a:off x="4544568" y="2642616"/>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a3|texte"/>
          <p:cNvSpPr txBox="1"/>
          <p:nvPr/>
        </p:nvSpPr>
        <p:spPr>
          <a:xfrm>
            <a:off x="5212080" y="2560320"/>
            <a:ext cx="6263640" cy="621792"/>
          </a:xfrm>
          <a:prstGeom prst="rect">
            <a:avLst/>
          </a:prstGeom>
          <a:noFill/>
          <a:ln/>
        </p:spPr>
        <p:txBody>
          <a:bodyPr wrap="square" lIns="0" tIns="0" rIns="0" bIns="0" rtlCol="0" anchor="ctr"/>
          <a:lstStyle/>
          <a:p>
            <a:pPr indent="0" marL="0">
              <a:buNone/>
            </a:pPr>
            <a:r>
              <a:rPr lang="en-US" sz="1600" b="1" dirty="0">
                <a:solidFill>
                  <a:schemeClr val="tx2"/>
                </a:solidFill>
              </a:rPr>
              <a:t>Isolez l'appareil</a:t>
            </a:r>
            <a:endParaRPr lang="en-US" sz="1400" dirty="0"/>
          </a:p>
          <a:p>
            <a:pPr indent="0" marL="0">
              <a:buNone/>
            </a:pPr>
            <a:r>
              <a:rPr lang="en-US" sz="1400" dirty="0">
                <a:solidFill>
                  <a:schemeClr val="tx1"/>
                </a:solidFill>
              </a:rPr>
              <a:t>Coupez le Wi-Fi ou débranchez le câble réseau, sans éteindre l'ordinateur.</a:t>
            </a:r>
            <a:endParaRPr lang="en-US" sz="1400" dirty="0"/>
          </a:p>
        </p:txBody>
      </p:sp>
      <p:sp>
        <p:nvSpPr>
          <p:cNvPr id="16" name="a4|ligne"/>
          <p:cNvSpPr/>
          <p:nvPr/>
        </p:nvSpPr>
        <p:spPr>
          <a:xfrm>
            <a:off x="4343400" y="3364992"/>
            <a:ext cx="7299655" cy="731520"/>
          </a:xfrm>
          <a:prstGeom prst="roundRect">
            <a:avLst>
              <a:gd name="adj" fmla="val 12500"/>
            </a:avLst>
          </a:prstGeom>
          <a:solidFill>
            <a:schemeClr val="bg2"/>
          </a:solidFill>
          <a:ln/>
        </p:spPr>
      </p:sp>
      <p:sp>
        <p:nvSpPr>
          <p:cNvPr id="17" name="a4|num"/>
          <p:cNvSpPr/>
          <p:nvPr/>
        </p:nvSpPr>
        <p:spPr>
          <a:xfrm>
            <a:off x="4544568" y="3502152"/>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a4|texte"/>
          <p:cNvSpPr txBox="1"/>
          <p:nvPr/>
        </p:nvSpPr>
        <p:spPr>
          <a:xfrm>
            <a:off x="5212080" y="3419856"/>
            <a:ext cx="6263640" cy="621792"/>
          </a:xfrm>
          <a:prstGeom prst="rect">
            <a:avLst/>
          </a:prstGeom>
          <a:noFill/>
          <a:ln/>
        </p:spPr>
        <p:txBody>
          <a:bodyPr wrap="square" lIns="0" tIns="0" rIns="0" bIns="0" rtlCol="0" anchor="ctr"/>
          <a:lstStyle/>
          <a:p>
            <a:pPr indent="0" marL="0">
              <a:buNone/>
            </a:pPr>
            <a:r>
              <a:rPr lang="en-US" sz="1600" b="1" dirty="0">
                <a:solidFill>
                  <a:schemeClr val="tx2"/>
                </a:solidFill>
              </a:rPr>
              <a:t>Alertez immédiatement</a:t>
            </a:r>
            <a:endParaRPr lang="en-US" sz="1400" dirty="0"/>
          </a:p>
          <a:p>
            <a:pPr indent="0" marL="0">
              <a:buNone/>
            </a:pPr>
            <a:r>
              <a:rPr lang="en-US" sz="1400" dirty="0">
                <a:solidFill>
                  <a:schemeClr val="tx1"/>
                </a:solidFill>
              </a:rPr>
              <a:t>Le service informatique déclenche la réponse et prévient la direction.</a:t>
            </a:r>
            <a:endParaRPr lang="en-US" sz="1400" dirty="0"/>
          </a:p>
        </p:txBody>
      </p:sp>
      <p:sp>
        <p:nvSpPr>
          <p:cNvPr id="19" name="a5|ligne"/>
          <p:cNvSpPr/>
          <p:nvPr/>
        </p:nvSpPr>
        <p:spPr>
          <a:xfrm>
            <a:off x="4343400" y="4224528"/>
            <a:ext cx="7299655" cy="731520"/>
          </a:xfrm>
          <a:prstGeom prst="roundRect">
            <a:avLst>
              <a:gd name="adj" fmla="val 12500"/>
            </a:avLst>
          </a:prstGeom>
          <a:solidFill>
            <a:schemeClr val="bg2"/>
          </a:solidFill>
          <a:ln/>
        </p:spPr>
      </p:sp>
      <p:sp>
        <p:nvSpPr>
          <p:cNvPr id="20" name="a5|num"/>
          <p:cNvSpPr/>
          <p:nvPr/>
        </p:nvSpPr>
        <p:spPr>
          <a:xfrm>
            <a:off x="4544568" y="4361688"/>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a5|texte"/>
          <p:cNvSpPr txBox="1"/>
          <p:nvPr/>
        </p:nvSpPr>
        <p:spPr>
          <a:xfrm>
            <a:off x="5212080" y="4279392"/>
            <a:ext cx="6263640" cy="621792"/>
          </a:xfrm>
          <a:prstGeom prst="rect">
            <a:avLst/>
          </a:prstGeom>
          <a:noFill/>
          <a:ln/>
        </p:spPr>
        <p:txBody>
          <a:bodyPr wrap="square" lIns="0" tIns="0" rIns="0" bIns="0" rtlCol="0" anchor="ctr"/>
          <a:lstStyle/>
          <a:p>
            <a:pPr indent="0" marL="0">
              <a:buNone/>
            </a:pPr>
            <a:r>
              <a:rPr lang="en-US" sz="1600" b="1" dirty="0">
                <a:solidFill>
                  <a:schemeClr val="tx2"/>
                </a:solidFill>
              </a:rPr>
              <a:t>Changez vos mots de passe</a:t>
            </a:r>
            <a:endParaRPr lang="en-US" sz="1400" dirty="0"/>
          </a:p>
          <a:p>
            <a:pPr indent="0" marL="0">
              <a:buNone/>
            </a:pPr>
            <a:r>
              <a:rPr lang="en-US" sz="1400" dirty="0">
                <a:solidFill>
                  <a:schemeClr val="tx1"/>
                </a:solidFill>
              </a:rPr>
              <a:t>Depuis un autre appareil ; prévenez la banque si des coordonnées ont été saisies.</a:t>
            </a:r>
            <a:endParaRPr lang="en-US" sz="1400" dirty="0"/>
          </a:p>
        </p:txBody>
      </p:sp>
      <p:sp>
        <p:nvSpPr>
          <p:cNvPr id="22" name="a6|ligne"/>
          <p:cNvSpPr/>
          <p:nvPr/>
        </p:nvSpPr>
        <p:spPr>
          <a:xfrm>
            <a:off x="4343400" y="5084064"/>
            <a:ext cx="7299655" cy="731520"/>
          </a:xfrm>
          <a:prstGeom prst="roundRect">
            <a:avLst>
              <a:gd name="adj" fmla="val 12500"/>
            </a:avLst>
          </a:prstGeom>
          <a:solidFill>
            <a:schemeClr val="bg2"/>
          </a:solidFill>
          <a:ln/>
        </p:spPr>
      </p:sp>
      <p:sp>
        <p:nvSpPr>
          <p:cNvPr id="23" name="a6|num"/>
          <p:cNvSpPr/>
          <p:nvPr/>
        </p:nvSpPr>
        <p:spPr>
          <a:xfrm>
            <a:off x="4544568" y="5221224"/>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a6|texte"/>
          <p:cNvSpPr txBox="1"/>
          <p:nvPr/>
        </p:nvSpPr>
        <p:spPr>
          <a:xfrm>
            <a:off x="5212080" y="5138928"/>
            <a:ext cx="6263640" cy="621792"/>
          </a:xfrm>
          <a:prstGeom prst="rect">
            <a:avLst/>
          </a:prstGeom>
          <a:noFill/>
          <a:ln/>
        </p:spPr>
        <p:txBody>
          <a:bodyPr wrap="square" lIns="0" tIns="0" rIns="0" bIns="0" rtlCol="0" anchor="ctr"/>
          <a:lstStyle/>
          <a:p>
            <a:pPr indent="0" marL="0">
              <a:buNone/>
            </a:pPr>
            <a:r>
              <a:rPr lang="en-US" sz="1600" b="1" dirty="0">
                <a:solidFill>
                  <a:schemeClr val="tx2"/>
                </a:solidFill>
              </a:rPr>
              <a:t>Signalez et faites-vous aider</a:t>
            </a:r>
            <a:endParaRPr lang="en-US" sz="1400" dirty="0"/>
          </a:p>
          <a:p>
            <a:pPr indent="0" marL="0">
              <a:buNone/>
            </a:pPr>
            <a:r>
              <a:rPr lang="en-US" sz="1400" dirty="0">
                <a:solidFill>
                  <a:schemeClr val="tx1"/>
                </a:solidFill>
              </a:rPr>
              <a:t>17Cyber.gouv.fr ; plainte sous 72 h en cas de préjudice.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7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125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125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125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03 · RÉFLEXES</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Qui contacter ?</a:t>
            </a:r>
            <a:endParaRPr lang="en-US" sz="3600" dirty="0"/>
          </a:p>
        </p:txBody>
      </p:sp>
      <p:sp>
        <p:nvSpPr>
          <p:cNvPr id="4" name="a1|interne"/>
          <p:cNvSpPr/>
          <p:nvPr/>
        </p:nvSpPr>
        <p:spPr>
          <a:xfrm>
            <a:off x="548640" y="1645920"/>
            <a:ext cx="3246120" cy="4160520"/>
          </a:xfrm>
          <a:prstGeom prst="roundRect">
            <a:avLst>
              <a:gd name="adj" fmla="val 2817"/>
            </a:avLst>
          </a:prstGeom>
          <a:solidFill>
            <a:schemeClr val="accent2"/>
          </a:solidFill>
          <a:ln/>
        </p:spPr>
      </p:sp>
      <p:sp>
        <p:nvSpPr>
          <p:cNvPr id="5" name="a1|icône"/>
          <p:cNvSpPr/>
          <p:nvPr/>
        </p:nvSpPr>
        <p:spPr>
          <a:xfrm>
            <a:off x="868680" y="1965960"/>
            <a:ext cx="731520" cy="731520"/>
          </a:xfrm>
          <a:prstGeom prst="ellipse">
            <a:avLst/>
          </a:prstGeom>
          <a:solidFill>
            <a:schemeClr val="bg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51560" y="2148840"/>
            <a:ext cx="365760" cy="365760"/>
          </a:xfrm>
          <a:prstGeom prst="rect">
            <a:avLst/>
          </a:prstGeom>
        </p:spPr>
      </p:pic>
      <p:sp>
        <p:nvSpPr>
          <p:cNvPr id="7" name="a1|label"/>
          <p:cNvSpPr txBox="1"/>
          <p:nvPr/>
        </p:nvSpPr>
        <p:spPr>
          <a:xfrm>
            <a:off x="868680" y="2926080"/>
            <a:ext cx="2651760" cy="274320"/>
          </a:xfrm>
          <a:prstGeom prst="rect">
            <a:avLst/>
          </a:prstGeom>
          <a:noFill/>
          <a:ln/>
        </p:spPr>
        <p:txBody>
          <a:bodyPr wrap="square" lIns="0" tIns="0" rIns="0" bIns="0" rtlCol="0" anchor="t"/>
          <a:lstStyle/>
          <a:p>
            <a:pPr indent="0" marL="0">
              <a:buNone/>
            </a:pPr>
            <a:r>
              <a:rPr lang="en-US" sz="1200" b="1" spc="100" kern="0" dirty="0">
                <a:solidFill>
                  <a:schemeClr val="bg1"/>
                </a:solidFill>
              </a:rPr>
              <a:t>EN INTERNE, D'ABORD</a:t>
            </a:r>
            <a:endParaRPr lang="en-US" sz="1200" dirty="0"/>
          </a:p>
        </p:txBody>
      </p:sp>
      <p:sp>
        <p:nvSpPr>
          <p:cNvPr id="8" name="a1|contact"/>
          <p:cNvSpPr txBox="1"/>
          <p:nvPr/>
        </p:nvSpPr>
        <p:spPr>
          <a:xfrm>
            <a:off x="868680" y="3246120"/>
            <a:ext cx="2651760" cy="914400"/>
          </a:xfrm>
          <a:prstGeom prst="rect">
            <a:avLst/>
          </a:prstGeom>
          <a:noFill/>
          <a:ln/>
        </p:spPr>
        <p:txBody>
          <a:bodyPr wrap="square" lIns="0" tIns="0" rIns="0" bIns="0" rtlCol="0" anchor="t"/>
          <a:lstStyle/>
          <a:p>
            <a:pPr indent="0" marL="0">
              <a:buNone/>
            </a:pPr>
            <a:r>
              <a:rPr lang="en-US" sz="2200" b="1" dirty="0">
                <a:solidFill>
                  <a:schemeClr val="bg1"/>
                </a:solidFill>
              </a:rPr>
              <a:t>Service informatique</a:t>
            </a:r>
            <a:endParaRPr lang="en-US" sz="1400" dirty="0"/>
          </a:p>
          <a:p>
            <a:pPr indent="0" marL="0">
              <a:buNone/>
            </a:pPr>
            <a:r>
              <a:rPr lang="en-US" sz="1700" dirty="0">
                <a:solidFill>
                  <a:schemeClr val="bg1"/>
                </a:solidFill>
              </a:rPr>
              <a:t>Tafré Mefré</a:t>
            </a:r>
            <a:endParaRPr lang="en-US" sz="1400" dirty="0"/>
          </a:p>
        </p:txBody>
      </p:sp>
      <p:sp>
        <p:nvSpPr>
          <p:cNvPr id="9" name="a1|texte"/>
          <p:cNvSpPr txBox="1"/>
          <p:nvPr/>
        </p:nvSpPr>
        <p:spPr>
          <a:xfrm>
            <a:off x="868680" y="4754880"/>
            <a:ext cx="2651760" cy="731520"/>
          </a:xfrm>
          <a:prstGeom prst="rect">
            <a:avLst/>
          </a:prstGeom>
          <a:noFill/>
          <a:ln/>
        </p:spPr>
        <p:txBody>
          <a:bodyPr wrap="square" lIns="0" tIns="0" rIns="0" bIns="0" rtlCol="0" anchor="t"/>
          <a:lstStyle/>
          <a:p>
            <a:pPr indent="0" marL="0">
              <a:buNone/>
            </a:pPr>
            <a:r>
              <a:rPr lang="en-US" sz="1500" i="1" dirty="0">
                <a:solidFill>
                  <a:schemeClr val="bg1"/>
                </a:solidFill>
              </a:rPr>
              <a:t>Mieux vaut une alerte de trop qu'un silence.</a:t>
            </a:r>
            <a:endParaRPr lang="en-US" sz="1500" dirty="0"/>
          </a:p>
        </p:txBody>
      </p:sp>
      <p:sp>
        <p:nvSpPr>
          <p:cNvPr id="10" name="a2|carte"/>
          <p:cNvSpPr/>
          <p:nvPr/>
        </p:nvSpPr>
        <p:spPr>
          <a:xfrm>
            <a:off x="4023360" y="1645920"/>
            <a:ext cx="2560320" cy="1984248"/>
          </a:xfrm>
          <a:prstGeom prst="roundRect">
            <a:avLst>
              <a:gd name="adj" fmla="val 4608"/>
            </a:avLst>
          </a:prstGeom>
          <a:solidFill>
            <a:schemeClr val="bg2"/>
          </a:solidFill>
          <a:ln/>
        </p:spPr>
      </p:sp>
      <p:sp>
        <p:nvSpPr>
          <p:cNvPr id="11" name="a2|icône"/>
          <p:cNvSpPr/>
          <p:nvPr/>
        </p:nvSpPr>
        <p:spPr>
          <a:xfrm>
            <a:off x="4251960" y="1874520"/>
            <a:ext cx="530352" cy="530352"/>
          </a:xfrm>
          <a:prstGeom prst="ellipse">
            <a:avLst/>
          </a:prstGeom>
          <a:solidFill>
            <a:schemeClr val="accent2"/>
          </a:solidFill>
          <a:ln/>
        </p:spPr>
      </p:sp>
      <p:pic>
        <p:nvPicPr>
          <p:cNvPr id="12"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384548" y="2007108"/>
            <a:ext cx="265176" cy="265176"/>
          </a:xfrm>
          <a:prstGeom prst="rect">
            <a:avLst/>
          </a:prstGeom>
        </p:spPr>
      </p:pic>
      <p:sp>
        <p:nvSpPr>
          <p:cNvPr id="13" name="a2|titre"/>
          <p:cNvSpPr txBox="1"/>
          <p:nvPr/>
        </p:nvSpPr>
        <p:spPr>
          <a:xfrm>
            <a:off x="4251960" y="2514600"/>
            <a:ext cx="2194560" cy="347472"/>
          </a:xfrm>
          <a:prstGeom prst="rect">
            <a:avLst/>
          </a:prstGeom>
          <a:noFill/>
          <a:ln/>
        </p:spPr>
        <p:txBody>
          <a:bodyPr wrap="square" lIns="0" tIns="0" rIns="0" bIns="0" rtlCol="0" anchor="t"/>
          <a:lstStyle/>
          <a:p>
            <a:pPr indent="0" marL="0">
              <a:buNone/>
            </a:pPr>
            <a:r>
              <a:rPr lang="en-US" sz="1700" b="1" dirty="0">
                <a:solidFill>
                  <a:schemeClr val="tx2"/>
                </a:solidFill>
              </a:rPr>
              <a:t>17Cyber.gouv.fr</a:t>
            </a:r>
            <a:endParaRPr lang="en-US" sz="1700" dirty="0"/>
          </a:p>
        </p:txBody>
      </p:sp>
      <p:sp>
        <p:nvSpPr>
          <p:cNvPr id="14" name="a2|texte"/>
          <p:cNvSpPr txBox="1"/>
          <p:nvPr/>
        </p:nvSpPr>
        <p:spPr>
          <a:xfrm>
            <a:off x="4251960" y="2880360"/>
            <a:ext cx="2194560" cy="685800"/>
          </a:xfrm>
          <a:prstGeom prst="rect">
            <a:avLst/>
          </a:prstGeom>
          <a:noFill/>
          <a:ln/>
        </p:spPr>
        <p:txBody>
          <a:bodyPr wrap="square" lIns="0" tIns="0" rIns="0" bIns="0" rtlCol="0" anchor="t"/>
          <a:lstStyle/>
          <a:p>
            <a:pPr indent="0" marL="0">
              <a:buNone/>
            </a:pPr>
            <a:r>
              <a:rPr lang="en-US" sz="1300" dirty="0">
                <a:solidFill>
                  <a:schemeClr val="tx1"/>
                </a:solidFill>
              </a:rPr>
              <a:t>Diagnostic et assistance 24 h/24, avec la police et la gendarmerie</a:t>
            </a:r>
            <a:endParaRPr lang="en-US" sz="1300" dirty="0"/>
          </a:p>
        </p:txBody>
      </p:sp>
      <p:sp>
        <p:nvSpPr>
          <p:cNvPr id="15" name="a2|carte"/>
          <p:cNvSpPr/>
          <p:nvPr/>
        </p:nvSpPr>
        <p:spPr>
          <a:xfrm>
            <a:off x="6720840" y="1645920"/>
            <a:ext cx="2560320" cy="1984248"/>
          </a:xfrm>
          <a:prstGeom prst="roundRect">
            <a:avLst>
              <a:gd name="adj" fmla="val 4608"/>
            </a:avLst>
          </a:prstGeom>
          <a:solidFill>
            <a:schemeClr val="bg2"/>
          </a:solidFill>
          <a:ln/>
        </p:spPr>
      </p:sp>
      <p:sp>
        <p:nvSpPr>
          <p:cNvPr id="16" name="a2|icône"/>
          <p:cNvSpPr/>
          <p:nvPr/>
        </p:nvSpPr>
        <p:spPr>
          <a:xfrm>
            <a:off x="6949440" y="1874520"/>
            <a:ext cx="530352" cy="530352"/>
          </a:xfrm>
          <a:prstGeom prst="ellipse">
            <a:avLst/>
          </a:prstGeom>
          <a:solidFill>
            <a:schemeClr val="accent2"/>
          </a:solidFill>
          <a:ln/>
        </p:spPr>
      </p:sp>
      <p:pic>
        <p:nvPicPr>
          <p:cNvPr id="17" name="a2|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82028" y="2007108"/>
            <a:ext cx="265176" cy="265176"/>
          </a:xfrm>
          <a:prstGeom prst="rect">
            <a:avLst/>
          </a:prstGeom>
        </p:spPr>
      </p:pic>
      <p:sp>
        <p:nvSpPr>
          <p:cNvPr id="18" name="a2|titre"/>
          <p:cNvSpPr txBox="1"/>
          <p:nvPr/>
        </p:nvSpPr>
        <p:spPr>
          <a:xfrm>
            <a:off x="6949440" y="2514600"/>
            <a:ext cx="2194560" cy="347472"/>
          </a:xfrm>
          <a:prstGeom prst="rect">
            <a:avLst/>
          </a:prstGeom>
          <a:noFill/>
          <a:ln/>
        </p:spPr>
        <p:txBody>
          <a:bodyPr wrap="square" lIns="0" tIns="0" rIns="0" bIns="0" rtlCol="0" anchor="t"/>
          <a:lstStyle/>
          <a:p>
            <a:pPr indent="0" marL="0">
              <a:buNone/>
            </a:pPr>
            <a:r>
              <a:rPr lang="en-US" sz="1700" b="1" dirty="0">
                <a:solidFill>
                  <a:schemeClr val="tx2"/>
                </a:solidFill>
              </a:rPr>
              <a:t>Votre banque</a:t>
            </a:r>
            <a:endParaRPr lang="en-US" sz="1700" dirty="0"/>
          </a:p>
        </p:txBody>
      </p:sp>
      <p:sp>
        <p:nvSpPr>
          <p:cNvPr id="19" name="a2|texte"/>
          <p:cNvSpPr txBox="1"/>
          <p:nvPr/>
        </p:nvSpPr>
        <p:spPr>
          <a:xfrm>
            <a:off x="6949440" y="2880360"/>
            <a:ext cx="2194560" cy="685800"/>
          </a:xfrm>
          <a:prstGeom prst="rect">
            <a:avLst/>
          </a:prstGeom>
          <a:noFill/>
          <a:ln/>
        </p:spPr>
        <p:txBody>
          <a:bodyPr wrap="square" lIns="0" tIns="0" rIns="0" bIns="0" rtlCol="0" anchor="t"/>
          <a:lstStyle/>
          <a:p>
            <a:pPr indent="0" marL="0">
              <a:buNone/>
            </a:pPr>
            <a:r>
              <a:rPr lang="en-US" sz="1300" dirty="0">
                <a:solidFill>
                  <a:schemeClr val="tx1"/>
                </a:solidFill>
              </a:rPr>
              <a:t>Virement frauduleux : appeler tout de suite pour tenter un rappel des fonds</a:t>
            </a:r>
            <a:endParaRPr lang="en-US" sz="1300" dirty="0"/>
          </a:p>
        </p:txBody>
      </p:sp>
      <p:sp>
        <p:nvSpPr>
          <p:cNvPr id="20" name="a3|carte"/>
          <p:cNvSpPr/>
          <p:nvPr/>
        </p:nvSpPr>
        <p:spPr>
          <a:xfrm>
            <a:off x="4023360" y="3776472"/>
            <a:ext cx="2560320" cy="1984248"/>
          </a:xfrm>
          <a:prstGeom prst="roundRect">
            <a:avLst>
              <a:gd name="adj" fmla="val 4608"/>
            </a:avLst>
          </a:prstGeom>
          <a:solidFill>
            <a:schemeClr val="bg2"/>
          </a:solidFill>
          <a:ln/>
        </p:spPr>
      </p:sp>
      <p:sp>
        <p:nvSpPr>
          <p:cNvPr id="21" name="a3|icône"/>
          <p:cNvSpPr/>
          <p:nvPr/>
        </p:nvSpPr>
        <p:spPr>
          <a:xfrm>
            <a:off x="4251960" y="4005072"/>
            <a:ext cx="530352" cy="530352"/>
          </a:xfrm>
          <a:prstGeom prst="ellipse">
            <a:avLst/>
          </a:prstGeom>
          <a:solidFill>
            <a:schemeClr val="accent2"/>
          </a:solidFill>
          <a:ln/>
        </p:spPr>
      </p:sp>
      <p:pic>
        <p:nvPicPr>
          <p:cNvPr id="22" name="a3|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384548" y="4137660"/>
            <a:ext cx="265176" cy="265176"/>
          </a:xfrm>
          <a:prstGeom prst="rect">
            <a:avLst/>
          </a:prstGeom>
        </p:spPr>
      </p:pic>
      <p:sp>
        <p:nvSpPr>
          <p:cNvPr id="23" name="a3|titre"/>
          <p:cNvSpPr txBox="1"/>
          <p:nvPr/>
        </p:nvSpPr>
        <p:spPr>
          <a:xfrm>
            <a:off x="4251960" y="4645152"/>
            <a:ext cx="2194560" cy="347472"/>
          </a:xfrm>
          <a:prstGeom prst="rect">
            <a:avLst/>
          </a:prstGeom>
          <a:noFill/>
          <a:ln/>
        </p:spPr>
        <p:txBody>
          <a:bodyPr wrap="square" lIns="0" tIns="0" rIns="0" bIns="0" rtlCol="0" anchor="t"/>
          <a:lstStyle/>
          <a:p>
            <a:pPr indent="0" marL="0">
              <a:buNone/>
            </a:pPr>
            <a:r>
              <a:rPr lang="en-US" sz="1700" b="1" dirty="0">
                <a:solidFill>
                  <a:schemeClr val="tx2"/>
                </a:solidFill>
              </a:rPr>
              <a:t>signal-spam.fr</a:t>
            </a:r>
            <a:endParaRPr lang="en-US" sz="1700" dirty="0"/>
          </a:p>
        </p:txBody>
      </p:sp>
      <p:sp>
        <p:nvSpPr>
          <p:cNvPr id="24" name="a3|texte"/>
          <p:cNvSpPr txBox="1"/>
          <p:nvPr/>
        </p:nvSpPr>
        <p:spPr>
          <a:xfrm>
            <a:off x="4251960" y="5010912"/>
            <a:ext cx="2194560" cy="685800"/>
          </a:xfrm>
          <a:prstGeom prst="rect">
            <a:avLst/>
          </a:prstGeom>
          <a:noFill/>
          <a:ln/>
        </p:spPr>
        <p:txBody>
          <a:bodyPr wrap="square" lIns="0" tIns="0" rIns="0" bIns="0" rtlCol="0" anchor="t"/>
          <a:lstStyle/>
          <a:p>
            <a:pPr indent="0" marL="0">
              <a:buNone/>
            </a:pPr>
            <a:r>
              <a:rPr lang="en-US" sz="1300" dirty="0">
                <a:solidFill>
                  <a:schemeClr val="tx1"/>
                </a:solidFill>
              </a:rPr>
              <a:t>Signaler un e-mail frauduleux</a:t>
            </a:r>
            <a:endParaRPr lang="en-US" sz="1300" dirty="0"/>
          </a:p>
        </p:txBody>
      </p:sp>
      <p:sp>
        <p:nvSpPr>
          <p:cNvPr id="25" name="a3|carte"/>
          <p:cNvSpPr/>
          <p:nvPr/>
        </p:nvSpPr>
        <p:spPr>
          <a:xfrm>
            <a:off x="6720840" y="3776472"/>
            <a:ext cx="2560320" cy="1984248"/>
          </a:xfrm>
          <a:prstGeom prst="roundRect">
            <a:avLst>
              <a:gd name="adj" fmla="val 4608"/>
            </a:avLst>
          </a:prstGeom>
          <a:solidFill>
            <a:schemeClr val="bg2"/>
          </a:solidFill>
          <a:ln/>
        </p:spPr>
      </p:sp>
      <p:sp>
        <p:nvSpPr>
          <p:cNvPr id="26" name="a3|icône"/>
          <p:cNvSpPr/>
          <p:nvPr/>
        </p:nvSpPr>
        <p:spPr>
          <a:xfrm>
            <a:off x="6949440" y="4005072"/>
            <a:ext cx="530352" cy="530352"/>
          </a:xfrm>
          <a:prstGeom prst="ellipse">
            <a:avLst/>
          </a:prstGeom>
          <a:solidFill>
            <a:schemeClr val="accent2"/>
          </a:solidFill>
          <a:ln/>
        </p:spPr>
      </p:sp>
      <p:pic>
        <p:nvPicPr>
          <p:cNvPr id="27" name="a3|icôn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82028" y="4137660"/>
            <a:ext cx="265176" cy="265176"/>
          </a:xfrm>
          <a:prstGeom prst="rect">
            <a:avLst/>
          </a:prstGeom>
        </p:spPr>
      </p:pic>
      <p:sp>
        <p:nvSpPr>
          <p:cNvPr id="28" name="a3|titre"/>
          <p:cNvSpPr txBox="1"/>
          <p:nvPr/>
        </p:nvSpPr>
        <p:spPr>
          <a:xfrm>
            <a:off x="6949440" y="4645152"/>
            <a:ext cx="2194560" cy="347472"/>
          </a:xfrm>
          <a:prstGeom prst="rect">
            <a:avLst/>
          </a:prstGeom>
          <a:noFill/>
          <a:ln/>
        </p:spPr>
        <p:txBody>
          <a:bodyPr wrap="square" lIns="0" tIns="0" rIns="0" bIns="0" rtlCol="0" anchor="t"/>
          <a:lstStyle/>
          <a:p>
            <a:pPr indent="0" marL="0">
              <a:buNone/>
            </a:pPr>
            <a:r>
              <a:rPr lang="en-US" sz="1700" b="1" dirty="0">
                <a:solidFill>
                  <a:schemeClr val="tx2"/>
                </a:solidFill>
              </a:rPr>
              <a:t>33700</a:t>
            </a:r>
            <a:endParaRPr lang="en-US" sz="1700" dirty="0"/>
          </a:p>
        </p:txBody>
      </p:sp>
      <p:sp>
        <p:nvSpPr>
          <p:cNvPr id="29" name="a3|texte"/>
          <p:cNvSpPr txBox="1"/>
          <p:nvPr/>
        </p:nvSpPr>
        <p:spPr>
          <a:xfrm>
            <a:off x="6949440" y="5010912"/>
            <a:ext cx="2194560" cy="685800"/>
          </a:xfrm>
          <a:prstGeom prst="rect">
            <a:avLst/>
          </a:prstGeom>
          <a:noFill/>
          <a:ln/>
        </p:spPr>
        <p:txBody>
          <a:bodyPr wrap="square" lIns="0" tIns="0" rIns="0" bIns="0" rtlCol="0" anchor="t"/>
          <a:lstStyle/>
          <a:p>
            <a:pPr indent="0" marL="0">
              <a:buNone/>
            </a:pPr>
            <a:r>
              <a:rPr lang="en-US" sz="1300" dirty="0">
                <a:solidFill>
                  <a:schemeClr val="tx1"/>
                </a:solidFill>
              </a:rPr>
              <a:t>Transférer gratuitement un SMS frauduleux</a:t>
            </a:r>
            <a:endParaRPr lang="en-US" sz="1300" dirty="0"/>
          </a:p>
        </p:txBody>
      </p:sp>
      <p:sp>
        <p:nvSpPr>
          <p:cNvPr id="30" name="a4|qr"/>
          <p:cNvSpPr/>
          <p:nvPr/>
        </p:nvSpPr>
        <p:spPr>
          <a:xfrm>
            <a:off x="9418320" y="1645920"/>
            <a:ext cx="2224735" cy="4160520"/>
          </a:xfrm>
          <a:prstGeom prst="roundRect">
            <a:avLst>
              <a:gd name="adj" fmla="val 4110"/>
            </a:avLst>
          </a:prstGeom>
          <a:solidFill>
            <a:schemeClr val="bg1"/>
          </a:solidFill>
          <a:ln/>
          <a:effectLst>
            <a:outerShdw sx="100000" sy="100000" kx="0" ky="0" algn="bl" rotWithShape="0" blurRad="114300" dist="25400" dir="5400000">
              <a:srgbClr val="0E2235">
                <a:alpha val="12000"/>
              </a:srgbClr>
            </a:outerShdw>
          </a:effectLst>
        </p:spPr>
      </p:sp>
      <p:pic>
        <p:nvPicPr>
          <p:cNvPr id="31" name="a4|qr" descr="QR code vers https://17cyber.gouv.fr">    </p:cNvPr>
          <p:cNvPicPr>
            <a:picLocks noChangeAspect="1"/>
          </p:cNvPicPr>
          <p:nvPr/>
        </p:nvPicPr>
        <p:blipFill>
          <a:blip r:embed="rId6"/>
          <a:stretch>
            <a:fillRect/>
          </a:stretch>
        </p:blipFill>
        <p:spPr>
          <a:xfrm>
            <a:off x="9619488" y="1828800"/>
            <a:ext cx="1828800" cy="1828800"/>
          </a:xfrm>
          <a:prstGeom prst="rect">
            <a:avLst/>
          </a:prstGeom>
        </p:spPr>
      </p:pic>
      <p:sp>
        <p:nvSpPr>
          <p:cNvPr id="32" name="a4|texte"/>
          <p:cNvSpPr txBox="1"/>
          <p:nvPr/>
        </p:nvSpPr>
        <p:spPr>
          <a:xfrm>
            <a:off x="9601200" y="3794760"/>
            <a:ext cx="1874520" cy="187452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Exercice de quishing</a:t>
            </a:r>
            <a:endParaRPr lang="en-US" sz="1400" dirty="0"/>
          </a:p>
          <a:p>
            <a:pPr indent="0" marL="0">
              <a:spcAft>
                <a:spcPts val="400"/>
              </a:spcAft>
              <a:buNone/>
            </a:pPr>
            <a:r>
              <a:rPr lang="en-US" sz="1300" dirty="0">
                <a:solidFill>
                  <a:schemeClr val="tx1"/>
                </a:solidFill>
              </a:rPr>
              <a:t>Avant d'ouvrir, vérifiez l'adresse affichée : elle doit être 17cyber.gouv.fr.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nodeType="withEffect">
                                  <p:stCondLst>
                                    <p:cond delay="2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2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2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nodeType="withEffect">
                                  <p:stCondLst>
                                    <p:cond delay="5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5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nodeType="withEffect">
                                  <p:stCondLst>
                                    <p:cond delay="5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5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5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75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nodeType="withEffect">
                                  <p:stCondLst>
                                    <p:cond delay="75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75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a1|numéro"/>
          <p:cNvSpPr txBox="1"/>
          <p:nvPr/>
        </p:nvSpPr>
        <p:spPr>
          <a:xfrm>
            <a:off x="731520" y="1325880"/>
            <a:ext cx="3657600" cy="1737360"/>
          </a:xfrm>
          <a:prstGeom prst="rect">
            <a:avLst/>
          </a:prstGeom>
          <a:noFill/>
          <a:ln/>
        </p:spPr>
        <p:txBody>
          <a:bodyPr wrap="square" lIns="0" tIns="0" rIns="0" bIns="0" rtlCol="0" anchor="t"/>
          <a:lstStyle/>
          <a:p>
            <a:pPr indent="0" marL="0">
              <a:buNone/>
            </a:pPr>
            <a:r>
              <a:rPr lang="en-US" sz="12000" b="1" dirty="0">
                <a:solidFill>
                  <a:schemeClr val="accent2"/>
                </a:solidFill>
              </a:rPr>
              <a:t>04</a:t>
            </a:r>
            <a:endParaRPr lang="en-US" sz="12000" dirty="0"/>
          </a:p>
        </p:txBody>
      </p:sp>
      <p:sp>
        <p:nvSpPr>
          <p:cNvPr id="3" name="Text 0"/>
          <p:cNvSpPr/>
          <p:nvPr>
            <p:ph idx="100" type="title" hasCustomPrompt="1"/>
          </p:nvPr>
        </p:nvSpPr>
        <p:spPr>
          <a:xfrm>
            <a:off x="731520" y="3154680"/>
            <a:ext cx="6949440" cy="868680"/>
          </a:xfrm>
          <a:prstGeom prst="rect">
            <a:avLst/>
          </a:prstGeom>
          <a:noFill/>
          <a:ln/>
        </p:spPr>
        <p:txBody>
          <a:bodyPr wrap="square" lIns="0" tIns="0" rIns="0" bIns="0" rtlCol="0" anchor="t"/>
          <a:lstStyle/>
          <a:p>
            <a:pPr algn="l" indent="0" marL="0">
              <a:buNone/>
            </a:pPr>
            <a:r>
              <a:rPr lang="en-US" sz="4400" b="1" dirty="0">
                <a:solidFill>
                  <a:schemeClr val="bg1"/>
                </a:solidFill>
              </a:rPr>
              <a:t>Plan d'action</a:t>
            </a:r>
            <a:endParaRPr lang="en-US" sz="4400" dirty="0"/>
          </a:p>
        </p:txBody>
      </p:sp>
      <p:sp>
        <p:nvSpPr>
          <p:cNvPr id="4" name="Text 0"/>
          <p:cNvSpPr/>
          <p:nvPr>
            <p:ph idx="101" type="body" hasCustomPrompt="1"/>
          </p:nvPr>
        </p:nvSpPr>
        <p:spPr>
          <a:xfrm>
            <a:off x="731520" y="4114800"/>
            <a:ext cx="6766560" cy="822960"/>
          </a:xfrm>
          <a:prstGeom prst="rect">
            <a:avLst/>
          </a:prstGeom>
          <a:noFill/>
          <a:ln/>
        </p:spPr>
        <p:txBody>
          <a:bodyPr wrap="square" lIns="0" tIns="0" rIns="0" bIns="0" rtlCol="0" anchor="t"/>
          <a:lstStyle/>
          <a:p>
            <a:pPr algn="l" indent="0" marL="0">
              <a:buNone/>
            </a:pPr>
            <a:r>
              <a:rPr lang="en-US" sz="2000" dirty="0">
                <a:solidFill>
                  <a:schemeClr val="bg2"/>
                </a:solidFill>
              </a:rPr>
              <a:t>Ce que l'entreprise met en place, et les décisions attendues</a:t>
            </a:r>
            <a:endParaRPr lang="en-US" sz="2000" dirty="0"/>
          </a:p>
        </p:txBody>
      </p:sp>
      <p:pic>
        <p:nvPicPr>
          <p:cNvPr id="5" name="a1|illustration" descr="">
            <a:extLst>
              <a:ext uri="{C183D7F6-B498-43B3-948B-1728B52AA6E4}">
                <adec:decorative xmlns:adec="http://schemas.microsoft.com/office/drawing/2017/decorative" val="1"/>
              </a:ext>
            </a:extLst>
          </p:cNvPr>
          <p:cNvPicPr>
            <a:picLocks noChangeAspect="1"/>
          </p:cNvPicPr>
          <p:nvPr/>
        </p:nvPicPr>
        <p:blipFill>
          <a:blip r:embed="rId1">
            <a:alphaModFix amt="12000"/>
          </a:blip>
          <a:stretch>
            <a:fillRect/>
          </a:stretch>
        </p:blipFill>
        <p:spPr>
          <a:xfrm>
            <a:off x="8183880" y="1417320"/>
            <a:ext cx="3291840" cy="3291840"/>
          </a:xfrm>
          <a:prstGeom prst="rect">
            <a:avLst/>
          </a:prstGeom>
        </p:spPr>
      </p:pic>
      <p:sp>
        <p:nvSpPr>
          <p:cNvPr id="6" name="Text 3"/>
          <p:cNvSpPr txBox="1"/>
          <p:nvPr/>
        </p:nvSpPr>
        <p:spPr>
          <a:xfrm>
            <a:off x="7315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01  La menace</a:t>
            </a:r>
            <a:endParaRPr lang="en-US" sz="1300" dirty="0"/>
          </a:p>
        </p:txBody>
      </p:sp>
      <p:sp>
        <p:nvSpPr>
          <p:cNvPr id="7" name="Text 4"/>
          <p:cNvSpPr txBox="1"/>
          <p:nvPr/>
        </p:nvSpPr>
        <p:spPr>
          <a:xfrm>
            <a:off x="32461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02  Reconnaître</a:t>
            </a:r>
            <a:endParaRPr lang="en-US" sz="1300" dirty="0"/>
          </a:p>
        </p:txBody>
      </p:sp>
      <p:sp>
        <p:nvSpPr>
          <p:cNvPr id="8" name="Text 5"/>
          <p:cNvSpPr txBox="1"/>
          <p:nvPr/>
        </p:nvSpPr>
        <p:spPr>
          <a:xfrm>
            <a:off x="5760720" y="5897880"/>
            <a:ext cx="2377440" cy="320040"/>
          </a:xfrm>
          <a:prstGeom prst="rect">
            <a:avLst/>
          </a:prstGeom>
          <a:noFill/>
          <a:ln/>
        </p:spPr>
        <p:txBody>
          <a:bodyPr wrap="square" lIns="0" tIns="0" rIns="0" bIns="0" rtlCol="0" anchor="ctr"/>
          <a:lstStyle/>
          <a:p>
            <a:pPr indent="0" marL="0">
              <a:buNone/>
            </a:pPr>
            <a:r>
              <a:rPr lang="en-US" sz="1300" dirty="0">
                <a:solidFill>
                  <a:schemeClr val="bg1">
                    <a:alpha val="45000"/>
                  </a:schemeClr>
                </a:solidFill>
              </a:rPr>
              <a:t>03  Réflexes</a:t>
            </a:r>
            <a:endParaRPr lang="en-US" sz="1300" dirty="0"/>
          </a:p>
        </p:txBody>
      </p:sp>
      <p:sp>
        <p:nvSpPr>
          <p:cNvPr id="9" name="Text 6"/>
          <p:cNvSpPr txBox="1"/>
          <p:nvPr/>
        </p:nvSpPr>
        <p:spPr>
          <a:xfrm>
            <a:off x="8275320" y="5897880"/>
            <a:ext cx="2377440" cy="320040"/>
          </a:xfrm>
          <a:prstGeom prst="rect">
            <a:avLst/>
          </a:prstGeom>
          <a:noFill/>
          <a:ln/>
        </p:spPr>
        <p:txBody>
          <a:bodyPr wrap="square" lIns="0" tIns="0" rIns="0" bIns="0" rtlCol="0" anchor="ctr"/>
          <a:lstStyle/>
          <a:p>
            <a:pPr indent="0" marL="0">
              <a:buNone/>
            </a:pPr>
            <a:r>
              <a:rPr lang="en-US" sz="1300" b="1" dirty="0">
                <a:solidFill>
                  <a:schemeClr val="bg1"/>
                </a:solidFill>
              </a:rPr>
              <a:t>04  Plan d'action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04 · PLAN D'ACTION</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La direction, premier rempart</a:t>
            </a:r>
            <a:endParaRPr lang="en-US" sz="3600" dirty="0"/>
          </a:p>
        </p:txBody>
      </p:sp>
      <p:sp>
        <p:nvSpPr>
          <p:cNvPr id="4" name="a1|panneau"/>
          <p:cNvSpPr/>
          <p:nvPr/>
        </p:nvSpPr>
        <p:spPr>
          <a:xfrm>
            <a:off x="548640" y="1645920"/>
            <a:ext cx="3840480" cy="4160520"/>
          </a:xfrm>
          <a:prstGeom prst="roundRect">
            <a:avLst>
              <a:gd name="adj" fmla="val 2381"/>
            </a:avLst>
          </a:prstGeom>
          <a:solidFill>
            <a:schemeClr val="tx2"/>
          </a:solidFill>
          <a:ln/>
        </p:spPr>
      </p:sp>
      <p:sp>
        <p:nvSpPr>
          <p:cNvPr id="5" name="a1|icône"/>
          <p:cNvSpPr/>
          <p:nvPr/>
        </p:nvSpPr>
        <p:spPr>
          <a:xfrm>
            <a:off x="868680" y="1965960"/>
            <a:ext cx="731520" cy="731520"/>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51560" y="2148840"/>
            <a:ext cx="365760" cy="365760"/>
          </a:xfrm>
          <a:prstGeom prst="rect">
            <a:avLst/>
          </a:prstGeom>
        </p:spPr>
      </p:pic>
      <p:sp>
        <p:nvSpPr>
          <p:cNvPr id="7" name="a1|titre"/>
          <p:cNvSpPr txBox="1"/>
          <p:nvPr/>
        </p:nvSpPr>
        <p:spPr>
          <a:xfrm>
            <a:off x="868680" y="2880360"/>
            <a:ext cx="3200400" cy="457200"/>
          </a:xfrm>
          <a:prstGeom prst="rect">
            <a:avLst/>
          </a:prstGeom>
          <a:noFill/>
          <a:ln/>
        </p:spPr>
        <p:txBody>
          <a:bodyPr wrap="square" lIns="0" tIns="0" rIns="0" bIns="0" rtlCol="0" anchor="t"/>
          <a:lstStyle/>
          <a:p>
            <a:pPr indent="0" marL="0">
              <a:buNone/>
            </a:pPr>
            <a:r>
              <a:rPr lang="en-US" sz="2100" b="1" dirty="0">
                <a:solidFill>
                  <a:schemeClr val="bg1"/>
                </a:solidFill>
              </a:rPr>
              <a:t>Pourquoi la direction ?</a:t>
            </a:r>
            <a:endParaRPr lang="en-US" sz="2100" dirty="0"/>
          </a:p>
        </p:txBody>
      </p:sp>
      <p:sp>
        <p:nvSpPr>
          <p:cNvPr id="8" name="a1|texte"/>
          <p:cNvSpPr txBox="1"/>
          <p:nvPr/>
        </p:nvSpPr>
        <p:spPr>
          <a:xfrm>
            <a:off x="868680" y="3429000"/>
            <a:ext cx="3200400" cy="1463040"/>
          </a:xfrm>
          <a:prstGeom prst="rect">
            <a:avLst/>
          </a:prstGeom>
          <a:noFill/>
          <a:ln/>
        </p:spPr>
        <p:txBody>
          <a:bodyPr wrap="square" lIns="0" tIns="0" rIns="0" bIns="0" rtlCol="0" anchor="t"/>
          <a:lstStyle/>
          <a:p>
            <a:pPr indent="0" marL="0">
              <a:buNone/>
            </a:pPr>
            <a:r>
              <a:rPr lang="en-US" sz="1500" dirty="0">
                <a:solidFill>
                  <a:schemeClr val="bg2"/>
                </a:solidFill>
              </a:rPr>
              <a:t>Dirigeants et comptabilité sont les cibles n°1 de la fraude au président : l'attaquant exploite l'autorité, l'urgence et la confidentialité.</a:t>
            </a:r>
            <a:endParaRPr lang="en-US" sz="1500" dirty="0"/>
          </a:p>
        </p:txBody>
      </p:sp>
      <p:sp>
        <p:nvSpPr>
          <p:cNvPr id="9" name="a1|chute"/>
          <p:cNvSpPr txBox="1"/>
          <p:nvPr/>
        </p:nvSpPr>
        <p:spPr>
          <a:xfrm>
            <a:off x="868680" y="4892040"/>
            <a:ext cx="3200400" cy="777240"/>
          </a:xfrm>
          <a:prstGeom prst="rect">
            <a:avLst/>
          </a:prstGeom>
          <a:noFill/>
          <a:ln/>
        </p:spPr>
        <p:txBody>
          <a:bodyPr wrap="square" lIns="0" tIns="0" rIns="0" bIns="0" rtlCol="0" anchor="t"/>
          <a:lstStyle/>
          <a:p>
            <a:pPr indent="0" marL="0">
              <a:buNone/>
            </a:pPr>
            <a:r>
              <a:rPr lang="en-US" sz="1400" b="1" dirty="0">
                <a:solidFill>
                  <a:schemeClr val="accent4"/>
                </a:solidFill>
              </a:rPr>
              <a:t>Un collaborateur n'ose pas vérifier un ordre du patron… sauf si le patron l'y autorise.</a:t>
            </a:r>
            <a:endParaRPr lang="en-US" sz="1400" dirty="0"/>
          </a:p>
        </p:txBody>
      </p:sp>
      <p:sp>
        <p:nvSpPr>
          <p:cNvPr id="10" name="a2|ligne"/>
          <p:cNvSpPr/>
          <p:nvPr/>
        </p:nvSpPr>
        <p:spPr>
          <a:xfrm>
            <a:off x="4617720" y="1645920"/>
            <a:ext cx="7025335" cy="932688"/>
          </a:xfrm>
          <a:prstGeom prst="roundRect">
            <a:avLst>
              <a:gd name="adj" fmla="val 9804"/>
            </a:avLst>
          </a:prstGeom>
          <a:solidFill>
            <a:schemeClr val="bg2"/>
          </a:solidFill>
          <a:ln/>
        </p:spPr>
      </p:sp>
      <p:sp>
        <p:nvSpPr>
          <p:cNvPr id="11" name="a2|num"/>
          <p:cNvSpPr/>
          <p:nvPr/>
        </p:nvSpPr>
        <p:spPr>
          <a:xfrm>
            <a:off x="4846320" y="1865376"/>
            <a:ext cx="502920" cy="50292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2" name="a2|texte"/>
          <p:cNvSpPr txBox="1"/>
          <p:nvPr/>
        </p:nvSpPr>
        <p:spPr>
          <a:xfrm>
            <a:off x="5577840" y="1719072"/>
            <a:ext cx="5897880" cy="786384"/>
          </a:xfrm>
          <a:prstGeom prst="rect">
            <a:avLst/>
          </a:prstGeom>
          <a:noFill/>
          <a:ln/>
        </p:spPr>
        <p:txBody>
          <a:bodyPr wrap="square" lIns="0" tIns="0" rIns="0" bIns="0" rtlCol="0" anchor="ctr"/>
          <a:lstStyle/>
          <a:p>
            <a:pPr indent="0" marL="0">
              <a:buNone/>
            </a:pPr>
            <a:r>
              <a:rPr lang="en-US" sz="1700" b="1" dirty="0">
                <a:solidFill>
                  <a:schemeClr val="tx2"/>
                </a:solidFill>
              </a:rPr>
              <a:t>Annoncer la règle</a:t>
            </a:r>
            <a:endParaRPr lang="en-US" sz="1400" dirty="0"/>
          </a:p>
          <a:p>
            <a:pPr indent="0" marL="0">
              <a:buNone/>
            </a:pPr>
            <a:r>
              <a:rPr lang="en-US" sz="1400" dirty="0">
                <a:solidFill>
                  <a:schemeClr val="tx1"/>
                </a:solidFill>
              </a:rPr>
              <a:t>« Je ne demanderai jamais de virement urgent et confidentiel par e-mail, SMS ou téléphone. »</a:t>
            </a:r>
            <a:endParaRPr lang="en-US" sz="1400" dirty="0"/>
          </a:p>
        </p:txBody>
      </p:sp>
      <p:sp>
        <p:nvSpPr>
          <p:cNvPr id="13" name="a3|ligne"/>
          <p:cNvSpPr/>
          <p:nvPr/>
        </p:nvSpPr>
        <p:spPr>
          <a:xfrm>
            <a:off x="4617720" y="2715768"/>
            <a:ext cx="7025335" cy="932688"/>
          </a:xfrm>
          <a:prstGeom prst="roundRect">
            <a:avLst>
              <a:gd name="adj" fmla="val 9804"/>
            </a:avLst>
          </a:prstGeom>
          <a:solidFill>
            <a:schemeClr val="bg2"/>
          </a:solidFill>
          <a:ln/>
        </p:spPr>
      </p:sp>
      <p:sp>
        <p:nvSpPr>
          <p:cNvPr id="14" name="a3|num"/>
          <p:cNvSpPr/>
          <p:nvPr/>
        </p:nvSpPr>
        <p:spPr>
          <a:xfrm>
            <a:off x="4846320" y="2935224"/>
            <a:ext cx="502920" cy="50292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5" name="a3|texte"/>
          <p:cNvSpPr txBox="1"/>
          <p:nvPr/>
        </p:nvSpPr>
        <p:spPr>
          <a:xfrm>
            <a:off x="5577840" y="2788920"/>
            <a:ext cx="5897880" cy="786384"/>
          </a:xfrm>
          <a:prstGeom prst="rect">
            <a:avLst/>
          </a:prstGeom>
          <a:noFill/>
          <a:ln/>
        </p:spPr>
        <p:txBody>
          <a:bodyPr wrap="square" lIns="0" tIns="0" rIns="0" bIns="0" rtlCol="0" anchor="ctr"/>
          <a:lstStyle/>
          <a:p>
            <a:pPr indent="0" marL="0">
              <a:buNone/>
            </a:pPr>
            <a:r>
              <a:rPr lang="en-US" sz="1700" b="1" dirty="0">
                <a:solidFill>
                  <a:schemeClr val="tx2"/>
                </a:solidFill>
              </a:rPr>
              <a:t>Accepter d'être vérifié</a:t>
            </a:r>
            <a:endParaRPr lang="en-US" sz="1400" dirty="0"/>
          </a:p>
          <a:p>
            <a:pPr indent="0" marL="0">
              <a:buNone/>
            </a:pPr>
            <a:r>
              <a:rPr lang="en-US" sz="1400" dirty="0">
                <a:solidFill>
                  <a:schemeClr val="tx1"/>
                </a:solidFill>
              </a:rPr>
              <a:t>Un collaborateur qui rappelle pour confirmer applique la procédure : il faut le remercier.</a:t>
            </a:r>
            <a:endParaRPr lang="en-US" sz="1400" dirty="0"/>
          </a:p>
        </p:txBody>
      </p:sp>
      <p:sp>
        <p:nvSpPr>
          <p:cNvPr id="16" name="a4|ligne"/>
          <p:cNvSpPr/>
          <p:nvPr/>
        </p:nvSpPr>
        <p:spPr>
          <a:xfrm>
            <a:off x="4617720" y="3785616"/>
            <a:ext cx="7025335" cy="932688"/>
          </a:xfrm>
          <a:prstGeom prst="roundRect">
            <a:avLst>
              <a:gd name="adj" fmla="val 9804"/>
            </a:avLst>
          </a:prstGeom>
          <a:solidFill>
            <a:schemeClr val="bg2"/>
          </a:solidFill>
          <a:ln/>
        </p:spPr>
      </p:sp>
      <p:sp>
        <p:nvSpPr>
          <p:cNvPr id="17" name="a4|num"/>
          <p:cNvSpPr/>
          <p:nvPr/>
        </p:nvSpPr>
        <p:spPr>
          <a:xfrm>
            <a:off x="4846320" y="4005072"/>
            <a:ext cx="502920" cy="50292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8" name="a4|texte"/>
          <p:cNvSpPr txBox="1"/>
          <p:nvPr/>
        </p:nvSpPr>
        <p:spPr>
          <a:xfrm>
            <a:off x="5577840" y="3858768"/>
            <a:ext cx="5897880" cy="786384"/>
          </a:xfrm>
          <a:prstGeom prst="rect">
            <a:avLst/>
          </a:prstGeom>
          <a:noFill/>
          <a:ln/>
        </p:spPr>
        <p:txBody>
          <a:bodyPr wrap="square" lIns="0" tIns="0" rIns="0" bIns="0" rtlCol="0" anchor="ctr"/>
          <a:lstStyle/>
          <a:p>
            <a:pPr indent="0" marL="0">
              <a:buNone/>
            </a:pPr>
            <a:r>
              <a:rPr lang="en-US" sz="1700" b="1" dirty="0">
                <a:solidFill>
                  <a:schemeClr val="tx2"/>
                </a:solidFill>
              </a:rPr>
              <a:t>Montrer l'exemple</a:t>
            </a:r>
            <a:endParaRPr lang="en-US" sz="1400" dirty="0"/>
          </a:p>
          <a:p>
            <a:pPr indent="0" marL="0">
              <a:buNone/>
            </a:pPr>
            <a:r>
              <a:rPr lang="en-US" sz="1400" dirty="0">
                <a:solidFill>
                  <a:schemeClr val="tx1"/>
                </a:solidFill>
              </a:rPr>
              <a:t>MFA, procédure de virement, formation : les mêmes règles pour la direction.</a:t>
            </a:r>
            <a:endParaRPr lang="en-US" sz="1400" dirty="0"/>
          </a:p>
        </p:txBody>
      </p:sp>
      <p:sp>
        <p:nvSpPr>
          <p:cNvPr id="19" name="a5|ligne"/>
          <p:cNvSpPr/>
          <p:nvPr/>
        </p:nvSpPr>
        <p:spPr>
          <a:xfrm>
            <a:off x="4617720" y="4855464"/>
            <a:ext cx="7025335" cy="932688"/>
          </a:xfrm>
          <a:prstGeom prst="roundRect">
            <a:avLst>
              <a:gd name="adj" fmla="val 9804"/>
            </a:avLst>
          </a:prstGeom>
          <a:solidFill>
            <a:schemeClr val="bg2"/>
          </a:solidFill>
          <a:ln/>
        </p:spPr>
      </p:sp>
      <p:sp>
        <p:nvSpPr>
          <p:cNvPr id="20" name="a5|num"/>
          <p:cNvSpPr/>
          <p:nvPr/>
        </p:nvSpPr>
        <p:spPr>
          <a:xfrm>
            <a:off x="4846320" y="5074920"/>
            <a:ext cx="502920" cy="50292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1" name="a5|texte"/>
          <p:cNvSpPr txBox="1"/>
          <p:nvPr/>
        </p:nvSpPr>
        <p:spPr>
          <a:xfrm>
            <a:off x="5577840" y="4928616"/>
            <a:ext cx="5897880" cy="786384"/>
          </a:xfrm>
          <a:prstGeom prst="rect">
            <a:avLst/>
          </a:prstGeom>
          <a:noFill/>
          <a:ln/>
        </p:spPr>
        <p:txBody>
          <a:bodyPr wrap="square" lIns="0" tIns="0" rIns="0" bIns="0" rtlCol="0" anchor="ctr"/>
          <a:lstStyle/>
          <a:p>
            <a:pPr indent="0" marL="0">
              <a:buNone/>
            </a:pPr>
            <a:r>
              <a:rPr lang="en-US" sz="1700" b="1" dirty="0">
                <a:solidFill>
                  <a:schemeClr val="tx2"/>
                </a:solidFill>
              </a:rPr>
              <a:t>Protéger qui signale</a:t>
            </a:r>
            <a:endParaRPr lang="en-US" sz="1400" dirty="0"/>
          </a:p>
          <a:p>
            <a:pPr indent="0" marL="0">
              <a:buNone/>
            </a:pPr>
            <a:r>
              <a:rPr lang="en-US" sz="1400" dirty="0">
                <a:solidFill>
                  <a:schemeClr val="tx1"/>
                </a:solidFill>
              </a:rPr>
              <a:t>Aucune sanction après un clic signalé : la honte fait perdre des heures précieuses.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75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04 · PLAN D'ACTION</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Plan d'action en trois temps</a:t>
            </a:r>
            <a:endParaRPr lang="en-US" sz="3600" dirty="0"/>
          </a:p>
        </p:txBody>
      </p:sp>
      <p:sp>
        <p:nvSpPr>
          <p:cNvPr id="4" name="a1|colonne"/>
          <p:cNvSpPr/>
          <p:nvPr/>
        </p:nvSpPr>
        <p:spPr>
          <a:xfrm>
            <a:off x="548640" y="1645920"/>
            <a:ext cx="3547872" cy="4160520"/>
          </a:xfrm>
          <a:prstGeom prst="roundRect">
            <a:avLst>
              <a:gd name="adj" fmla="val 2577"/>
            </a:avLst>
          </a:prstGeom>
          <a:solidFill>
            <a:schemeClr val="bg2"/>
          </a:solidFill>
          <a:ln/>
        </p:spPr>
      </p:sp>
      <p:sp>
        <p:nvSpPr>
          <p:cNvPr id="5" name="a1|délai"/>
          <p:cNvSpPr/>
          <p:nvPr/>
        </p:nvSpPr>
        <p:spPr>
          <a:xfrm>
            <a:off x="822960" y="1874520"/>
            <a:ext cx="2999232"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Sous 30 jours</a:t>
            </a:r>
            <a:endParaRPr lang="en-US" sz="1600" dirty="0"/>
          </a:p>
        </p:txBody>
      </p:sp>
      <p:sp>
        <p:nvSpPr>
          <p:cNvPr id="6" name="a1|titre"/>
          <p:cNvSpPr txBox="1"/>
          <p:nvPr/>
        </p:nvSpPr>
        <p:spPr>
          <a:xfrm>
            <a:off x="822960" y="2514600"/>
            <a:ext cx="2999232" cy="365760"/>
          </a:xfrm>
          <a:prstGeom prst="rect">
            <a:avLst/>
          </a:prstGeom>
          <a:noFill/>
          <a:ln/>
        </p:spPr>
        <p:txBody>
          <a:bodyPr wrap="square" lIns="0" tIns="0" rIns="0" bIns="0" rtlCol="0" anchor="t"/>
          <a:lstStyle/>
          <a:p>
            <a:pPr indent="0" marL="0">
              <a:buNone/>
            </a:pPr>
            <a:r>
              <a:rPr lang="en-US" sz="1900" b="1" dirty="0">
                <a:solidFill>
                  <a:schemeClr val="tx2"/>
                </a:solidFill>
              </a:rPr>
              <a:t>Les bases</a:t>
            </a:r>
            <a:endParaRPr lang="en-US" sz="1900" dirty="0"/>
          </a:p>
        </p:txBody>
      </p:sp>
      <p:sp>
        <p:nvSpPr>
          <p:cNvPr id="7" name="a1|liste"/>
          <p:cNvSpPr txBox="1"/>
          <p:nvPr/>
        </p:nvSpPr>
        <p:spPr>
          <a:xfrm>
            <a:off x="822960" y="3017520"/>
            <a:ext cx="3044952" cy="2011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MFA sur la messagerie et les comptes critiques, direction comprise</a:t>
            </a:r>
            <a:endParaRPr lang="en-US" sz="1400" dirty="0"/>
          </a:p>
          <a:p>
            <a:pPr marL="342900" indent="-342900">
              <a:spcAft>
                <a:spcPts val="700"/>
              </a:spcAft>
              <a:buSzPct val="100000"/>
              <a:buChar char="•"/>
            </a:pPr>
            <a:r>
              <a:rPr lang="en-US" sz="1400" dirty="0">
                <a:solidFill>
                  <a:schemeClr val="tx1"/>
                </a:solidFill>
              </a:rPr>
              <a:t>Double validation des virements et des changements de RIB</a:t>
            </a:r>
            <a:endParaRPr lang="en-US" sz="1400" dirty="0"/>
          </a:p>
          <a:p>
            <a:pPr marL="342900" indent="-342900">
              <a:spcAft>
                <a:spcPts val="700"/>
              </a:spcAft>
              <a:buSzPct val="100000"/>
              <a:buChar char="•"/>
            </a:pPr>
            <a:r>
              <a:rPr lang="en-US" sz="1400" dirty="0">
                <a:solidFill>
                  <a:schemeClr val="tx1"/>
                </a:solidFill>
              </a:rPr>
              <a:t>Un référent et une adresse de signalement connus de tous</a:t>
            </a:r>
            <a:endParaRPr lang="en-US" sz="1400" dirty="0"/>
          </a:p>
        </p:txBody>
      </p:sp>
      <p:sp>
        <p:nvSpPr>
          <p:cNvPr id="8" name="a1|résultat"/>
          <p:cNvSpPr/>
          <p:nvPr/>
        </p:nvSpPr>
        <p:spPr>
          <a:xfrm>
            <a:off x="731520" y="5120640"/>
            <a:ext cx="3182112" cy="502920"/>
          </a:xfrm>
          <a:prstGeom prst="roundRect">
            <a:avLst>
              <a:gd name="adj" fmla="val 14545"/>
            </a:avLst>
          </a:prstGeom>
          <a:solidFill>
            <a:schemeClr val="bg1"/>
          </a:solidFill>
          <a:ln/>
        </p:spPr>
      </p:sp>
      <p:sp>
        <p:nvSpPr>
          <p:cNvPr id="9" name="a1|résultat"/>
          <p:cNvSpPr txBox="1"/>
          <p:nvPr/>
        </p:nvSpPr>
        <p:spPr>
          <a:xfrm>
            <a:off x="868680" y="5120640"/>
            <a:ext cx="2971800" cy="502920"/>
          </a:xfrm>
          <a:prstGeom prst="rect">
            <a:avLst/>
          </a:prstGeom>
          <a:noFill/>
          <a:ln/>
        </p:spPr>
        <p:txBody>
          <a:bodyPr wrap="square" lIns="0" tIns="0" rIns="0" bIns="0" rtlCol="0" anchor="ctr"/>
          <a:lstStyle/>
          <a:p>
            <a:pPr indent="0" marL="0">
              <a:buNone/>
            </a:pPr>
            <a:r>
              <a:rPr lang="en-US" sz="1400" b="1" i="1" dirty="0">
                <a:solidFill>
                  <a:schemeClr val="accent1"/>
                </a:solidFill>
              </a:rPr>
              <a:t>→ Bloque le scénario du faux RIB</a:t>
            </a:r>
            <a:endParaRPr lang="en-US" sz="1400" dirty="0"/>
          </a:p>
        </p:txBody>
      </p:sp>
      <p:sp>
        <p:nvSpPr>
          <p:cNvPr id="10" name="a2|colonne"/>
          <p:cNvSpPr/>
          <p:nvPr/>
        </p:nvSpPr>
        <p:spPr>
          <a:xfrm>
            <a:off x="4321454" y="1645920"/>
            <a:ext cx="3547872" cy="4160520"/>
          </a:xfrm>
          <a:prstGeom prst="roundRect">
            <a:avLst>
              <a:gd name="adj" fmla="val 2577"/>
            </a:avLst>
          </a:prstGeom>
          <a:solidFill>
            <a:schemeClr val="bg2"/>
          </a:solidFill>
          <a:ln/>
        </p:spPr>
      </p:sp>
      <p:sp>
        <p:nvSpPr>
          <p:cNvPr id="11" name="a2|délai"/>
          <p:cNvSpPr/>
          <p:nvPr/>
        </p:nvSpPr>
        <p:spPr>
          <a:xfrm>
            <a:off x="4595774" y="1874520"/>
            <a:ext cx="2999232"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Sous 90 jours</a:t>
            </a:r>
            <a:endParaRPr lang="en-US" sz="1600" dirty="0"/>
          </a:p>
        </p:txBody>
      </p:sp>
      <p:sp>
        <p:nvSpPr>
          <p:cNvPr id="12" name="a2|titre"/>
          <p:cNvSpPr txBox="1"/>
          <p:nvPr/>
        </p:nvSpPr>
        <p:spPr>
          <a:xfrm>
            <a:off x="4595774" y="2514600"/>
            <a:ext cx="2999232" cy="365760"/>
          </a:xfrm>
          <a:prstGeom prst="rect">
            <a:avLst/>
          </a:prstGeom>
          <a:noFill/>
          <a:ln/>
        </p:spPr>
        <p:txBody>
          <a:bodyPr wrap="square" lIns="0" tIns="0" rIns="0" bIns="0" rtlCol="0" anchor="t"/>
          <a:lstStyle/>
          <a:p>
            <a:pPr indent="0" marL="0">
              <a:buNone/>
            </a:pPr>
            <a:r>
              <a:rPr lang="en-US" sz="1900" b="1" dirty="0">
                <a:solidFill>
                  <a:schemeClr val="tx2"/>
                </a:solidFill>
              </a:rPr>
              <a:t>Les protections</a:t>
            </a:r>
            <a:endParaRPr lang="en-US" sz="1900" dirty="0"/>
          </a:p>
        </p:txBody>
      </p:sp>
      <p:sp>
        <p:nvSpPr>
          <p:cNvPr id="13" name="a2|liste"/>
          <p:cNvSpPr txBox="1"/>
          <p:nvPr/>
        </p:nvSpPr>
        <p:spPr>
          <a:xfrm>
            <a:off x="4595774" y="3017520"/>
            <a:ext cx="3044952" cy="2011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Filtrage anti-phishing renforcé sur la messagerie</a:t>
            </a:r>
            <a:endParaRPr lang="en-US" sz="1400" dirty="0"/>
          </a:p>
          <a:p>
            <a:pPr marL="342900" indent="-342900">
              <a:spcAft>
                <a:spcPts val="700"/>
              </a:spcAft>
              <a:buSzPct val="100000"/>
              <a:buChar char="•"/>
            </a:pPr>
            <a:r>
              <a:rPr lang="en-US" sz="1400" dirty="0">
                <a:solidFill>
                  <a:schemeClr val="tx1"/>
                </a:solidFill>
              </a:rPr>
              <a:t>SPF, DKIM et DMARC : empêcher l'usurpation de notre domaine</a:t>
            </a:r>
            <a:endParaRPr lang="en-US" sz="1400" dirty="0"/>
          </a:p>
          <a:p>
            <a:pPr marL="342900" indent="-342900">
              <a:spcAft>
                <a:spcPts val="700"/>
              </a:spcAft>
              <a:buSzPct val="100000"/>
              <a:buChar char="•"/>
            </a:pPr>
            <a:r>
              <a:rPr lang="en-US" sz="1400" dirty="0">
                <a:solidFill>
                  <a:schemeClr val="tx1"/>
                </a:solidFill>
              </a:rPr>
              <a:t>Sauvegardes hors ligne, restauration testée</a:t>
            </a:r>
            <a:endParaRPr lang="en-US" sz="1400" dirty="0"/>
          </a:p>
        </p:txBody>
      </p:sp>
      <p:sp>
        <p:nvSpPr>
          <p:cNvPr id="14" name="a2|résultat"/>
          <p:cNvSpPr/>
          <p:nvPr/>
        </p:nvSpPr>
        <p:spPr>
          <a:xfrm>
            <a:off x="4504334" y="5120640"/>
            <a:ext cx="3182112" cy="502920"/>
          </a:xfrm>
          <a:prstGeom prst="roundRect">
            <a:avLst>
              <a:gd name="adj" fmla="val 14545"/>
            </a:avLst>
          </a:prstGeom>
          <a:solidFill>
            <a:schemeClr val="bg1"/>
          </a:solidFill>
          <a:ln/>
        </p:spPr>
      </p:sp>
      <p:sp>
        <p:nvSpPr>
          <p:cNvPr id="15" name="a2|résultat"/>
          <p:cNvSpPr txBox="1"/>
          <p:nvPr/>
        </p:nvSpPr>
        <p:spPr>
          <a:xfrm>
            <a:off x="4641494" y="5120640"/>
            <a:ext cx="2971800" cy="502920"/>
          </a:xfrm>
          <a:prstGeom prst="rect">
            <a:avLst/>
          </a:prstGeom>
          <a:noFill/>
          <a:ln/>
        </p:spPr>
        <p:txBody>
          <a:bodyPr wrap="square" lIns="0" tIns="0" rIns="0" bIns="0" rtlCol="0" anchor="ctr"/>
          <a:lstStyle/>
          <a:p>
            <a:pPr indent="0" marL="0">
              <a:buNone/>
            </a:pPr>
            <a:r>
              <a:rPr lang="en-US" sz="1400" b="1" i="1" dirty="0">
                <a:solidFill>
                  <a:schemeClr val="accent2"/>
                </a:solidFill>
              </a:rPr>
              <a:t>→ Domaine protégé de l'usurpation</a:t>
            </a:r>
            <a:endParaRPr lang="en-US" sz="1400" dirty="0"/>
          </a:p>
        </p:txBody>
      </p:sp>
      <p:sp>
        <p:nvSpPr>
          <p:cNvPr id="16" name="a3|colonne"/>
          <p:cNvSpPr/>
          <p:nvPr/>
        </p:nvSpPr>
        <p:spPr>
          <a:xfrm>
            <a:off x="8094269" y="1645920"/>
            <a:ext cx="3547872" cy="4160520"/>
          </a:xfrm>
          <a:prstGeom prst="roundRect">
            <a:avLst>
              <a:gd name="adj" fmla="val 2577"/>
            </a:avLst>
          </a:prstGeom>
          <a:solidFill>
            <a:schemeClr val="bg2"/>
          </a:solidFill>
          <a:ln/>
        </p:spPr>
      </p:sp>
      <p:sp>
        <p:nvSpPr>
          <p:cNvPr id="17" name="a3|délai"/>
          <p:cNvSpPr/>
          <p:nvPr/>
        </p:nvSpPr>
        <p:spPr>
          <a:xfrm>
            <a:off x="8368589" y="1874520"/>
            <a:ext cx="2999232" cy="457200"/>
          </a:xfrm>
          <a:prstGeom prst="roundRect">
            <a:avLst>
              <a:gd name="adj" fmla="val 50000"/>
            </a:avLst>
          </a:prstGeom>
          <a:solidFill>
            <a:schemeClr val="tx2"/>
          </a:solidFill>
          <a:ln/>
        </p:spPr>
        <p:txBody>
          <a:bodyPr wrap="square" lIns="0" tIns="0" rIns="0" bIns="0" rtlCol="0" anchor="ctr"/>
          <a:lstStyle/>
          <a:p>
            <a:pPr algn="ctr" indent="0" marL="0">
              <a:buNone/>
            </a:pPr>
            <a:r>
              <a:rPr lang="en-US" sz="1600" b="1" dirty="0">
                <a:solidFill>
                  <a:schemeClr val="bg1"/>
                </a:solidFill>
              </a:rPr>
              <a:t>Sous 12 mois</a:t>
            </a:r>
            <a:endParaRPr lang="en-US" sz="1600" dirty="0"/>
          </a:p>
        </p:txBody>
      </p:sp>
      <p:sp>
        <p:nvSpPr>
          <p:cNvPr id="18" name="a3|titre"/>
          <p:cNvSpPr txBox="1"/>
          <p:nvPr/>
        </p:nvSpPr>
        <p:spPr>
          <a:xfrm>
            <a:off x="8368589" y="2514600"/>
            <a:ext cx="2999232" cy="365760"/>
          </a:xfrm>
          <a:prstGeom prst="rect">
            <a:avLst/>
          </a:prstGeom>
          <a:noFill/>
          <a:ln/>
        </p:spPr>
        <p:txBody>
          <a:bodyPr wrap="square" lIns="0" tIns="0" rIns="0" bIns="0" rtlCol="0" anchor="t"/>
          <a:lstStyle/>
          <a:p>
            <a:pPr indent="0" marL="0">
              <a:buNone/>
            </a:pPr>
            <a:r>
              <a:rPr lang="en-US" sz="1900" b="1" dirty="0">
                <a:solidFill>
                  <a:schemeClr val="tx2"/>
                </a:solidFill>
              </a:rPr>
              <a:t>La culture</a:t>
            </a:r>
            <a:endParaRPr lang="en-US" sz="1900" dirty="0"/>
          </a:p>
        </p:txBody>
      </p:sp>
      <p:sp>
        <p:nvSpPr>
          <p:cNvPr id="19" name="a3|liste"/>
          <p:cNvSpPr txBox="1"/>
          <p:nvPr/>
        </p:nvSpPr>
        <p:spPr>
          <a:xfrm>
            <a:off x="8368589" y="3017520"/>
            <a:ext cx="3044952" cy="2011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Simulations de phishing trimestrielles, sans sanction</a:t>
            </a:r>
            <a:endParaRPr lang="en-US" sz="1400" dirty="0"/>
          </a:p>
          <a:p>
            <a:pPr marL="342900" indent="-342900">
              <a:spcAft>
                <a:spcPts val="700"/>
              </a:spcAft>
              <a:buSzPct val="100000"/>
              <a:buChar char="•"/>
            </a:pPr>
            <a:r>
              <a:rPr lang="en-US" sz="1400" dirty="0">
                <a:solidFill>
                  <a:schemeClr val="tx1"/>
                </a:solidFill>
              </a:rPr>
              <a:t>Sensibilisation annuelle de tous (SensCyber, gratuit)</a:t>
            </a:r>
            <a:endParaRPr lang="en-US" sz="1400" dirty="0"/>
          </a:p>
          <a:p>
            <a:pPr marL="342900" indent="-342900">
              <a:spcAft>
                <a:spcPts val="700"/>
              </a:spcAft>
              <a:buSzPct val="100000"/>
              <a:buChar char="•"/>
            </a:pPr>
            <a:r>
              <a:rPr lang="en-US" sz="1400" dirty="0">
                <a:solidFill>
                  <a:schemeClr val="tx1"/>
                </a:solidFill>
              </a:rPr>
              <a:t>Clés de sécurité ou passkeys pour les comptes sensibles</a:t>
            </a:r>
            <a:endParaRPr lang="en-US" sz="1400" dirty="0"/>
          </a:p>
          <a:p>
            <a:pPr marL="342900" indent="-342900">
              <a:spcAft>
                <a:spcPts val="700"/>
              </a:spcAft>
              <a:buSzPct val="100000"/>
              <a:buChar char="•"/>
            </a:pPr>
            <a:r>
              <a:rPr lang="en-US" sz="1400" dirty="0">
                <a:solidFill>
                  <a:schemeClr val="tx1"/>
                </a:solidFill>
              </a:rPr>
              <a:t>Exercice de crise et plan de réponse à jour</a:t>
            </a:r>
            <a:endParaRPr lang="en-US" sz="1400" dirty="0"/>
          </a:p>
        </p:txBody>
      </p:sp>
      <p:sp>
        <p:nvSpPr>
          <p:cNvPr id="20" name="a3|résultat"/>
          <p:cNvSpPr/>
          <p:nvPr/>
        </p:nvSpPr>
        <p:spPr>
          <a:xfrm>
            <a:off x="8277149" y="5120640"/>
            <a:ext cx="3182112" cy="502920"/>
          </a:xfrm>
          <a:prstGeom prst="roundRect">
            <a:avLst>
              <a:gd name="adj" fmla="val 14545"/>
            </a:avLst>
          </a:prstGeom>
          <a:solidFill>
            <a:schemeClr val="bg1"/>
          </a:solidFill>
          <a:ln/>
        </p:spPr>
      </p:sp>
      <p:sp>
        <p:nvSpPr>
          <p:cNvPr id="21" name="a3|résultat"/>
          <p:cNvSpPr txBox="1"/>
          <p:nvPr/>
        </p:nvSpPr>
        <p:spPr>
          <a:xfrm>
            <a:off x="8414309" y="5120640"/>
            <a:ext cx="2971800" cy="502920"/>
          </a:xfrm>
          <a:prstGeom prst="rect">
            <a:avLst/>
          </a:prstGeom>
          <a:noFill/>
          <a:ln/>
        </p:spPr>
        <p:txBody>
          <a:bodyPr wrap="square" lIns="0" tIns="0" rIns="0" bIns="0" rtlCol="0" anchor="ctr"/>
          <a:lstStyle/>
          <a:p>
            <a:pPr indent="0" marL="0">
              <a:buNone/>
            </a:pPr>
            <a:r>
              <a:rPr lang="en-US" sz="1400" b="1" i="1" dirty="0">
                <a:solidFill>
                  <a:schemeClr val="tx2"/>
                </a:solidFill>
              </a:rPr>
              <a:t>→ Le signalement devient un réflexe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04 · PLAN D'ACTION</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Les mesures clés coûtent peu</a:t>
            </a:r>
            <a:endParaRPr lang="en-US" sz="3600" dirty="0"/>
          </a:p>
        </p:txBody>
      </p:sp>
      <p:sp>
        <p:nvSpPr>
          <p:cNvPr id="4" name="a1|entête"/>
          <p:cNvSpPr txBox="1"/>
          <p:nvPr/>
        </p:nvSpPr>
        <p:spPr>
          <a:xfrm>
            <a:off x="777240" y="1600200"/>
            <a:ext cx="219456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MESURE</a:t>
            </a:r>
            <a:endParaRPr lang="en-US" sz="1200" dirty="0"/>
          </a:p>
        </p:txBody>
      </p:sp>
      <p:sp>
        <p:nvSpPr>
          <p:cNvPr id="5" name="a1|entête"/>
          <p:cNvSpPr txBox="1"/>
          <p:nvPr/>
        </p:nvSpPr>
        <p:spPr>
          <a:xfrm>
            <a:off x="5760720" y="1600200"/>
            <a:ext cx="219456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COÛT</a:t>
            </a:r>
            <a:endParaRPr lang="en-US" sz="1200" dirty="0"/>
          </a:p>
        </p:txBody>
      </p:sp>
      <p:sp>
        <p:nvSpPr>
          <p:cNvPr id="6" name="a1|entête"/>
          <p:cNvSpPr txBox="1"/>
          <p:nvPr/>
        </p:nvSpPr>
        <p:spPr>
          <a:xfrm>
            <a:off x="8092440" y="1600200"/>
            <a:ext cx="219456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MISE EN PLACE</a:t>
            </a:r>
            <a:endParaRPr lang="en-US" sz="1200" dirty="0"/>
          </a:p>
        </p:txBody>
      </p:sp>
      <p:sp>
        <p:nvSpPr>
          <p:cNvPr id="7" name="a1|entête"/>
          <p:cNvSpPr txBox="1"/>
          <p:nvPr/>
        </p:nvSpPr>
        <p:spPr>
          <a:xfrm>
            <a:off x="9921240" y="1600200"/>
            <a:ext cx="219456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EFFET SUR LE RISQUE</a:t>
            </a:r>
            <a:endParaRPr lang="en-US" sz="1200" dirty="0"/>
          </a:p>
        </p:txBody>
      </p:sp>
      <p:sp>
        <p:nvSpPr>
          <p:cNvPr id="8" name="a2|ligne"/>
          <p:cNvSpPr/>
          <p:nvPr/>
        </p:nvSpPr>
        <p:spPr>
          <a:xfrm>
            <a:off x="548640" y="1938528"/>
            <a:ext cx="11094415" cy="548640"/>
          </a:xfrm>
          <a:prstGeom prst="roundRect">
            <a:avLst>
              <a:gd name="adj" fmla="val 13333"/>
            </a:avLst>
          </a:prstGeom>
          <a:solidFill>
            <a:schemeClr val="bg2"/>
          </a:solidFill>
          <a:ln/>
        </p:spPr>
      </p:sp>
      <p:sp>
        <p:nvSpPr>
          <p:cNvPr id="9" name="a2|icône"/>
          <p:cNvSpPr/>
          <p:nvPr/>
        </p:nvSpPr>
        <p:spPr>
          <a:xfrm>
            <a:off x="749808" y="2029968"/>
            <a:ext cx="365760" cy="365760"/>
          </a:xfrm>
          <a:prstGeom prst="ellipse">
            <a:avLst/>
          </a:prstGeom>
          <a:solidFill>
            <a:schemeClr val="accent2"/>
          </a:solidFill>
          <a:ln/>
        </p:spPr>
      </p:sp>
      <p:pic>
        <p:nvPicPr>
          <p:cNvPr id="10" name="a2|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1248" y="2121408"/>
            <a:ext cx="182880" cy="182880"/>
          </a:xfrm>
          <a:prstGeom prst="rect">
            <a:avLst/>
          </a:prstGeom>
        </p:spPr>
      </p:pic>
      <p:sp>
        <p:nvSpPr>
          <p:cNvPr id="11" name="a2|mesure"/>
          <p:cNvSpPr txBox="1"/>
          <p:nvPr/>
        </p:nvSpPr>
        <p:spPr>
          <a:xfrm>
            <a:off x="1280160" y="1938528"/>
            <a:ext cx="4389120" cy="548640"/>
          </a:xfrm>
          <a:prstGeom prst="rect">
            <a:avLst/>
          </a:prstGeom>
          <a:noFill/>
          <a:ln/>
        </p:spPr>
        <p:txBody>
          <a:bodyPr wrap="square" lIns="0" tIns="0" rIns="0" bIns="0" rtlCol="0" anchor="ctr"/>
          <a:lstStyle/>
          <a:p>
            <a:pPr indent="0" marL="0">
              <a:buNone/>
            </a:pPr>
            <a:r>
              <a:rPr lang="en-US" sz="1500" b="1" dirty="0">
                <a:solidFill>
                  <a:schemeClr val="tx2"/>
                </a:solidFill>
              </a:rPr>
              <a:t>Double validation des virements et des RIB</a:t>
            </a:r>
            <a:endParaRPr lang="en-US" sz="1500" dirty="0"/>
          </a:p>
        </p:txBody>
      </p:sp>
      <p:sp>
        <p:nvSpPr>
          <p:cNvPr id="12" name="a2|coût"/>
          <p:cNvSpPr/>
          <p:nvPr/>
        </p:nvSpPr>
        <p:spPr>
          <a:xfrm>
            <a:off x="5760720" y="2057400"/>
            <a:ext cx="2011680" cy="310896"/>
          </a:xfrm>
          <a:prstGeom prst="roundRect">
            <a:avLst>
              <a:gd name="adj" fmla="val 50000"/>
            </a:avLst>
          </a:prstGeom>
          <a:solidFill>
            <a:schemeClr val="accent2">
              <a:alpha val="20000"/>
            </a:schemeClr>
          </a:solidFill>
          <a:ln/>
        </p:spPr>
        <p:txBody>
          <a:bodyPr wrap="square" lIns="0" tIns="0" rIns="0" bIns="0" rtlCol="0" anchor="ctr"/>
          <a:lstStyle/>
          <a:p>
            <a:pPr algn="ctr" indent="0" marL="0">
              <a:buNone/>
            </a:pPr>
            <a:r>
              <a:rPr lang="en-US" sz="1300" b="1" dirty="0">
                <a:solidFill>
                  <a:schemeClr val="tx2"/>
                </a:solidFill>
              </a:rPr>
              <a:t>Nul : une procédure</a:t>
            </a:r>
            <a:endParaRPr lang="en-US" sz="1300" dirty="0"/>
          </a:p>
        </p:txBody>
      </p:sp>
      <p:sp>
        <p:nvSpPr>
          <p:cNvPr id="13" name="a2|délai"/>
          <p:cNvSpPr txBox="1"/>
          <p:nvPr/>
        </p:nvSpPr>
        <p:spPr>
          <a:xfrm>
            <a:off x="8092440" y="1938528"/>
            <a:ext cx="1737360" cy="548640"/>
          </a:xfrm>
          <a:prstGeom prst="rect">
            <a:avLst/>
          </a:prstGeom>
          <a:noFill/>
          <a:ln/>
        </p:spPr>
        <p:txBody>
          <a:bodyPr wrap="square" lIns="0" tIns="0" rIns="0" bIns="0" rtlCol="0" anchor="ctr"/>
          <a:lstStyle/>
          <a:p>
            <a:pPr indent="0" marL="0">
              <a:buNone/>
            </a:pPr>
            <a:r>
              <a:rPr lang="en-US" sz="1400" dirty="0">
                <a:solidFill>
                  <a:schemeClr val="tx1"/>
                </a:solidFill>
              </a:rPr>
              <a:t>1 semaine</a:t>
            </a:r>
            <a:endParaRPr lang="en-US" sz="1400" dirty="0"/>
          </a:p>
        </p:txBody>
      </p:sp>
      <p:sp>
        <p:nvSpPr>
          <p:cNvPr id="14" name="a2|point"/>
          <p:cNvSpPr/>
          <p:nvPr/>
        </p:nvSpPr>
        <p:spPr>
          <a:xfrm>
            <a:off x="9948672" y="2112264"/>
            <a:ext cx="201168" cy="201168"/>
          </a:xfrm>
          <a:prstGeom prst="ellipse">
            <a:avLst/>
          </a:prstGeom>
          <a:solidFill>
            <a:schemeClr val="accent2"/>
          </a:solidFill>
          <a:ln w="12700">
            <a:solidFill>
              <a:srgbClr val="0F7C76"/>
            </a:solidFill>
            <a:prstDash val="solid"/>
          </a:ln>
        </p:spPr>
      </p:sp>
      <p:sp>
        <p:nvSpPr>
          <p:cNvPr id="15" name="a2|point"/>
          <p:cNvSpPr/>
          <p:nvPr/>
        </p:nvSpPr>
        <p:spPr>
          <a:xfrm>
            <a:off x="10259568" y="2112264"/>
            <a:ext cx="201168" cy="201168"/>
          </a:xfrm>
          <a:prstGeom prst="ellipse">
            <a:avLst/>
          </a:prstGeom>
          <a:solidFill>
            <a:schemeClr val="accent2"/>
          </a:solidFill>
          <a:ln w="12700">
            <a:solidFill>
              <a:srgbClr val="0F7C76"/>
            </a:solidFill>
            <a:prstDash val="solid"/>
          </a:ln>
        </p:spPr>
      </p:sp>
      <p:sp>
        <p:nvSpPr>
          <p:cNvPr id="16" name="a2|point"/>
          <p:cNvSpPr/>
          <p:nvPr/>
        </p:nvSpPr>
        <p:spPr>
          <a:xfrm>
            <a:off x="10570464" y="2112264"/>
            <a:ext cx="201168" cy="201168"/>
          </a:xfrm>
          <a:prstGeom prst="ellipse">
            <a:avLst/>
          </a:prstGeom>
          <a:solidFill>
            <a:schemeClr val="accent2"/>
          </a:solidFill>
          <a:ln w="12700">
            <a:solidFill>
              <a:srgbClr val="0F7C76"/>
            </a:solidFill>
            <a:prstDash val="solid"/>
          </a:ln>
        </p:spPr>
      </p:sp>
      <p:sp>
        <p:nvSpPr>
          <p:cNvPr id="17" name="a3|ligne"/>
          <p:cNvSpPr/>
          <p:nvPr/>
        </p:nvSpPr>
        <p:spPr>
          <a:xfrm>
            <a:off x="548640" y="2578608"/>
            <a:ext cx="11094415" cy="548640"/>
          </a:xfrm>
          <a:prstGeom prst="roundRect">
            <a:avLst>
              <a:gd name="adj" fmla="val 13333"/>
            </a:avLst>
          </a:prstGeom>
          <a:solidFill>
            <a:schemeClr val="bg2"/>
          </a:solidFill>
          <a:ln/>
        </p:spPr>
      </p:sp>
      <p:sp>
        <p:nvSpPr>
          <p:cNvPr id="18" name="a3|icône"/>
          <p:cNvSpPr/>
          <p:nvPr/>
        </p:nvSpPr>
        <p:spPr>
          <a:xfrm>
            <a:off x="749808" y="2670048"/>
            <a:ext cx="365760" cy="365760"/>
          </a:xfrm>
          <a:prstGeom prst="ellipse">
            <a:avLst/>
          </a:prstGeom>
          <a:solidFill>
            <a:schemeClr val="accent2"/>
          </a:solidFill>
          <a:ln/>
        </p:spPr>
      </p:sp>
      <p:pic>
        <p:nvPicPr>
          <p:cNvPr id="19" name="a3|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41248" y="2761488"/>
            <a:ext cx="182880" cy="182880"/>
          </a:xfrm>
          <a:prstGeom prst="rect">
            <a:avLst/>
          </a:prstGeom>
        </p:spPr>
      </p:pic>
      <p:sp>
        <p:nvSpPr>
          <p:cNvPr id="20" name="a3|mesure"/>
          <p:cNvSpPr txBox="1"/>
          <p:nvPr/>
        </p:nvSpPr>
        <p:spPr>
          <a:xfrm>
            <a:off x="1280160" y="2578608"/>
            <a:ext cx="4389120" cy="548640"/>
          </a:xfrm>
          <a:prstGeom prst="rect">
            <a:avLst/>
          </a:prstGeom>
          <a:noFill/>
          <a:ln/>
        </p:spPr>
        <p:txBody>
          <a:bodyPr wrap="square" lIns="0" tIns="0" rIns="0" bIns="0" rtlCol="0" anchor="ctr"/>
          <a:lstStyle/>
          <a:p>
            <a:pPr indent="0" marL="0">
              <a:buNone/>
            </a:pPr>
            <a:r>
              <a:rPr lang="en-US" sz="1500" b="1" dirty="0">
                <a:solidFill>
                  <a:schemeClr val="tx2"/>
                </a:solidFill>
              </a:rPr>
              <a:t>MFA sur la messagerie et les comptes clés</a:t>
            </a:r>
            <a:endParaRPr lang="en-US" sz="1500" dirty="0"/>
          </a:p>
        </p:txBody>
      </p:sp>
      <p:sp>
        <p:nvSpPr>
          <p:cNvPr id="21" name="a3|coût"/>
          <p:cNvSpPr/>
          <p:nvPr/>
        </p:nvSpPr>
        <p:spPr>
          <a:xfrm>
            <a:off x="5760720" y="2697480"/>
            <a:ext cx="2011680" cy="310896"/>
          </a:xfrm>
          <a:prstGeom prst="roundRect">
            <a:avLst>
              <a:gd name="adj" fmla="val 50000"/>
            </a:avLst>
          </a:prstGeom>
          <a:solidFill>
            <a:schemeClr val="accent2">
              <a:alpha val="20000"/>
            </a:schemeClr>
          </a:solidFill>
          <a:ln/>
        </p:spPr>
        <p:txBody>
          <a:bodyPr wrap="square" lIns="0" tIns="0" rIns="0" bIns="0" rtlCol="0" anchor="ctr"/>
          <a:lstStyle/>
          <a:p>
            <a:pPr algn="ctr" indent="0" marL="0">
              <a:buNone/>
            </a:pPr>
            <a:r>
              <a:rPr lang="en-US" sz="1300" b="1" dirty="0">
                <a:solidFill>
                  <a:schemeClr val="tx2"/>
                </a:solidFill>
              </a:rPr>
              <a:t>Souvent inclus</a:t>
            </a:r>
            <a:endParaRPr lang="en-US" sz="1300" dirty="0"/>
          </a:p>
        </p:txBody>
      </p:sp>
      <p:sp>
        <p:nvSpPr>
          <p:cNvPr id="22" name="a3|délai"/>
          <p:cNvSpPr txBox="1"/>
          <p:nvPr/>
        </p:nvSpPr>
        <p:spPr>
          <a:xfrm>
            <a:off x="8092440" y="2578608"/>
            <a:ext cx="1737360" cy="548640"/>
          </a:xfrm>
          <a:prstGeom prst="rect">
            <a:avLst/>
          </a:prstGeom>
          <a:noFill/>
          <a:ln/>
        </p:spPr>
        <p:txBody>
          <a:bodyPr wrap="square" lIns="0" tIns="0" rIns="0" bIns="0" rtlCol="0" anchor="ctr"/>
          <a:lstStyle/>
          <a:p>
            <a:pPr indent="0" marL="0">
              <a:buNone/>
            </a:pPr>
            <a:r>
              <a:rPr lang="en-US" sz="1400" dirty="0">
                <a:solidFill>
                  <a:schemeClr val="tx1"/>
                </a:solidFill>
              </a:rPr>
              <a:t>2 à 4 semaines</a:t>
            </a:r>
            <a:endParaRPr lang="en-US" sz="1400" dirty="0"/>
          </a:p>
        </p:txBody>
      </p:sp>
      <p:sp>
        <p:nvSpPr>
          <p:cNvPr id="23" name="a3|point"/>
          <p:cNvSpPr/>
          <p:nvPr/>
        </p:nvSpPr>
        <p:spPr>
          <a:xfrm>
            <a:off x="9948672" y="2752344"/>
            <a:ext cx="201168" cy="201168"/>
          </a:xfrm>
          <a:prstGeom prst="ellipse">
            <a:avLst/>
          </a:prstGeom>
          <a:solidFill>
            <a:schemeClr val="accent2"/>
          </a:solidFill>
          <a:ln w="12700">
            <a:solidFill>
              <a:srgbClr val="0F7C76"/>
            </a:solidFill>
            <a:prstDash val="solid"/>
          </a:ln>
        </p:spPr>
      </p:sp>
      <p:sp>
        <p:nvSpPr>
          <p:cNvPr id="24" name="a3|point"/>
          <p:cNvSpPr/>
          <p:nvPr/>
        </p:nvSpPr>
        <p:spPr>
          <a:xfrm>
            <a:off x="10259568" y="2752344"/>
            <a:ext cx="201168" cy="201168"/>
          </a:xfrm>
          <a:prstGeom prst="ellipse">
            <a:avLst/>
          </a:prstGeom>
          <a:solidFill>
            <a:schemeClr val="accent2"/>
          </a:solidFill>
          <a:ln w="12700">
            <a:solidFill>
              <a:srgbClr val="0F7C76"/>
            </a:solidFill>
            <a:prstDash val="solid"/>
          </a:ln>
        </p:spPr>
      </p:sp>
      <p:sp>
        <p:nvSpPr>
          <p:cNvPr id="25" name="a3|point"/>
          <p:cNvSpPr/>
          <p:nvPr/>
        </p:nvSpPr>
        <p:spPr>
          <a:xfrm>
            <a:off x="10570464" y="2752344"/>
            <a:ext cx="201168" cy="201168"/>
          </a:xfrm>
          <a:prstGeom prst="ellipse">
            <a:avLst/>
          </a:prstGeom>
          <a:solidFill>
            <a:schemeClr val="accent2"/>
          </a:solidFill>
          <a:ln w="12700">
            <a:solidFill>
              <a:srgbClr val="0F7C76"/>
            </a:solidFill>
            <a:prstDash val="solid"/>
          </a:ln>
        </p:spPr>
      </p:sp>
      <p:sp>
        <p:nvSpPr>
          <p:cNvPr id="26" name="a4|ligne"/>
          <p:cNvSpPr/>
          <p:nvPr/>
        </p:nvSpPr>
        <p:spPr>
          <a:xfrm>
            <a:off x="548640" y="3218688"/>
            <a:ext cx="11094415" cy="548640"/>
          </a:xfrm>
          <a:prstGeom prst="roundRect">
            <a:avLst>
              <a:gd name="adj" fmla="val 13333"/>
            </a:avLst>
          </a:prstGeom>
          <a:solidFill>
            <a:schemeClr val="bg2"/>
          </a:solidFill>
          <a:ln/>
        </p:spPr>
      </p:sp>
      <p:sp>
        <p:nvSpPr>
          <p:cNvPr id="27" name="a4|icône"/>
          <p:cNvSpPr/>
          <p:nvPr/>
        </p:nvSpPr>
        <p:spPr>
          <a:xfrm>
            <a:off x="749808" y="3310128"/>
            <a:ext cx="365760" cy="365760"/>
          </a:xfrm>
          <a:prstGeom prst="ellipse">
            <a:avLst/>
          </a:prstGeom>
          <a:solidFill>
            <a:schemeClr val="accent2"/>
          </a:solidFill>
          <a:ln/>
        </p:spPr>
      </p:sp>
      <p:pic>
        <p:nvPicPr>
          <p:cNvPr id="28" name="a4|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1248" y="3401568"/>
            <a:ext cx="182880" cy="182880"/>
          </a:xfrm>
          <a:prstGeom prst="rect">
            <a:avLst/>
          </a:prstGeom>
        </p:spPr>
      </p:pic>
      <p:sp>
        <p:nvSpPr>
          <p:cNvPr id="29" name="a4|mesure"/>
          <p:cNvSpPr txBox="1"/>
          <p:nvPr/>
        </p:nvSpPr>
        <p:spPr>
          <a:xfrm>
            <a:off x="1280160" y="3218688"/>
            <a:ext cx="4389120" cy="548640"/>
          </a:xfrm>
          <a:prstGeom prst="rect">
            <a:avLst/>
          </a:prstGeom>
          <a:noFill/>
          <a:ln/>
        </p:spPr>
        <p:txBody>
          <a:bodyPr wrap="square" lIns="0" tIns="0" rIns="0" bIns="0" rtlCol="0" anchor="ctr"/>
          <a:lstStyle/>
          <a:p>
            <a:pPr indent="0" marL="0">
              <a:buNone/>
            </a:pPr>
            <a:r>
              <a:rPr lang="en-US" sz="1500" b="1" dirty="0">
                <a:solidFill>
                  <a:schemeClr val="tx2"/>
                </a:solidFill>
              </a:rPr>
              <a:t>SPF, DKIM, DMARC sur notre domaine</a:t>
            </a:r>
            <a:endParaRPr lang="en-US" sz="1500" dirty="0"/>
          </a:p>
        </p:txBody>
      </p:sp>
      <p:sp>
        <p:nvSpPr>
          <p:cNvPr id="30" name="a4|coût"/>
          <p:cNvSpPr/>
          <p:nvPr/>
        </p:nvSpPr>
        <p:spPr>
          <a:xfrm>
            <a:off x="5760720" y="3337560"/>
            <a:ext cx="2011680" cy="310896"/>
          </a:xfrm>
          <a:prstGeom prst="roundRect">
            <a:avLst>
              <a:gd name="adj" fmla="val 50000"/>
            </a:avLst>
          </a:prstGeom>
          <a:solidFill>
            <a:schemeClr val="accent2">
              <a:alpha val="20000"/>
            </a:schemeClr>
          </a:solidFill>
          <a:ln/>
        </p:spPr>
        <p:txBody>
          <a:bodyPr wrap="square" lIns="0" tIns="0" rIns="0" bIns="0" rtlCol="0" anchor="ctr"/>
          <a:lstStyle/>
          <a:p>
            <a:pPr algn="ctr" indent="0" marL="0">
              <a:buNone/>
            </a:pPr>
            <a:r>
              <a:rPr lang="en-US" sz="1300" b="1" dirty="0">
                <a:solidFill>
                  <a:schemeClr val="tx2"/>
                </a:solidFill>
              </a:rPr>
              <a:t>Nul à faible</a:t>
            </a:r>
            <a:endParaRPr lang="en-US" sz="1300" dirty="0"/>
          </a:p>
        </p:txBody>
      </p:sp>
      <p:sp>
        <p:nvSpPr>
          <p:cNvPr id="31" name="a4|délai"/>
          <p:cNvSpPr txBox="1"/>
          <p:nvPr/>
        </p:nvSpPr>
        <p:spPr>
          <a:xfrm>
            <a:off x="8092440" y="3218688"/>
            <a:ext cx="1737360" cy="548640"/>
          </a:xfrm>
          <a:prstGeom prst="rect">
            <a:avLst/>
          </a:prstGeom>
          <a:noFill/>
          <a:ln/>
        </p:spPr>
        <p:txBody>
          <a:bodyPr wrap="square" lIns="0" tIns="0" rIns="0" bIns="0" rtlCol="0" anchor="ctr"/>
          <a:lstStyle/>
          <a:p>
            <a:pPr indent="0" marL="0">
              <a:buNone/>
            </a:pPr>
            <a:r>
              <a:rPr lang="en-US" sz="1400" dirty="0">
                <a:solidFill>
                  <a:schemeClr val="tx1"/>
                </a:solidFill>
              </a:rPr>
              <a:t>1 mois</a:t>
            </a:r>
            <a:endParaRPr lang="en-US" sz="1400" dirty="0"/>
          </a:p>
        </p:txBody>
      </p:sp>
      <p:sp>
        <p:nvSpPr>
          <p:cNvPr id="32" name="a4|point"/>
          <p:cNvSpPr/>
          <p:nvPr/>
        </p:nvSpPr>
        <p:spPr>
          <a:xfrm>
            <a:off x="9948672" y="3392424"/>
            <a:ext cx="201168" cy="201168"/>
          </a:xfrm>
          <a:prstGeom prst="ellipse">
            <a:avLst/>
          </a:prstGeom>
          <a:solidFill>
            <a:schemeClr val="accent2"/>
          </a:solidFill>
          <a:ln w="12700">
            <a:solidFill>
              <a:srgbClr val="0F7C76"/>
            </a:solidFill>
            <a:prstDash val="solid"/>
          </a:ln>
        </p:spPr>
      </p:sp>
      <p:sp>
        <p:nvSpPr>
          <p:cNvPr id="33" name="a4|point"/>
          <p:cNvSpPr/>
          <p:nvPr/>
        </p:nvSpPr>
        <p:spPr>
          <a:xfrm>
            <a:off x="10259568" y="3392424"/>
            <a:ext cx="201168" cy="201168"/>
          </a:xfrm>
          <a:prstGeom prst="ellipse">
            <a:avLst/>
          </a:prstGeom>
          <a:solidFill>
            <a:schemeClr val="accent2"/>
          </a:solidFill>
          <a:ln w="12700">
            <a:solidFill>
              <a:srgbClr val="0F7C76"/>
            </a:solidFill>
            <a:prstDash val="solid"/>
          </a:ln>
        </p:spPr>
      </p:sp>
      <p:sp>
        <p:nvSpPr>
          <p:cNvPr id="34" name="a4|point"/>
          <p:cNvSpPr/>
          <p:nvPr/>
        </p:nvSpPr>
        <p:spPr>
          <a:xfrm>
            <a:off x="10570464" y="3392424"/>
            <a:ext cx="201168" cy="201168"/>
          </a:xfrm>
          <a:prstGeom prst="ellipse">
            <a:avLst/>
          </a:prstGeom>
          <a:solidFill>
            <a:schemeClr val="bg1"/>
          </a:solidFill>
          <a:ln w="12700">
            <a:solidFill>
              <a:srgbClr val="0F7C76"/>
            </a:solidFill>
            <a:prstDash val="solid"/>
          </a:ln>
        </p:spPr>
      </p:sp>
      <p:sp>
        <p:nvSpPr>
          <p:cNvPr id="35" name="a5|ligne"/>
          <p:cNvSpPr/>
          <p:nvPr/>
        </p:nvSpPr>
        <p:spPr>
          <a:xfrm>
            <a:off x="548640" y="3858768"/>
            <a:ext cx="11094415" cy="548640"/>
          </a:xfrm>
          <a:prstGeom prst="roundRect">
            <a:avLst>
              <a:gd name="adj" fmla="val 13333"/>
            </a:avLst>
          </a:prstGeom>
          <a:solidFill>
            <a:schemeClr val="bg2"/>
          </a:solidFill>
          <a:ln/>
        </p:spPr>
      </p:sp>
      <p:sp>
        <p:nvSpPr>
          <p:cNvPr id="36" name="a5|icône"/>
          <p:cNvSpPr/>
          <p:nvPr/>
        </p:nvSpPr>
        <p:spPr>
          <a:xfrm>
            <a:off x="749808" y="3950208"/>
            <a:ext cx="365760" cy="365760"/>
          </a:xfrm>
          <a:prstGeom prst="ellipse">
            <a:avLst/>
          </a:prstGeom>
          <a:solidFill>
            <a:schemeClr val="accent2"/>
          </a:solidFill>
          <a:ln/>
        </p:spPr>
      </p:sp>
      <p:pic>
        <p:nvPicPr>
          <p:cNvPr id="37" name="a5|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41248" y="4041648"/>
            <a:ext cx="182880" cy="182880"/>
          </a:xfrm>
          <a:prstGeom prst="rect">
            <a:avLst/>
          </a:prstGeom>
        </p:spPr>
      </p:pic>
      <p:sp>
        <p:nvSpPr>
          <p:cNvPr id="38" name="a5|mesure"/>
          <p:cNvSpPr txBox="1"/>
          <p:nvPr/>
        </p:nvSpPr>
        <p:spPr>
          <a:xfrm>
            <a:off x="1280160" y="3858768"/>
            <a:ext cx="4389120" cy="548640"/>
          </a:xfrm>
          <a:prstGeom prst="rect">
            <a:avLst/>
          </a:prstGeom>
          <a:noFill/>
          <a:ln/>
        </p:spPr>
        <p:txBody>
          <a:bodyPr wrap="square" lIns="0" tIns="0" rIns="0" bIns="0" rtlCol="0" anchor="ctr"/>
          <a:lstStyle/>
          <a:p>
            <a:pPr indent="0" marL="0">
              <a:buNone/>
            </a:pPr>
            <a:r>
              <a:rPr lang="en-US" sz="1500" b="1" dirty="0">
                <a:solidFill>
                  <a:schemeClr val="tx2"/>
                </a:solidFill>
              </a:rPr>
              <a:t>Sensibilisation annuelle (SensCyber)</a:t>
            </a:r>
            <a:endParaRPr lang="en-US" sz="1500" dirty="0"/>
          </a:p>
        </p:txBody>
      </p:sp>
      <p:sp>
        <p:nvSpPr>
          <p:cNvPr id="39" name="a5|coût"/>
          <p:cNvSpPr/>
          <p:nvPr/>
        </p:nvSpPr>
        <p:spPr>
          <a:xfrm>
            <a:off x="5760720" y="3977640"/>
            <a:ext cx="2011680" cy="310896"/>
          </a:xfrm>
          <a:prstGeom prst="roundRect">
            <a:avLst>
              <a:gd name="adj" fmla="val 50000"/>
            </a:avLst>
          </a:prstGeom>
          <a:solidFill>
            <a:schemeClr val="accent2">
              <a:alpha val="20000"/>
            </a:schemeClr>
          </a:solidFill>
          <a:ln/>
        </p:spPr>
        <p:txBody>
          <a:bodyPr wrap="square" lIns="0" tIns="0" rIns="0" bIns="0" rtlCol="0" anchor="ctr"/>
          <a:lstStyle/>
          <a:p>
            <a:pPr algn="ctr" indent="0" marL="0">
              <a:buNone/>
            </a:pPr>
            <a:r>
              <a:rPr lang="en-US" sz="1300" b="1" dirty="0">
                <a:solidFill>
                  <a:schemeClr val="tx2"/>
                </a:solidFill>
              </a:rPr>
              <a:t>Gratuit</a:t>
            </a:r>
            <a:endParaRPr lang="en-US" sz="1300" dirty="0"/>
          </a:p>
        </p:txBody>
      </p:sp>
      <p:sp>
        <p:nvSpPr>
          <p:cNvPr id="40" name="a5|délai"/>
          <p:cNvSpPr txBox="1"/>
          <p:nvPr/>
        </p:nvSpPr>
        <p:spPr>
          <a:xfrm>
            <a:off x="8092440" y="3858768"/>
            <a:ext cx="1737360" cy="548640"/>
          </a:xfrm>
          <a:prstGeom prst="rect">
            <a:avLst/>
          </a:prstGeom>
          <a:noFill/>
          <a:ln/>
        </p:spPr>
        <p:txBody>
          <a:bodyPr wrap="square" lIns="0" tIns="0" rIns="0" bIns="0" rtlCol="0" anchor="ctr"/>
          <a:lstStyle/>
          <a:p>
            <a:pPr indent="0" marL="0">
              <a:buNone/>
            </a:pPr>
            <a:r>
              <a:rPr lang="en-US" sz="1400" dirty="0">
                <a:solidFill>
                  <a:schemeClr val="tx1"/>
                </a:solidFill>
              </a:rPr>
              <a:t>Immédiat</a:t>
            </a:r>
            <a:endParaRPr lang="en-US" sz="1400" dirty="0"/>
          </a:p>
        </p:txBody>
      </p:sp>
      <p:sp>
        <p:nvSpPr>
          <p:cNvPr id="41" name="a5|point"/>
          <p:cNvSpPr/>
          <p:nvPr/>
        </p:nvSpPr>
        <p:spPr>
          <a:xfrm>
            <a:off x="9948672" y="4032504"/>
            <a:ext cx="201168" cy="201168"/>
          </a:xfrm>
          <a:prstGeom prst="ellipse">
            <a:avLst/>
          </a:prstGeom>
          <a:solidFill>
            <a:schemeClr val="accent2"/>
          </a:solidFill>
          <a:ln w="12700">
            <a:solidFill>
              <a:srgbClr val="0F7C76"/>
            </a:solidFill>
            <a:prstDash val="solid"/>
          </a:ln>
        </p:spPr>
      </p:sp>
      <p:sp>
        <p:nvSpPr>
          <p:cNvPr id="42" name="a5|point"/>
          <p:cNvSpPr/>
          <p:nvPr/>
        </p:nvSpPr>
        <p:spPr>
          <a:xfrm>
            <a:off x="10259568" y="4032504"/>
            <a:ext cx="201168" cy="201168"/>
          </a:xfrm>
          <a:prstGeom prst="ellipse">
            <a:avLst/>
          </a:prstGeom>
          <a:solidFill>
            <a:schemeClr val="accent2"/>
          </a:solidFill>
          <a:ln w="12700">
            <a:solidFill>
              <a:srgbClr val="0F7C76"/>
            </a:solidFill>
            <a:prstDash val="solid"/>
          </a:ln>
        </p:spPr>
      </p:sp>
      <p:sp>
        <p:nvSpPr>
          <p:cNvPr id="43" name="a5|point"/>
          <p:cNvSpPr/>
          <p:nvPr/>
        </p:nvSpPr>
        <p:spPr>
          <a:xfrm>
            <a:off x="10570464" y="4032504"/>
            <a:ext cx="201168" cy="201168"/>
          </a:xfrm>
          <a:prstGeom prst="ellipse">
            <a:avLst/>
          </a:prstGeom>
          <a:solidFill>
            <a:schemeClr val="bg1"/>
          </a:solidFill>
          <a:ln w="12700">
            <a:solidFill>
              <a:srgbClr val="0F7C76"/>
            </a:solidFill>
            <a:prstDash val="solid"/>
          </a:ln>
        </p:spPr>
      </p:sp>
      <p:sp>
        <p:nvSpPr>
          <p:cNvPr id="44" name="a6|ligne"/>
          <p:cNvSpPr/>
          <p:nvPr/>
        </p:nvSpPr>
        <p:spPr>
          <a:xfrm>
            <a:off x="548640" y="4498848"/>
            <a:ext cx="11094415" cy="548640"/>
          </a:xfrm>
          <a:prstGeom prst="roundRect">
            <a:avLst>
              <a:gd name="adj" fmla="val 13333"/>
            </a:avLst>
          </a:prstGeom>
          <a:solidFill>
            <a:schemeClr val="bg2"/>
          </a:solidFill>
          <a:ln/>
        </p:spPr>
      </p:sp>
      <p:sp>
        <p:nvSpPr>
          <p:cNvPr id="45" name="a6|icône"/>
          <p:cNvSpPr/>
          <p:nvPr/>
        </p:nvSpPr>
        <p:spPr>
          <a:xfrm>
            <a:off x="749808" y="4590288"/>
            <a:ext cx="365760" cy="365760"/>
          </a:xfrm>
          <a:prstGeom prst="ellipse">
            <a:avLst/>
          </a:prstGeom>
          <a:solidFill>
            <a:schemeClr val="accent2"/>
          </a:solidFill>
          <a:ln/>
        </p:spPr>
      </p:sp>
      <p:pic>
        <p:nvPicPr>
          <p:cNvPr id="46" name="a6|icôn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1248" y="4681728"/>
            <a:ext cx="182880" cy="182880"/>
          </a:xfrm>
          <a:prstGeom prst="rect">
            <a:avLst/>
          </a:prstGeom>
        </p:spPr>
      </p:pic>
      <p:sp>
        <p:nvSpPr>
          <p:cNvPr id="47" name="a6|mesure"/>
          <p:cNvSpPr txBox="1"/>
          <p:nvPr/>
        </p:nvSpPr>
        <p:spPr>
          <a:xfrm>
            <a:off x="1280160" y="4498848"/>
            <a:ext cx="4389120" cy="548640"/>
          </a:xfrm>
          <a:prstGeom prst="rect">
            <a:avLst/>
          </a:prstGeom>
          <a:noFill/>
          <a:ln/>
        </p:spPr>
        <p:txBody>
          <a:bodyPr wrap="square" lIns="0" tIns="0" rIns="0" bIns="0" rtlCol="0" anchor="ctr"/>
          <a:lstStyle/>
          <a:p>
            <a:pPr indent="0" marL="0">
              <a:buNone/>
            </a:pPr>
            <a:r>
              <a:rPr lang="en-US" sz="1500" b="1" dirty="0">
                <a:solidFill>
                  <a:schemeClr val="tx2"/>
                </a:solidFill>
              </a:rPr>
              <a:t>Simulations de phishing</a:t>
            </a:r>
            <a:endParaRPr lang="en-US" sz="1500" dirty="0"/>
          </a:p>
        </p:txBody>
      </p:sp>
      <p:sp>
        <p:nvSpPr>
          <p:cNvPr id="48" name="a6|coût"/>
          <p:cNvSpPr/>
          <p:nvPr/>
        </p:nvSpPr>
        <p:spPr>
          <a:xfrm>
            <a:off x="5760720" y="4617720"/>
            <a:ext cx="2011680" cy="310896"/>
          </a:xfrm>
          <a:prstGeom prst="roundRect">
            <a:avLst>
              <a:gd name="adj" fmla="val 50000"/>
            </a:avLst>
          </a:prstGeom>
          <a:solidFill>
            <a:schemeClr val="accent4">
              <a:alpha val="20000"/>
            </a:schemeClr>
          </a:solidFill>
          <a:ln/>
        </p:spPr>
        <p:txBody>
          <a:bodyPr wrap="square" lIns="0" tIns="0" rIns="0" bIns="0" rtlCol="0" anchor="ctr"/>
          <a:lstStyle/>
          <a:p>
            <a:pPr algn="ctr" indent="0" marL="0">
              <a:buNone/>
            </a:pPr>
            <a:r>
              <a:rPr lang="en-US" sz="1300" b="1" dirty="0">
                <a:solidFill>
                  <a:schemeClr val="tx2"/>
                </a:solidFill>
              </a:rPr>
              <a:t>Faible</a:t>
            </a:r>
            <a:endParaRPr lang="en-US" sz="1300" dirty="0"/>
          </a:p>
        </p:txBody>
      </p:sp>
      <p:sp>
        <p:nvSpPr>
          <p:cNvPr id="49" name="a6|délai"/>
          <p:cNvSpPr txBox="1"/>
          <p:nvPr/>
        </p:nvSpPr>
        <p:spPr>
          <a:xfrm>
            <a:off x="8092440" y="4498848"/>
            <a:ext cx="1737360" cy="548640"/>
          </a:xfrm>
          <a:prstGeom prst="rect">
            <a:avLst/>
          </a:prstGeom>
          <a:noFill/>
          <a:ln/>
        </p:spPr>
        <p:txBody>
          <a:bodyPr wrap="square" lIns="0" tIns="0" rIns="0" bIns="0" rtlCol="0" anchor="ctr"/>
          <a:lstStyle/>
          <a:p>
            <a:pPr indent="0" marL="0">
              <a:buNone/>
            </a:pPr>
            <a:r>
              <a:rPr lang="en-US" sz="1400" dirty="0">
                <a:solidFill>
                  <a:schemeClr val="tx1"/>
                </a:solidFill>
              </a:rPr>
              <a:t>3 mois</a:t>
            </a:r>
            <a:endParaRPr lang="en-US" sz="1400" dirty="0"/>
          </a:p>
        </p:txBody>
      </p:sp>
      <p:sp>
        <p:nvSpPr>
          <p:cNvPr id="50" name="a6|point"/>
          <p:cNvSpPr/>
          <p:nvPr/>
        </p:nvSpPr>
        <p:spPr>
          <a:xfrm>
            <a:off x="9948672" y="4672584"/>
            <a:ext cx="201168" cy="201168"/>
          </a:xfrm>
          <a:prstGeom prst="ellipse">
            <a:avLst/>
          </a:prstGeom>
          <a:solidFill>
            <a:schemeClr val="accent2"/>
          </a:solidFill>
          <a:ln w="12700">
            <a:solidFill>
              <a:srgbClr val="0F7C76"/>
            </a:solidFill>
            <a:prstDash val="solid"/>
          </a:ln>
        </p:spPr>
      </p:sp>
      <p:sp>
        <p:nvSpPr>
          <p:cNvPr id="51" name="a6|point"/>
          <p:cNvSpPr/>
          <p:nvPr/>
        </p:nvSpPr>
        <p:spPr>
          <a:xfrm>
            <a:off x="10259568" y="4672584"/>
            <a:ext cx="201168" cy="201168"/>
          </a:xfrm>
          <a:prstGeom prst="ellipse">
            <a:avLst/>
          </a:prstGeom>
          <a:solidFill>
            <a:schemeClr val="accent2"/>
          </a:solidFill>
          <a:ln w="12700">
            <a:solidFill>
              <a:srgbClr val="0F7C76"/>
            </a:solidFill>
            <a:prstDash val="solid"/>
          </a:ln>
        </p:spPr>
      </p:sp>
      <p:sp>
        <p:nvSpPr>
          <p:cNvPr id="52" name="a6|point"/>
          <p:cNvSpPr/>
          <p:nvPr/>
        </p:nvSpPr>
        <p:spPr>
          <a:xfrm>
            <a:off x="10570464" y="4672584"/>
            <a:ext cx="201168" cy="201168"/>
          </a:xfrm>
          <a:prstGeom prst="ellipse">
            <a:avLst/>
          </a:prstGeom>
          <a:solidFill>
            <a:schemeClr val="bg1"/>
          </a:solidFill>
          <a:ln w="12700">
            <a:solidFill>
              <a:srgbClr val="0F7C76"/>
            </a:solidFill>
            <a:prstDash val="solid"/>
          </a:ln>
        </p:spPr>
      </p:sp>
      <p:sp>
        <p:nvSpPr>
          <p:cNvPr id="53" name="a7|ligne"/>
          <p:cNvSpPr/>
          <p:nvPr/>
        </p:nvSpPr>
        <p:spPr>
          <a:xfrm>
            <a:off x="548640" y="5138928"/>
            <a:ext cx="11094415" cy="548640"/>
          </a:xfrm>
          <a:prstGeom prst="roundRect">
            <a:avLst>
              <a:gd name="adj" fmla="val 13333"/>
            </a:avLst>
          </a:prstGeom>
          <a:solidFill>
            <a:schemeClr val="bg2"/>
          </a:solidFill>
          <a:ln/>
        </p:spPr>
      </p:sp>
      <p:sp>
        <p:nvSpPr>
          <p:cNvPr id="54" name="a7|icône"/>
          <p:cNvSpPr/>
          <p:nvPr/>
        </p:nvSpPr>
        <p:spPr>
          <a:xfrm>
            <a:off x="749808" y="5230368"/>
            <a:ext cx="365760" cy="365760"/>
          </a:xfrm>
          <a:prstGeom prst="ellipse">
            <a:avLst/>
          </a:prstGeom>
          <a:solidFill>
            <a:schemeClr val="accent2"/>
          </a:solidFill>
          <a:ln/>
        </p:spPr>
      </p:sp>
      <p:pic>
        <p:nvPicPr>
          <p:cNvPr id="55" name="a7|icône"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41248" y="5321808"/>
            <a:ext cx="182880" cy="182880"/>
          </a:xfrm>
          <a:prstGeom prst="rect">
            <a:avLst/>
          </a:prstGeom>
        </p:spPr>
      </p:pic>
      <p:sp>
        <p:nvSpPr>
          <p:cNvPr id="56" name="a7|mesure"/>
          <p:cNvSpPr txBox="1"/>
          <p:nvPr/>
        </p:nvSpPr>
        <p:spPr>
          <a:xfrm>
            <a:off x="1280160" y="5138928"/>
            <a:ext cx="4389120" cy="548640"/>
          </a:xfrm>
          <a:prstGeom prst="rect">
            <a:avLst/>
          </a:prstGeom>
          <a:noFill/>
          <a:ln/>
        </p:spPr>
        <p:txBody>
          <a:bodyPr wrap="square" lIns="0" tIns="0" rIns="0" bIns="0" rtlCol="0" anchor="ctr"/>
          <a:lstStyle/>
          <a:p>
            <a:pPr indent="0" marL="0">
              <a:buNone/>
            </a:pPr>
            <a:r>
              <a:rPr lang="en-US" sz="1500" b="1" dirty="0">
                <a:solidFill>
                  <a:schemeClr val="tx2"/>
                </a:solidFill>
              </a:rPr>
              <a:t>Sauvegardes hors ligne testées</a:t>
            </a:r>
            <a:endParaRPr lang="en-US" sz="1500" dirty="0"/>
          </a:p>
        </p:txBody>
      </p:sp>
      <p:sp>
        <p:nvSpPr>
          <p:cNvPr id="57" name="a7|coût"/>
          <p:cNvSpPr/>
          <p:nvPr/>
        </p:nvSpPr>
        <p:spPr>
          <a:xfrm>
            <a:off x="5760720" y="5257800"/>
            <a:ext cx="2011680" cy="310896"/>
          </a:xfrm>
          <a:prstGeom prst="roundRect">
            <a:avLst>
              <a:gd name="adj" fmla="val 50000"/>
            </a:avLst>
          </a:prstGeom>
          <a:solidFill>
            <a:schemeClr val="accent1">
              <a:alpha val="20000"/>
            </a:schemeClr>
          </a:solidFill>
          <a:ln/>
        </p:spPr>
        <p:txBody>
          <a:bodyPr wrap="square" lIns="0" tIns="0" rIns="0" bIns="0" rtlCol="0" anchor="ctr"/>
          <a:lstStyle/>
          <a:p>
            <a:pPr algn="ctr" indent="0" marL="0">
              <a:buNone/>
            </a:pPr>
            <a:r>
              <a:rPr lang="en-US" sz="1300" b="1" dirty="0">
                <a:solidFill>
                  <a:schemeClr val="tx2"/>
                </a:solidFill>
              </a:rPr>
              <a:t>Modéré</a:t>
            </a:r>
            <a:endParaRPr lang="en-US" sz="1300" dirty="0"/>
          </a:p>
        </p:txBody>
      </p:sp>
      <p:sp>
        <p:nvSpPr>
          <p:cNvPr id="58" name="a7|délai"/>
          <p:cNvSpPr txBox="1"/>
          <p:nvPr/>
        </p:nvSpPr>
        <p:spPr>
          <a:xfrm>
            <a:off x="8092440" y="5138928"/>
            <a:ext cx="1737360" cy="548640"/>
          </a:xfrm>
          <a:prstGeom prst="rect">
            <a:avLst/>
          </a:prstGeom>
          <a:noFill/>
          <a:ln/>
        </p:spPr>
        <p:txBody>
          <a:bodyPr wrap="square" lIns="0" tIns="0" rIns="0" bIns="0" rtlCol="0" anchor="ctr"/>
          <a:lstStyle/>
          <a:p>
            <a:pPr indent="0" marL="0">
              <a:buNone/>
            </a:pPr>
            <a:r>
              <a:rPr lang="en-US" sz="1400" dirty="0">
                <a:solidFill>
                  <a:schemeClr val="tx1"/>
                </a:solidFill>
              </a:rPr>
              <a:t>3 mois</a:t>
            </a:r>
            <a:endParaRPr lang="en-US" sz="1400" dirty="0"/>
          </a:p>
        </p:txBody>
      </p:sp>
      <p:sp>
        <p:nvSpPr>
          <p:cNvPr id="59" name="a7|point"/>
          <p:cNvSpPr/>
          <p:nvPr/>
        </p:nvSpPr>
        <p:spPr>
          <a:xfrm>
            <a:off x="9948672" y="5312664"/>
            <a:ext cx="201168" cy="201168"/>
          </a:xfrm>
          <a:prstGeom prst="ellipse">
            <a:avLst/>
          </a:prstGeom>
          <a:solidFill>
            <a:schemeClr val="accent2"/>
          </a:solidFill>
          <a:ln w="12700">
            <a:solidFill>
              <a:srgbClr val="0F7C76"/>
            </a:solidFill>
            <a:prstDash val="solid"/>
          </a:ln>
        </p:spPr>
      </p:sp>
      <p:sp>
        <p:nvSpPr>
          <p:cNvPr id="60" name="a7|point"/>
          <p:cNvSpPr/>
          <p:nvPr/>
        </p:nvSpPr>
        <p:spPr>
          <a:xfrm>
            <a:off x="10259568" y="5312664"/>
            <a:ext cx="201168" cy="201168"/>
          </a:xfrm>
          <a:prstGeom prst="ellipse">
            <a:avLst/>
          </a:prstGeom>
          <a:solidFill>
            <a:schemeClr val="accent2"/>
          </a:solidFill>
          <a:ln w="12700">
            <a:solidFill>
              <a:srgbClr val="0F7C76"/>
            </a:solidFill>
            <a:prstDash val="solid"/>
          </a:ln>
        </p:spPr>
      </p:sp>
      <p:sp>
        <p:nvSpPr>
          <p:cNvPr id="61" name="a7|point"/>
          <p:cNvSpPr/>
          <p:nvPr/>
        </p:nvSpPr>
        <p:spPr>
          <a:xfrm>
            <a:off x="10570464" y="5312664"/>
            <a:ext cx="201168" cy="201168"/>
          </a:xfrm>
          <a:prstGeom prst="ellipse">
            <a:avLst/>
          </a:prstGeom>
          <a:solidFill>
            <a:schemeClr val="accent2"/>
          </a:solidFill>
          <a:ln w="12700">
            <a:solidFill>
              <a:srgbClr val="0F7C76"/>
            </a:solidFill>
            <a:prstDash val="solid"/>
          </a:ln>
        </p:spPr>
      </p:sp>
      <p:sp>
        <p:nvSpPr>
          <p:cNvPr id="62" name="a8|note"/>
          <p:cNvSpPr txBox="1"/>
          <p:nvPr/>
        </p:nvSpPr>
        <p:spPr>
          <a:xfrm>
            <a:off x="548640" y="5833872"/>
            <a:ext cx="11094415" cy="411480"/>
          </a:xfrm>
          <a:prstGeom prst="rect">
            <a:avLst/>
          </a:prstGeom>
          <a:noFill/>
          <a:ln/>
        </p:spPr>
        <p:txBody>
          <a:bodyPr wrap="square" lIns="0" tIns="0" rIns="0" bIns="0" rtlCol="0" anchor="t"/>
          <a:lstStyle/>
          <a:p>
            <a:pPr indent="0" marL="0">
              <a:buNone/>
            </a:pPr>
            <a:r>
              <a:rPr lang="en-US" sz="1100" i="1" dirty="0">
                <a:solidFill>
                  <a:schemeClr val="accent3"/>
                </a:solidFill>
              </a:rPr>
              <a:t>Estimations indicatives, à affiner selon nos outils actuels et nos prestataires. « Souvent inclus » : la plupart des suites bureautiques en ligne intègrent le MFA sans surcoût.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5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7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75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nodeType="withEffect">
                                  <p:stCondLst>
                                    <p:cond delay="75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75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75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75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75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75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75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nodeType="withEffect">
                                  <p:stCondLst>
                                    <p:cond delay="100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par>
                                <p:cTn id="107" presetID="10" presetClass="entr" presetSubtype="0" fill="hold" grpId="0" nodeType="withEffect">
                                  <p:stCondLst>
                                    <p:cond delay="100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50"/>
                                        <p:tgtEl>
                                          <p:spTgt spid="38"/>
                                        </p:tgtEl>
                                      </p:cBhvr>
                                    </p:animEffect>
                                  </p:childTnLst>
                                </p:cTn>
                              </p:par>
                              <p:par>
                                <p:cTn id="110" presetID="10" presetClass="entr" presetSubtype="0" fill="hold" grpId="0" nodeType="withEffect">
                                  <p:stCondLst>
                                    <p:cond delay="100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50"/>
                                        <p:tgtEl>
                                          <p:spTgt spid="39"/>
                                        </p:tgtEl>
                                      </p:cBhvr>
                                    </p:animEffect>
                                  </p:childTnLst>
                                </p:cTn>
                              </p:par>
                              <p:par>
                                <p:cTn id="113" presetID="10" presetClass="entr" presetSubtype="0" fill="hold" grpId="0" nodeType="withEffect">
                                  <p:stCondLst>
                                    <p:cond delay="100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50"/>
                                        <p:tgtEl>
                                          <p:spTgt spid="40"/>
                                        </p:tgtEl>
                                      </p:cBhvr>
                                    </p:animEffect>
                                  </p:childTnLst>
                                </p:cTn>
                              </p:par>
                              <p:par>
                                <p:cTn id="116" presetID="10" presetClass="entr" presetSubtype="0" fill="hold" grpId="0" nodeType="withEffect">
                                  <p:stCondLst>
                                    <p:cond delay="100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50"/>
                                        <p:tgtEl>
                                          <p:spTgt spid="41"/>
                                        </p:tgtEl>
                                      </p:cBhvr>
                                    </p:animEffect>
                                  </p:childTnLst>
                                </p:cTn>
                              </p:par>
                              <p:par>
                                <p:cTn id="119" presetID="10" presetClass="entr" presetSubtype="0" fill="hold" grpId="0" nodeType="withEffect">
                                  <p:stCondLst>
                                    <p:cond delay="100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50"/>
                                        <p:tgtEl>
                                          <p:spTgt spid="42"/>
                                        </p:tgtEl>
                                      </p:cBhvr>
                                    </p:animEffect>
                                  </p:childTnLst>
                                </p:cTn>
                              </p:par>
                              <p:par>
                                <p:cTn id="122" presetID="10" presetClass="entr" presetSubtype="0" fill="hold" grpId="0" nodeType="withEffect">
                                  <p:stCondLst>
                                    <p:cond delay="100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50"/>
                                        <p:tgtEl>
                                          <p:spTgt spid="43"/>
                                        </p:tgtEl>
                                      </p:cBhvr>
                                    </p:animEffect>
                                  </p:childTnLst>
                                </p:cTn>
                              </p:par>
                              <p:par>
                                <p:cTn id="125" presetID="10" presetClass="entr" presetSubtype="0" fill="hold" grpId="0" nodeType="withEffect">
                                  <p:stCondLst>
                                    <p:cond delay="125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50"/>
                                        <p:tgtEl>
                                          <p:spTgt spid="44"/>
                                        </p:tgtEl>
                                      </p:cBhvr>
                                    </p:animEffect>
                                  </p:childTnLst>
                                </p:cTn>
                              </p:par>
                              <p:par>
                                <p:cTn id="128" presetID="10" presetClass="entr" presetSubtype="0" fill="hold" grpId="0" nodeType="withEffect">
                                  <p:stCondLst>
                                    <p:cond delay="125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50"/>
                                        <p:tgtEl>
                                          <p:spTgt spid="45"/>
                                        </p:tgtEl>
                                      </p:cBhvr>
                                    </p:animEffect>
                                  </p:childTnLst>
                                </p:cTn>
                              </p:par>
                              <p:par>
                                <p:cTn id="131" presetID="10" presetClass="entr" presetSubtype="0" fill="hold" nodeType="withEffect">
                                  <p:stCondLst>
                                    <p:cond delay="125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50"/>
                                        <p:tgtEl>
                                          <p:spTgt spid="46"/>
                                        </p:tgtEl>
                                      </p:cBhvr>
                                    </p:animEffect>
                                  </p:childTnLst>
                                </p:cTn>
                              </p:par>
                              <p:par>
                                <p:cTn id="134" presetID="10" presetClass="entr" presetSubtype="0" fill="hold" grpId="0" nodeType="withEffect">
                                  <p:stCondLst>
                                    <p:cond delay="125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50"/>
                                        <p:tgtEl>
                                          <p:spTgt spid="47"/>
                                        </p:tgtEl>
                                      </p:cBhvr>
                                    </p:animEffect>
                                  </p:childTnLst>
                                </p:cTn>
                              </p:par>
                              <p:par>
                                <p:cTn id="137" presetID="10" presetClass="entr" presetSubtype="0" fill="hold" grpId="0" nodeType="withEffect">
                                  <p:stCondLst>
                                    <p:cond delay="125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50"/>
                                        <p:tgtEl>
                                          <p:spTgt spid="48"/>
                                        </p:tgtEl>
                                      </p:cBhvr>
                                    </p:animEffect>
                                  </p:childTnLst>
                                </p:cTn>
                              </p:par>
                              <p:par>
                                <p:cTn id="140" presetID="10" presetClass="entr" presetSubtype="0" fill="hold" grpId="0" nodeType="withEffect">
                                  <p:stCondLst>
                                    <p:cond delay="125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450"/>
                                        <p:tgtEl>
                                          <p:spTgt spid="49"/>
                                        </p:tgtEl>
                                      </p:cBhvr>
                                    </p:animEffect>
                                  </p:childTnLst>
                                </p:cTn>
                              </p:par>
                              <p:par>
                                <p:cTn id="143" presetID="10" presetClass="entr" presetSubtype="0" fill="hold" grpId="0" nodeType="withEffect">
                                  <p:stCondLst>
                                    <p:cond delay="125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50"/>
                                        <p:tgtEl>
                                          <p:spTgt spid="50"/>
                                        </p:tgtEl>
                                      </p:cBhvr>
                                    </p:animEffect>
                                  </p:childTnLst>
                                </p:cTn>
                              </p:par>
                              <p:par>
                                <p:cTn id="146" presetID="10" presetClass="entr" presetSubtype="0" fill="hold" grpId="0" nodeType="withEffect">
                                  <p:stCondLst>
                                    <p:cond delay="125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50"/>
                                        <p:tgtEl>
                                          <p:spTgt spid="51"/>
                                        </p:tgtEl>
                                      </p:cBhvr>
                                    </p:animEffect>
                                  </p:childTnLst>
                                </p:cTn>
                              </p:par>
                              <p:par>
                                <p:cTn id="149" presetID="10" presetClass="entr" presetSubtype="0" fill="hold" grpId="0" nodeType="withEffect">
                                  <p:stCondLst>
                                    <p:cond delay="125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50"/>
                                        <p:tgtEl>
                                          <p:spTgt spid="52"/>
                                        </p:tgtEl>
                                      </p:cBhvr>
                                    </p:animEffect>
                                  </p:childTnLst>
                                </p:cTn>
                              </p:par>
                              <p:par>
                                <p:cTn id="152" presetID="10" presetClass="entr" presetSubtype="0" fill="hold" grpId="0" nodeType="withEffect">
                                  <p:stCondLst>
                                    <p:cond delay="150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50"/>
                                        <p:tgtEl>
                                          <p:spTgt spid="53"/>
                                        </p:tgtEl>
                                      </p:cBhvr>
                                    </p:animEffect>
                                  </p:childTnLst>
                                </p:cTn>
                              </p:par>
                              <p:par>
                                <p:cTn id="155" presetID="10" presetClass="entr" presetSubtype="0" fill="hold" grpId="0" nodeType="withEffect">
                                  <p:stCondLst>
                                    <p:cond delay="150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50"/>
                                        <p:tgtEl>
                                          <p:spTgt spid="54"/>
                                        </p:tgtEl>
                                      </p:cBhvr>
                                    </p:animEffect>
                                  </p:childTnLst>
                                </p:cTn>
                              </p:par>
                              <p:par>
                                <p:cTn id="158" presetID="10" presetClass="entr" presetSubtype="0" fill="hold" nodeType="withEffect">
                                  <p:stCondLst>
                                    <p:cond delay="150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50"/>
                                        <p:tgtEl>
                                          <p:spTgt spid="55"/>
                                        </p:tgtEl>
                                      </p:cBhvr>
                                    </p:animEffect>
                                  </p:childTnLst>
                                </p:cTn>
                              </p:par>
                              <p:par>
                                <p:cTn id="161" presetID="10" presetClass="entr" presetSubtype="0" fill="hold" grpId="0" nodeType="withEffect">
                                  <p:stCondLst>
                                    <p:cond delay="150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50"/>
                                        <p:tgtEl>
                                          <p:spTgt spid="56"/>
                                        </p:tgtEl>
                                      </p:cBhvr>
                                    </p:animEffect>
                                  </p:childTnLst>
                                </p:cTn>
                              </p:par>
                              <p:par>
                                <p:cTn id="164" presetID="10" presetClass="entr" presetSubtype="0" fill="hold" grpId="0" nodeType="withEffect">
                                  <p:stCondLst>
                                    <p:cond delay="1500"/>
                                  </p:stCondLst>
                                  <p:childTnLst>
                                    <p:set>
                                      <p:cBhvr>
                                        <p:cTn id="165" dur="1" fill="hold">
                                          <p:stCondLst>
                                            <p:cond delay="0"/>
                                          </p:stCondLst>
                                        </p:cTn>
                                        <p:tgtEl>
                                          <p:spTgt spid="57"/>
                                        </p:tgtEl>
                                        <p:attrNameLst>
                                          <p:attrName>style.visibility</p:attrName>
                                        </p:attrNameLst>
                                      </p:cBhvr>
                                      <p:to>
                                        <p:strVal val="visible"/>
                                      </p:to>
                                    </p:set>
                                    <p:animEffect transition="in" filter="fade">
                                      <p:cBhvr>
                                        <p:cTn id="166" dur="450"/>
                                        <p:tgtEl>
                                          <p:spTgt spid="57"/>
                                        </p:tgtEl>
                                      </p:cBhvr>
                                    </p:animEffect>
                                  </p:childTnLst>
                                </p:cTn>
                              </p:par>
                              <p:par>
                                <p:cTn id="167" presetID="10" presetClass="entr" presetSubtype="0" fill="hold" grpId="0" nodeType="withEffect">
                                  <p:stCondLst>
                                    <p:cond delay="1500"/>
                                  </p:stCondLst>
                                  <p:childTnLst>
                                    <p:set>
                                      <p:cBhvr>
                                        <p:cTn id="168" dur="1" fill="hold">
                                          <p:stCondLst>
                                            <p:cond delay="0"/>
                                          </p:stCondLst>
                                        </p:cTn>
                                        <p:tgtEl>
                                          <p:spTgt spid="58"/>
                                        </p:tgtEl>
                                        <p:attrNameLst>
                                          <p:attrName>style.visibility</p:attrName>
                                        </p:attrNameLst>
                                      </p:cBhvr>
                                      <p:to>
                                        <p:strVal val="visible"/>
                                      </p:to>
                                    </p:set>
                                    <p:animEffect transition="in" filter="fade">
                                      <p:cBhvr>
                                        <p:cTn id="169" dur="450"/>
                                        <p:tgtEl>
                                          <p:spTgt spid="58"/>
                                        </p:tgtEl>
                                      </p:cBhvr>
                                    </p:animEffect>
                                  </p:childTnLst>
                                </p:cTn>
                              </p:par>
                              <p:par>
                                <p:cTn id="170" presetID="10" presetClass="entr" presetSubtype="0" fill="hold" grpId="0" nodeType="withEffect">
                                  <p:stCondLst>
                                    <p:cond delay="150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50"/>
                                        <p:tgtEl>
                                          <p:spTgt spid="59"/>
                                        </p:tgtEl>
                                      </p:cBhvr>
                                    </p:animEffect>
                                  </p:childTnLst>
                                </p:cTn>
                              </p:par>
                              <p:par>
                                <p:cTn id="173" presetID="10" presetClass="entr" presetSubtype="0" fill="hold" grpId="0" nodeType="withEffect">
                                  <p:stCondLst>
                                    <p:cond delay="150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50"/>
                                        <p:tgtEl>
                                          <p:spTgt spid="60"/>
                                        </p:tgtEl>
                                      </p:cBhvr>
                                    </p:animEffect>
                                  </p:childTnLst>
                                </p:cTn>
                              </p:par>
                              <p:par>
                                <p:cTn id="176" presetID="10" presetClass="entr" presetSubtype="0" fill="hold" grpId="0" nodeType="withEffect">
                                  <p:stCondLst>
                                    <p:cond delay="150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50"/>
                                        <p:tgtEl>
                                          <p:spTgt spid="61"/>
                                        </p:tgtEl>
                                      </p:cBhvr>
                                    </p:animEffect>
                                  </p:childTnLst>
                                </p:cTn>
                              </p:par>
                              <p:par>
                                <p:cTn id="179" presetID="10" presetClass="entr" presetSubtype="0" fill="hold" grpId="0" nodeType="withEffect">
                                  <p:stCondLst>
                                    <p:cond delay="175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3" grpId="0" animBg="1"/>
      <p:bldP spid="44" grpId="0" animBg="1"/>
      <p:bldP spid="45" grpId="0" animBg="1"/>
      <p:bldP spid="47" grpId="0" animBg="1"/>
      <p:bldP spid="48" grpId="0" animBg="1"/>
      <p:bldP spid="49" grpId="0" animBg="1"/>
      <p:bldP spid="50" grpId="0" animBg="1"/>
      <p:bldP spid="51" grpId="0" animBg="1"/>
      <p:bldP spid="52" grpId="0" animBg="1"/>
      <p:bldP spid="53" grpId="0" animBg="1"/>
      <p:bldP spid="54" grpId="0" animBg="1"/>
      <p:bldP spid="56" grpId="0" animBg="1"/>
      <p:bldP spid="57" grpId="0" animBg="1"/>
      <p:bldP spid="58" grpId="0" animBg="1"/>
      <p:bldP spid="59" grpId="0" animBg="1"/>
      <p:bldP spid="60" grpId="0" animBg="1"/>
      <p:bldP spid="61" grpId="0" animBg="1"/>
      <p:bldP spid="6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04 · PLAN D'ACTION</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Mesurer pour progresser</a:t>
            </a:r>
            <a:endParaRPr lang="en-US" sz="3600" dirty="0"/>
          </a:p>
        </p:txBody>
      </p:sp>
      <p:sp>
        <p:nvSpPr>
          <p:cNvPr id="4" name="a1|carte"/>
          <p:cNvSpPr/>
          <p:nvPr/>
        </p:nvSpPr>
        <p:spPr>
          <a:xfrm>
            <a:off x="548640" y="1645920"/>
            <a:ext cx="2606040" cy="3017520"/>
          </a:xfrm>
          <a:prstGeom prst="roundRect">
            <a:avLst>
              <a:gd name="adj" fmla="val 3509"/>
            </a:avLst>
          </a:prstGeom>
          <a:solidFill>
            <a:schemeClr val="bg2"/>
          </a:solidFill>
          <a:ln/>
        </p:spPr>
      </p:sp>
      <p:sp>
        <p:nvSpPr>
          <p:cNvPr id="5" name="a1|icône"/>
          <p:cNvSpPr/>
          <p:nvPr/>
        </p:nvSpPr>
        <p:spPr>
          <a:xfrm>
            <a:off x="822960" y="1920240"/>
            <a:ext cx="603504" cy="603504"/>
          </a:xfrm>
          <a:prstGeom prst="ellipse">
            <a:avLst/>
          </a:prstGeom>
          <a:solidFill>
            <a:schemeClr val="accent2"/>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071116"/>
            <a:ext cx="301752" cy="301752"/>
          </a:xfrm>
          <a:prstGeom prst="rect">
            <a:avLst/>
          </a:prstGeom>
        </p:spPr>
      </p:pic>
      <p:sp>
        <p:nvSpPr>
          <p:cNvPr id="7" name="a1|titre"/>
          <p:cNvSpPr txBox="1"/>
          <p:nvPr/>
        </p:nvSpPr>
        <p:spPr>
          <a:xfrm>
            <a:off x="822960"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rPr>
              <a:t>Taux de signalement</a:t>
            </a:r>
            <a:endParaRPr lang="en-US" sz="1400" dirty="0"/>
          </a:p>
          <a:p>
            <a:pPr indent="0" marL="0">
              <a:buNone/>
            </a:pPr>
            <a:r>
              <a:rPr lang="en-US" sz="1400" dirty="0">
                <a:solidFill>
                  <a:schemeClr val="accent3"/>
                </a:solidFill>
              </a:rPr>
              <a:t>en simulation</a:t>
            </a:r>
            <a:endParaRPr lang="en-US" sz="1400" dirty="0"/>
          </a:p>
        </p:txBody>
      </p:sp>
      <p:sp>
        <p:nvSpPr>
          <p:cNvPr id="8" name="a1|sens"/>
          <p:cNvSpPr txBox="1"/>
          <p:nvPr/>
        </p:nvSpPr>
        <p:spPr>
          <a:xfrm>
            <a:off x="822960" y="3401568"/>
            <a:ext cx="2103120" cy="274320"/>
          </a:xfrm>
          <a:prstGeom prst="rect">
            <a:avLst/>
          </a:prstGeom>
          <a:noFill/>
          <a:ln/>
        </p:spPr>
        <p:txBody>
          <a:bodyPr wrap="square" lIns="0" tIns="0" rIns="0" bIns="0" rtlCol="0" anchor="t"/>
          <a:lstStyle/>
          <a:p>
            <a:pPr indent="0" marL="0">
              <a:buNone/>
            </a:pPr>
            <a:r>
              <a:rPr lang="en-US" sz="1400" b="1" dirty="0">
                <a:solidFill>
                  <a:schemeClr val="accent2"/>
                </a:solidFill>
              </a:rPr>
              <a:t>À faire monter</a:t>
            </a:r>
            <a:endParaRPr lang="en-US" sz="1400" dirty="0"/>
          </a:p>
        </p:txBody>
      </p:sp>
      <p:sp>
        <p:nvSpPr>
          <p:cNvPr id="9" name="a1|cible"/>
          <p:cNvSpPr txBox="1"/>
          <p:nvPr/>
        </p:nvSpPr>
        <p:spPr>
          <a:xfrm>
            <a:off x="822960" y="3794760"/>
            <a:ext cx="2103120" cy="228600"/>
          </a:xfrm>
          <a:prstGeom prst="rect">
            <a:avLst/>
          </a:prstGeom>
          <a:noFill/>
          <a:ln/>
        </p:spPr>
        <p:txBody>
          <a:bodyPr wrap="square" lIns="0" tIns="0" rIns="0" bIns="0" rtlCol="0" anchor="t"/>
          <a:lstStyle/>
          <a:p>
            <a:pPr indent="0" marL="0">
              <a:buNone/>
            </a:pPr>
            <a:r>
              <a:rPr lang="en-US" sz="1100" b="1" spc="100" kern="0" dirty="0">
                <a:solidFill>
                  <a:schemeClr val="accent3"/>
                </a:solidFill>
              </a:rPr>
              <a:t>CIBLE PROPOSÉE</a:t>
            </a:r>
            <a:endParaRPr lang="en-US" sz="1100" dirty="0"/>
          </a:p>
        </p:txBody>
      </p:sp>
      <p:sp>
        <p:nvSpPr>
          <p:cNvPr id="10" name="a1|valeur"/>
          <p:cNvSpPr txBox="1"/>
          <p:nvPr/>
        </p:nvSpPr>
        <p:spPr>
          <a:xfrm>
            <a:off x="822960" y="4041648"/>
            <a:ext cx="2103120" cy="548640"/>
          </a:xfrm>
          <a:prstGeom prst="rect">
            <a:avLst/>
          </a:prstGeom>
          <a:noFill/>
          <a:ln/>
        </p:spPr>
        <p:txBody>
          <a:bodyPr wrap="square" lIns="0" tIns="0" rIns="0" bIns="0" rtlCol="0" anchor="t"/>
          <a:lstStyle/>
          <a:p>
            <a:pPr indent="0" marL="0">
              <a:buNone/>
            </a:pPr>
            <a:r>
              <a:rPr lang="en-US" sz="1500" b="1" dirty="0">
                <a:solidFill>
                  <a:schemeClr val="tx2"/>
                </a:solidFill>
              </a:rPr>
              <a:t>Plus de signalements que de clics</a:t>
            </a:r>
            <a:endParaRPr lang="en-US" sz="1500" dirty="0"/>
          </a:p>
        </p:txBody>
      </p:sp>
      <p:sp>
        <p:nvSpPr>
          <p:cNvPr id="11" name="a2|carte"/>
          <p:cNvSpPr/>
          <p:nvPr/>
        </p:nvSpPr>
        <p:spPr>
          <a:xfrm>
            <a:off x="3377794" y="1645920"/>
            <a:ext cx="2606040" cy="3017520"/>
          </a:xfrm>
          <a:prstGeom prst="roundRect">
            <a:avLst>
              <a:gd name="adj" fmla="val 3509"/>
            </a:avLst>
          </a:prstGeom>
          <a:solidFill>
            <a:schemeClr val="bg2"/>
          </a:solidFill>
          <a:ln/>
        </p:spPr>
      </p:sp>
      <p:sp>
        <p:nvSpPr>
          <p:cNvPr id="12" name="a2|icône"/>
          <p:cNvSpPr/>
          <p:nvPr/>
        </p:nvSpPr>
        <p:spPr>
          <a:xfrm>
            <a:off x="3652114" y="1920240"/>
            <a:ext cx="603504" cy="603504"/>
          </a:xfrm>
          <a:prstGeom prst="ellipse">
            <a:avLst/>
          </a:prstGeom>
          <a:solidFill>
            <a:schemeClr val="accent2"/>
          </a:solidFill>
          <a:ln/>
        </p:spPr>
      </p:sp>
      <p:pic>
        <p:nvPicPr>
          <p:cNvPr id="13"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02990" y="2071116"/>
            <a:ext cx="301752" cy="301752"/>
          </a:xfrm>
          <a:prstGeom prst="rect">
            <a:avLst/>
          </a:prstGeom>
        </p:spPr>
      </p:pic>
      <p:sp>
        <p:nvSpPr>
          <p:cNvPr id="14" name="a2|titre"/>
          <p:cNvSpPr txBox="1"/>
          <p:nvPr/>
        </p:nvSpPr>
        <p:spPr>
          <a:xfrm>
            <a:off x="3652114"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rPr>
              <a:t>Taux de clic</a:t>
            </a:r>
            <a:endParaRPr lang="en-US" sz="1400" dirty="0"/>
          </a:p>
          <a:p>
            <a:pPr indent="0" marL="0">
              <a:buNone/>
            </a:pPr>
            <a:r>
              <a:rPr lang="en-US" sz="1400" dirty="0">
                <a:solidFill>
                  <a:schemeClr val="accent3"/>
                </a:solidFill>
              </a:rPr>
              <a:t>en simulation</a:t>
            </a:r>
            <a:endParaRPr lang="en-US" sz="1400" dirty="0"/>
          </a:p>
        </p:txBody>
      </p:sp>
      <p:sp>
        <p:nvSpPr>
          <p:cNvPr id="15" name="a2|sens"/>
          <p:cNvSpPr txBox="1"/>
          <p:nvPr/>
        </p:nvSpPr>
        <p:spPr>
          <a:xfrm>
            <a:off x="3652114" y="3401568"/>
            <a:ext cx="2103120" cy="274320"/>
          </a:xfrm>
          <a:prstGeom prst="rect">
            <a:avLst/>
          </a:prstGeom>
          <a:noFill/>
          <a:ln/>
        </p:spPr>
        <p:txBody>
          <a:bodyPr wrap="square" lIns="0" tIns="0" rIns="0" bIns="0" rtlCol="0" anchor="t"/>
          <a:lstStyle/>
          <a:p>
            <a:pPr indent="0" marL="0">
              <a:buNone/>
            </a:pPr>
            <a:r>
              <a:rPr lang="en-US" sz="1400" b="1" dirty="0">
                <a:solidFill>
                  <a:schemeClr val="accent2"/>
                </a:solidFill>
              </a:rPr>
              <a:t>À faire baisser</a:t>
            </a:r>
            <a:endParaRPr lang="en-US" sz="1400" dirty="0"/>
          </a:p>
        </p:txBody>
      </p:sp>
      <p:sp>
        <p:nvSpPr>
          <p:cNvPr id="16" name="a2|cible"/>
          <p:cNvSpPr txBox="1"/>
          <p:nvPr/>
        </p:nvSpPr>
        <p:spPr>
          <a:xfrm>
            <a:off x="3652114" y="3794760"/>
            <a:ext cx="2103120" cy="228600"/>
          </a:xfrm>
          <a:prstGeom prst="rect">
            <a:avLst/>
          </a:prstGeom>
          <a:noFill/>
          <a:ln/>
        </p:spPr>
        <p:txBody>
          <a:bodyPr wrap="square" lIns="0" tIns="0" rIns="0" bIns="0" rtlCol="0" anchor="t"/>
          <a:lstStyle/>
          <a:p>
            <a:pPr indent="0" marL="0">
              <a:buNone/>
            </a:pPr>
            <a:r>
              <a:rPr lang="en-US" sz="1100" b="1" spc="100" kern="0" dirty="0">
                <a:solidFill>
                  <a:schemeClr val="accent3"/>
                </a:solidFill>
              </a:rPr>
              <a:t>CIBLE PROPOSÉE</a:t>
            </a:r>
            <a:endParaRPr lang="en-US" sz="1100" dirty="0"/>
          </a:p>
        </p:txBody>
      </p:sp>
      <p:sp>
        <p:nvSpPr>
          <p:cNvPr id="17" name="a2|valeur"/>
          <p:cNvSpPr txBox="1"/>
          <p:nvPr/>
        </p:nvSpPr>
        <p:spPr>
          <a:xfrm>
            <a:off x="3652114" y="4041648"/>
            <a:ext cx="2103120" cy="548640"/>
          </a:xfrm>
          <a:prstGeom prst="rect">
            <a:avLst/>
          </a:prstGeom>
          <a:noFill/>
          <a:ln/>
        </p:spPr>
        <p:txBody>
          <a:bodyPr wrap="square" lIns="0" tIns="0" rIns="0" bIns="0" rtlCol="0" anchor="t"/>
          <a:lstStyle/>
          <a:p>
            <a:pPr indent="0" marL="0">
              <a:buNone/>
            </a:pPr>
            <a:r>
              <a:rPr lang="en-US" sz="1500" b="1" dirty="0">
                <a:solidFill>
                  <a:schemeClr val="tx2"/>
                </a:solidFill>
              </a:rPr>
              <a:t>En baisse à chaque campagne</a:t>
            </a:r>
            <a:endParaRPr lang="en-US" sz="1500" dirty="0"/>
          </a:p>
        </p:txBody>
      </p:sp>
      <p:sp>
        <p:nvSpPr>
          <p:cNvPr id="18" name="a3|carte"/>
          <p:cNvSpPr/>
          <p:nvPr/>
        </p:nvSpPr>
        <p:spPr>
          <a:xfrm>
            <a:off x="6206947" y="1645920"/>
            <a:ext cx="2606040" cy="3017520"/>
          </a:xfrm>
          <a:prstGeom prst="roundRect">
            <a:avLst>
              <a:gd name="adj" fmla="val 3509"/>
            </a:avLst>
          </a:prstGeom>
          <a:solidFill>
            <a:schemeClr val="bg2"/>
          </a:solidFill>
          <a:ln/>
        </p:spPr>
      </p:sp>
      <p:sp>
        <p:nvSpPr>
          <p:cNvPr id="19" name="a3|icône"/>
          <p:cNvSpPr/>
          <p:nvPr/>
        </p:nvSpPr>
        <p:spPr>
          <a:xfrm>
            <a:off x="6481267" y="1920240"/>
            <a:ext cx="603504" cy="603504"/>
          </a:xfrm>
          <a:prstGeom prst="ellipse">
            <a:avLst/>
          </a:prstGeom>
          <a:solidFill>
            <a:schemeClr val="accent2"/>
          </a:solidFill>
          <a:ln/>
        </p:spPr>
      </p:sp>
      <p:pic>
        <p:nvPicPr>
          <p:cNvPr id="20"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32143" y="2071116"/>
            <a:ext cx="301752" cy="301752"/>
          </a:xfrm>
          <a:prstGeom prst="rect">
            <a:avLst/>
          </a:prstGeom>
        </p:spPr>
      </p:pic>
      <p:sp>
        <p:nvSpPr>
          <p:cNvPr id="21" name="a3|titre"/>
          <p:cNvSpPr txBox="1"/>
          <p:nvPr/>
        </p:nvSpPr>
        <p:spPr>
          <a:xfrm>
            <a:off x="6481267"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rPr>
              <a:t>Délai de signalement</a:t>
            </a:r>
            <a:endParaRPr lang="en-US" sz="1400" dirty="0"/>
          </a:p>
          <a:p>
            <a:pPr indent="0" marL="0">
              <a:buNone/>
            </a:pPr>
            <a:r>
              <a:rPr lang="en-US" sz="1400" dirty="0">
                <a:solidFill>
                  <a:schemeClr val="accent3"/>
                </a:solidFill>
              </a:rPr>
              <a:t>après réception</a:t>
            </a:r>
            <a:endParaRPr lang="en-US" sz="1400" dirty="0"/>
          </a:p>
        </p:txBody>
      </p:sp>
      <p:sp>
        <p:nvSpPr>
          <p:cNvPr id="22" name="a3|sens"/>
          <p:cNvSpPr txBox="1"/>
          <p:nvPr/>
        </p:nvSpPr>
        <p:spPr>
          <a:xfrm>
            <a:off x="6481267" y="3401568"/>
            <a:ext cx="2103120" cy="274320"/>
          </a:xfrm>
          <a:prstGeom prst="rect">
            <a:avLst/>
          </a:prstGeom>
          <a:noFill/>
          <a:ln/>
        </p:spPr>
        <p:txBody>
          <a:bodyPr wrap="square" lIns="0" tIns="0" rIns="0" bIns="0" rtlCol="0" anchor="t"/>
          <a:lstStyle/>
          <a:p>
            <a:pPr indent="0" marL="0">
              <a:buNone/>
            </a:pPr>
            <a:r>
              <a:rPr lang="en-US" sz="1400" b="1" dirty="0">
                <a:solidFill>
                  <a:schemeClr val="accent2"/>
                </a:solidFill>
              </a:rPr>
              <a:t>À réduire</a:t>
            </a:r>
            <a:endParaRPr lang="en-US" sz="1400" dirty="0"/>
          </a:p>
        </p:txBody>
      </p:sp>
      <p:sp>
        <p:nvSpPr>
          <p:cNvPr id="23" name="a3|cible"/>
          <p:cNvSpPr txBox="1"/>
          <p:nvPr/>
        </p:nvSpPr>
        <p:spPr>
          <a:xfrm>
            <a:off x="6481267" y="3794760"/>
            <a:ext cx="2103120" cy="228600"/>
          </a:xfrm>
          <a:prstGeom prst="rect">
            <a:avLst/>
          </a:prstGeom>
          <a:noFill/>
          <a:ln/>
        </p:spPr>
        <p:txBody>
          <a:bodyPr wrap="square" lIns="0" tIns="0" rIns="0" bIns="0" rtlCol="0" anchor="t"/>
          <a:lstStyle/>
          <a:p>
            <a:pPr indent="0" marL="0">
              <a:buNone/>
            </a:pPr>
            <a:r>
              <a:rPr lang="en-US" sz="1100" b="1" spc="100" kern="0" dirty="0">
                <a:solidFill>
                  <a:schemeClr val="accent3"/>
                </a:solidFill>
              </a:rPr>
              <a:t>CIBLE PROPOSÉE</a:t>
            </a:r>
            <a:endParaRPr lang="en-US" sz="1100" dirty="0"/>
          </a:p>
        </p:txBody>
      </p:sp>
      <p:sp>
        <p:nvSpPr>
          <p:cNvPr id="24" name="a3|valeur"/>
          <p:cNvSpPr txBox="1"/>
          <p:nvPr/>
        </p:nvSpPr>
        <p:spPr>
          <a:xfrm>
            <a:off x="6481267" y="4041648"/>
            <a:ext cx="2103120" cy="548640"/>
          </a:xfrm>
          <a:prstGeom prst="rect">
            <a:avLst/>
          </a:prstGeom>
          <a:noFill/>
          <a:ln/>
        </p:spPr>
        <p:txBody>
          <a:bodyPr wrap="square" lIns="0" tIns="0" rIns="0" bIns="0" rtlCol="0" anchor="t"/>
          <a:lstStyle/>
          <a:p>
            <a:pPr indent="0" marL="0">
              <a:buNone/>
            </a:pPr>
            <a:r>
              <a:rPr lang="en-US" sz="1500" b="1" dirty="0">
                <a:solidFill>
                  <a:schemeClr val="tx2"/>
                </a:solidFill>
              </a:rPr>
              <a:t>Moins de 30 minutes</a:t>
            </a:r>
            <a:endParaRPr lang="en-US" sz="1500" dirty="0"/>
          </a:p>
        </p:txBody>
      </p:sp>
      <p:sp>
        <p:nvSpPr>
          <p:cNvPr id="25" name="a4|carte"/>
          <p:cNvSpPr/>
          <p:nvPr/>
        </p:nvSpPr>
        <p:spPr>
          <a:xfrm>
            <a:off x="9036101" y="1645920"/>
            <a:ext cx="2606040" cy="3017520"/>
          </a:xfrm>
          <a:prstGeom prst="roundRect">
            <a:avLst>
              <a:gd name="adj" fmla="val 3509"/>
            </a:avLst>
          </a:prstGeom>
          <a:solidFill>
            <a:schemeClr val="bg2"/>
          </a:solidFill>
          <a:ln/>
        </p:spPr>
      </p:sp>
      <p:sp>
        <p:nvSpPr>
          <p:cNvPr id="26" name="a4|icône"/>
          <p:cNvSpPr/>
          <p:nvPr/>
        </p:nvSpPr>
        <p:spPr>
          <a:xfrm>
            <a:off x="9310421" y="1920240"/>
            <a:ext cx="603504" cy="603504"/>
          </a:xfrm>
          <a:prstGeom prst="ellipse">
            <a:avLst/>
          </a:prstGeom>
          <a:solidFill>
            <a:schemeClr val="accent2"/>
          </a:solidFill>
          <a:ln/>
        </p:spPr>
      </p:sp>
      <p:pic>
        <p:nvPicPr>
          <p:cNvPr id="27" name="a4|icône"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61297" y="2071116"/>
            <a:ext cx="301752" cy="301752"/>
          </a:xfrm>
          <a:prstGeom prst="rect">
            <a:avLst/>
          </a:prstGeom>
        </p:spPr>
      </p:pic>
      <p:sp>
        <p:nvSpPr>
          <p:cNvPr id="28" name="a4|titre"/>
          <p:cNvSpPr txBox="1"/>
          <p:nvPr/>
        </p:nvSpPr>
        <p:spPr>
          <a:xfrm>
            <a:off x="9310421"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rPr>
              <a:t>Couverture MFA</a:t>
            </a:r>
            <a:endParaRPr lang="en-US" sz="1400" dirty="0"/>
          </a:p>
          <a:p>
            <a:pPr indent="0" marL="0">
              <a:buNone/>
            </a:pPr>
            <a:r>
              <a:rPr lang="en-US" sz="1400" dirty="0">
                <a:solidFill>
                  <a:schemeClr val="accent3"/>
                </a:solidFill>
              </a:rPr>
              <a:t>des comptes</a:t>
            </a:r>
            <a:endParaRPr lang="en-US" sz="1400" dirty="0"/>
          </a:p>
        </p:txBody>
      </p:sp>
      <p:sp>
        <p:nvSpPr>
          <p:cNvPr id="29" name="a4|sens"/>
          <p:cNvSpPr txBox="1"/>
          <p:nvPr/>
        </p:nvSpPr>
        <p:spPr>
          <a:xfrm>
            <a:off x="9310421" y="3401568"/>
            <a:ext cx="2103120" cy="274320"/>
          </a:xfrm>
          <a:prstGeom prst="rect">
            <a:avLst/>
          </a:prstGeom>
          <a:noFill/>
          <a:ln/>
        </p:spPr>
        <p:txBody>
          <a:bodyPr wrap="square" lIns="0" tIns="0" rIns="0" bIns="0" rtlCol="0" anchor="t"/>
          <a:lstStyle/>
          <a:p>
            <a:pPr indent="0" marL="0">
              <a:buNone/>
            </a:pPr>
            <a:r>
              <a:rPr lang="en-US" sz="1400" b="1" dirty="0">
                <a:solidFill>
                  <a:schemeClr val="accent2"/>
                </a:solidFill>
              </a:rPr>
              <a:t>À compléter</a:t>
            </a:r>
            <a:endParaRPr lang="en-US" sz="1400" dirty="0"/>
          </a:p>
        </p:txBody>
      </p:sp>
      <p:sp>
        <p:nvSpPr>
          <p:cNvPr id="30" name="a4|cible"/>
          <p:cNvSpPr txBox="1"/>
          <p:nvPr/>
        </p:nvSpPr>
        <p:spPr>
          <a:xfrm>
            <a:off x="9310421" y="3794760"/>
            <a:ext cx="2103120" cy="228600"/>
          </a:xfrm>
          <a:prstGeom prst="rect">
            <a:avLst/>
          </a:prstGeom>
          <a:noFill/>
          <a:ln/>
        </p:spPr>
        <p:txBody>
          <a:bodyPr wrap="square" lIns="0" tIns="0" rIns="0" bIns="0" rtlCol="0" anchor="t"/>
          <a:lstStyle/>
          <a:p>
            <a:pPr indent="0" marL="0">
              <a:buNone/>
            </a:pPr>
            <a:r>
              <a:rPr lang="en-US" sz="1100" b="1" spc="100" kern="0" dirty="0">
                <a:solidFill>
                  <a:schemeClr val="accent3"/>
                </a:solidFill>
              </a:rPr>
              <a:t>CIBLE PROPOSÉE</a:t>
            </a:r>
            <a:endParaRPr lang="en-US" sz="1100" dirty="0"/>
          </a:p>
        </p:txBody>
      </p:sp>
      <p:sp>
        <p:nvSpPr>
          <p:cNvPr id="31" name="a4|valeur"/>
          <p:cNvSpPr txBox="1"/>
          <p:nvPr/>
        </p:nvSpPr>
        <p:spPr>
          <a:xfrm>
            <a:off x="9310421" y="4041648"/>
            <a:ext cx="2103120" cy="548640"/>
          </a:xfrm>
          <a:prstGeom prst="rect">
            <a:avLst/>
          </a:prstGeom>
          <a:noFill/>
          <a:ln/>
        </p:spPr>
        <p:txBody>
          <a:bodyPr wrap="square" lIns="0" tIns="0" rIns="0" bIns="0" rtlCol="0" anchor="t"/>
          <a:lstStyle/>
          <a:p>
            <a:pPr indent="0" marL="0">
              <a:buNone/>
            </a:pPr>
            <a:r>
              <a:rPr lang="en-US" sz="1500" b="1" dirty="0">
                <a:solidFill>
                  <a:schemeClr val="tx2"/>
                </a:solidFill>
              </a:rPr>
              <a:t>100 % sous 30 jours</a:t>
            </a:r>
            <a:endParaRPr lang="en-US" sz="1500" dirty="0"/>
          </a:p>
        </p:txBody>
      </p:sp>
      <p:sp>
        <p:nvSpPr>
          <p:cNvPr id="32" name="a5|repère"/>
          <p:cNvSpPr/>
          <p:nvPr/>
        </p:nvSpPr>
        <p:spPr>
          <a:xfrm>
            <a:off x="548640" y="4892040"/>
            <a:ext cx="5440680" cy="896112"/>
          </a:xfrm>
          <a:prstGeom prst="roundRect">
            <a:avLst>
              <a:gd name="adj" fmla="val 10204"/>
            </a:avLst>
          </a:prstGeom>
          <a:solidFill>
            <a:schemeClr val="accent2">
              <a:alpha val="12000"/>
            </a:schemeClr>
          </a:solidFill>
          <a:ln/>
        </p:spPr>
      </p:sp>
      <p:sp>
        <p:nvSpPr>
          <p:cNvPr id="33" name="a5|texte"/>
          <p:cNvSpPr txBox="1"/>
          <p:nvPr/>
        </p:nvSpPr>
        <p:spPr>
          <a:xfrm>
            <a:off x="777240" y="4892040"/>
            <a:ext cx="5029200" cy="896112"/>
          </a:xfrm>
          <a:prstGeom prst="rect">
            <a:avLst/>
          </a:prstGeom>
          <a:noFill/>
          <a:ln/>
        </p:spPr>
        <p:txBody>
          <a:bodyPr wrap="square" lIns="0" tIns="0" rIns="0" bIns="0" rtlCol="0" anchor="ctr"/>
          <a:lstStyle/>
          <a:p>
            <a:pPr indent="0" marL="0">
              <a:buNone/>
            </a:pPr>
            <a:r>
              <a:rPr lang="en-US" sz="1400" b="1" dirty="0">
                <a:solidFill>
                  <a:schemeClr val="accent2"/>
                </a:solidFill>
              </a:rPr>
              <a:t>Repère : </a:t>
            </a:r>
            <a:pPr indent="0" marL="0">
              <a:buNone/>
            </a:pPr>
            <a:r>
              <a:rPr lang="en-US" sz="1400" dirty="0">
                <a:solidFill>
                  <a:schemeClr val="tx1"/>
                </a:solidFill>
              </a:rPr>
              <a:t>après une formation récente, 21 % des collaborateurs signalent un e-mail piégé, contre 5 % sans formation (Verizon DBIR 2025).</a:t>
            </a:r>
            <a:endParaRPr lang="en-US" sz="1400" dirty="0"/>
          </a:p>
        </p:txBody>
      </p:sp>
      <p:sp>
        <p:nvSpPr>
          <p:cNvPr id="34" name="a6|restitution"/>
          <p:cNvSpPr/>
          <p:nvPr/>
        </p:nvSpPr>
        <p:spPr>
          <a:xfrm>
            <a:off x="6202375" y="4892040"/>
            <a:ext cx="5440680" cy="896112"/>
          </a:xfrm>
          <a:prstGeom prst="roundRect">
            <a:avLst>
              <a:gd name="adj" fmla="val 10204"/>
            </a:avLst>
          </a:prstGeom>
          <a:solidFill>
            <a:schemeClr val="tx2"/>
          </a:solidFill>
          <a:ln/>
        </p:spPr>
      </p:sp>
      <p:sp>
        <p:nvSpPr>
          <p:cNvPr id="35" name="a6|icône"/>
          <p:cNvSpPr/>
          <p:nvPr/>
        </p:nvSpPr>
        <p:spPr>
          <a:xfrm>
            <a:off x="6400800" y="5065776"/>
            <a:ext cx="548640" cy="548640"/>
          </a:xfrm>
          <a:prstGeom prst="ellipse">
            <a:avLst/>
          </a:prstGeom>
          <a:solidFill>
            <a:schemeClr val="accent2"/>
          </a:solidFill>
          <a:ln/>
        </p:spPr>
      </p:sp>
      <p:pic>
        <p:nvPicPr>
          <p:cNvPr id="36" name="a6|icône"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537960" y="5202936"/>
            <a:ext cx="274320" cy="274320"/>
          </a:xfrm>
          <a:prstGeom prst="rect">
            <a:avLst/>
          </a:prstGeom>
        </p:spPr>
      </p:pic>
      <p:sp>
        <p:nvSpPr>
          <p:cNvPr id="37" name="a6|texte"/>
          <p:cNvSpPr txBox="1"/>
          <p:nvPr/>
        </p:nvSpPr>
        <p:spPr>
          <a:xfrm>
            <a:off x="7132320" y="4892040"/>
            <a:ext cx="4343400" cy="896112"/>
          </a:xfrm>
          <a:prstGeom prst="rect">
            <a:avLst/>
          </a:prstGeom>
          <a:noFill/>
          <a:ln/>
        </p:spPr>
        <p:txBody>
          <a:bodyPr wrap="square" lIns="0" tIns="0" rIns="0" bIns="0" rtlCol="0" anchor="ctr"/>
          <a:lstStyle/>
          <a:p>
            <a:pPr indent="0" marL="0">
              <a:buNone/>
            </a:pPr>
            <a:r>
              <a:rPr lang="en-US" sz="1400" b="1" dirty="0">
                <a:solidFill>
                  <a:schemeClr val="bg1"/>
                </a:solidFill>
              </a:rPr>
              <a:t>Restitution : un tableau de bord trimestriel d'une page présenté à la direction.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nodeType="withEffect">
                                  <p:stCondLst>
                                    <p:cond delay="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5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75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7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nodeType="withEffect">
                                  <p:stCondLst>
                                    <p:cond delay="75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75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75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75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75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100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100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125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125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nodeType="withEffect">
                                  <p:stCondLst>
                                    <p:cond delay="125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125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DÉCISIONS ATTENDUES</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Trois décisions pour aujourd'hui</a:t>
            </a:r>
            <a:endParaRPr lang="en-US" sz="3600" dirty="0"/>
          </a:p>
        </p:txBody>
      </p:sp>
      <p:sp>
        <p:nvSpPr>
          <p:cNvPr id="4" name="a1|carte"/>
          <p:cNvSpPr/>
          <p:nvPr/>
        </p:nvSpPr>
        <p:spPr>
          <a:xfrm>
            <a:off x="548640" y="1645920"/>
            <a:ext cx="3547872" cy="3520440"/>
          </a:xfrm>
          <a:prstGeom prst="roundRect">
            <a:avLst>
              <a:gd name="adj" fmla="val 2597"/>
            </a:avLst>
          </a:prstGeom>
          <a:solidFill>
            <a:schemeClr val="bg1"/>
          </a:solidFill>
          <a:ln/>
          <a:effectLst>
            <a:outerShdw sx="100000" sy="100000" kx="0" ky="0" algn="bl" rotWithShape="0" blurRad="114300" dist="25400" dir="5400000">
              <a:srgbClr val="0E2235">
                <a:alpha val="12000"/>
              </a:srgbClr>
            </a:outerShdw>
          </a:effectLst>
        </p:spPr>
      </p:sp>
      <p:sp>
        <p:nvSpPr>
          <p:cNvPr id="5" name="a1|num"/>
          <p:cNvSpPr txBox="1"/>
          <p:nvPr/>
        </p:nvSpPr>
        <p:spPr>
          <a:xfrm>
            <a:off x="822960" y="1783080"/>
            <a:ext cx="1097280" cy="1005840"/>
          </a:xfrm>
          <a:prstGeom prst="rect">
            <a:avLst/>
          </a:prstGeom>
          <a:noFill/>
          <a:ln/>
        </p:spPr>
        <p:txBody>
          <a:bodyPr wrap="square" lIns="0" tIns="0" rIns="0" bIns="0" rtlCol="0" anchor="t"/>
          <a:lstStyle/>
          <a:p>
            <a:pPr indent="0" marL="0">
              <a:buNone/>
            </a:pPr>
            <a:r>
              <a:rPr lang="en-US" sz="6400" b="1" dirty="0">
                <a:solidFill>
                  <a:schemeClr val="accent2"/>
                </a:solidFill>
              </a:rPr>
              <a:t>1</a:t>
            </a:r>
            <a:endParaRPr lang="en-US" sz="6400" dirty="0"/>
          </a:p>
        </p:txBody>
      </p:sp>
      <p:pic>
        <p:nvPicPr>
          <p:cNvPr id="6" name="a1|cas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291840" y="1965960"/>
            <a:ext cx="502920" cy="502920"/>
          </a:xfrm>
          <a:prstGeom prst="rect">
            <a:avLst/>
          </a:prstGeom>
        </p:spPr>
      </p:pic>
      <p:sp>
        <p:nvSpPr>
          <p:cNvPr id="7" name="a1|titre"/>
          <p:cNvSpPr txBox="1"/>
          <p:nvPr/>
        </p:nvSpPr>
        <p:spPr>
          <a:xfrm>
            <a:off x="822960" y="2880360"/>
            <a:ext cx="3017520" cy="914400"/>
          </a:xfrm>
          <a:prstGeom prst="rect">
            <a:avLst/>
          </a:prstGeom>
          <a:noFill/>
          <a:ln/>
        </p:spPr>
        <p:txBody>
          <a:bodyPr wrap="square" lIns="0" tIns="0" rIns="0" bIns="0" rtlCol="0" anchor="t"/>
          <a:lstStyle/>
          <a:p>
            <a:pPr indent="0" marL="0">
              <a:buNone/>
            </a:pPr>
            <a:r>
              <a:rPr lang="en-US" sz="1900" b="1" dirty="0">
                <a:solidFill>
                  <a:schemeClr val="tx2"/>
                </a:solidFill>
              </a:rPr>
              <a:t>Activer le MFA pour tous, direction comprise</a:t>
            </a:r>
            <a:endParaRPr lang="en-US" sz="1900" dirty="0"/>
          </a:p>
        </p:txBody>
      </p:sp>
      <p:sp>
        <p:nvSpPr>
          <p:cNvPr id="8" name="a1|texte"/>
          <p:cNvSpPr txBox="1"/>
          <p:nvPr/>
        </p:nvSpPr>
        <p:spPr>
          <a:xfrm>
            <a:off x="822960" y="3886200"/>
            <a:ext cx="3017520" cy="1097280"/>
          </a:xfrm>
          <a:prstGeom prst="rect">
            <a:avLst/>
          </a:prstGeom>
          <a:noFill/>
          <a:ln/>
        </p:spPr>
        <p:txBody>
          <a:bodyPr wrap="square" lIns="0" tIns="0" rIns="0" bIns="0" rtlCol="0" anchor="t"/>
          <a:lstStyle/>
          <a:p>
            <a:pPr indent="0" marL="0">
              <a:buNone/>
            </a:pPr>
            <a:r>
              <a:rPr lang="en-US" sz="1400" dirty="0">
                <a:solidFill>
                  <a:schemeClr val="tx1"/>
                </a:solidFill>
              </a:rPr>
              <a:t>Sous 30 jours. Généralement inclus dans nos abonnements actuels.</a:t>
            </a:r>
            <a:endParaRPr lang="en-US" sz="1400" dirty="0"/>
          </a:p>
        </p:txBody>
      </p:sp>
      <p:sp>
        <p:nvSpPr>
          <p:cNvPr id="9" name="a2|carte"/>
          <p:cNvSpPr/>
          <p:nvPr/>
        </p:nvSpPr>
        <p:spPr>
          <a:xfrm>
            <a:off x="4321454" y="1645920"/>
            <a:ext cx="3547872" cy="3520440"/>
          </a:xfrm>
          <a:prstGeom prst="roundRect">
            <a:avLst>
              <a:gd name="adj" fmla="val 2597"/>
            </a:avLst>
          </a:prstGeom>
          <a:solidFill>
            <a:schemeClr val="bg1"/>
          </a:solidFill>
          <a:ln/>
          <a:effectLst>
            <a:outerShdw sx="100000" sy="100000" kx="0" ky="0" algn="bl" rotWithShape="0" blurRad="114300" dist="25400" dir="5400000">
              <a:srgbClr val="0E2235">
                <a:alpha val="12000"/>
              </a:srgbClr>
            </a:outerShdw>
          </a:effectLst>
        </p:spPr>
      </p:sp>
      <p:sp>
        <p:nvSpPr>
          <p:cNvPr id="10" name="a2|num"/>
          <p:cNvSpPr txBox="1"/>
          <p:nvPr/>
        </p:nvSpPr>
        <p:spPr>
          <a:xfrm>
            <a:off x="4595774" y="1783080"/>
            <a:ext cx="1097280" cy="1005840"/>
          </a:xfrm>
          <a:prstGeom prst="rect">
            <a:avLst/>
          </a:prstGeom>
          <a:noFill/>
          <a:ln/>
        </p:spPr>
        <p:txBody>
          <a:bodyPr wrap="square" lIns="0" tIns="0" rIns="0" bIns="0" rtlCol="0" anchor="t"/>
          <a:lstStyle/>
          <a:p>
            <a:pPr indent="0" marL="0">
              <a:buNone/>
            </a:pPr>
            <a:r>
              <a:rPr lang="en-US" sz="6400" b="1" dirty="0">
                <a:solidFill>
                  <a:schemeClr val="accent2"/>
                </a:solidFill>
              </a:rPr>
              <a:t>2</a:t>
            </a:r>
            <a:endParaRPr lang="en-US" sz="6400" dirty="0"/>
          </a:p>
        </p:txBody>
      </p:sp>
      <p:pic>
        <p:nvPicPr>
          <p:cNvPr id="11" name="a2|cas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64654" y="1965960"/>
            <a:ext cx="502920" cy="502920"/>
          </a:xfrm>
          <a:prstGeom prst="rect">
            <a:avLst/>
          </a:prstGeom>
        </p:spPr>
      </p:pic>
      <p:sp>
        <p:nvSpPr>
          <p:cNvPr id="12" name="a2|titre"/>
          <p:cNvSpPr txBox="1"/>
          <p:nvPr/>
        </p:nvSpPr>
        <p:spPr>
          <a:xfrm>
            <a:off x="4595774" y="2880360"/>
            <a:ext cx="3017520" cy="914400"/>
          </a:xfrm>
          <a:prstGeom prst="rect">
            <a:avLst/>
          </a:prstGeom>
          <a:noFill/>
          <a:ln/>
        </p:spPr>
        <p:txBody>
          <a:bodyPr wrap="square" lIns="0" tIns="0" rIns="0" bIns="0" rtlCol="0" anchor="t"/>
          <a:lstStyle/>
          <a:p>
            <a:pPr indent="0" marL="0">
              <a:buNone/>
            </a:pPr>
            <a:r>
              <a:rPr lang="en-US" sz="1900" b="1" dirty="0">
                <a:solidFill>
                  <a:schemeClr val="tx2"/>
                </a:solidFill>
              </a:rPr>
              <a:t>Officialiser la double validation des virements</a:t>
            </a:r>
            <a:endParaRPr lang="en-US" sz="1900" dirty="0"/>
          </a:p>
        </p:txBody>
      </p:sp>
      <p:sp>
        <p:nvSpPr>
          <p:cNvPr id="13" name="a2|texte"/>
          <p:cNvSpPr txBox="1"/>
          <p:nvPr/>
        </p:nvSpPr>
        <p:spPr>
          <a:xfrm>
            <a:off x="4595774" y="3886200"/>
            <a:ext cx="3017520" cy="1097280"/>
          </a:xfrm>
          <a:prstGeom prst="rect">
            <a:avLst/>
          </a:prstGeom>
          <a:noFill/>
          <a:ln/>
        </p:spPr>
        <p:txBody>
          <a:bodyPr wrap="square" lIns="0" tIns="0" rIns="0" bIns="0" rtlCol="0" anchor="t"/>
          <a:lstStyle/>
          <a:p>
            <a:pPr indent="0" marL="0">
              <a:buNone/>
            </a:pPr>
            <a:r>
              <a:rPr lang="en-US" sz="1400" dirty="0">
                <a:solidFill>
                  <a:schemeClr val="tx1"/>
                </a:solidFill>
              </a:rPr>
              <a:t>Toute demande de virement ou de changement de RIB est confirmée par un second canal.</a:t>
            </a:r>
            <a:endParaRPr lang="en-US" sz="1400" dirty="0"/>
          </a:p>
        </p:txBody>
      </p:sp>
      <p:sp>
        <p:nvSpPr>
          <p:cNvPr id="14" name="a3|carte"/>
          <p:cNvSpPr/>
          <p:nvPr/>
        </p:nvSpPr>
        <p:spPr>
          <a:xfrm>
            <a:off x="8094269" y="1645920"/>
            <a:ext cx="3547872" cy="3520440"/>
          </a:xfrm>
          <a:prstGeom prst="roundRect">
            <a:avLst>
              <a:gd name="adj" fmla="val 2597"/>
            </a:avLst>
          </a:prstGeom>
          <a:solidFill>
            <a:schemeClr val="bg1"/>
          </a:solidFill>
          <a:ln/>
          <a:effectLst>
            <a:outerShdw sx="100000" sy="100000" kx="0" ky="0" algn="bl" rotWithShape="0" blurRad="114300" dist="25400" dir="5400000">
              <a:srgbClr val="0E2235">
                <a:alpha val="12000"/>
              </a:srgbClr>
            </a:outerShdw>
          </a:effectLst>
        </p:spPr>
      </p:sp>
      <p:sp>
        <p:nvSpPr>
          <p:cNvPr id="15" name="a3|num"/>
          <p:cNvSpPr txBox="1"/>
          <p:nvPr/>
        </p:nvSpPr>
        <p:spPr>
          <a:xfrm>
            <a:off x="8368589" y="1783080"/>
            <a:ext cx="1097280" cy="1005840"/>
          </a:xfrm>
          <a:prstGeom prst="rect">
            <a:avLst/>
          </a:prstGeom>
          <a:noFill/>
          <a:ln/>
        </p:spPr>
        <p:txBody>
          <a:bodyPr wrap="square" lIns="0" tIns="0" rIns="0" bIns="0" rtlCol="0" anchor="t"/>
          <a:lstStyle/>
          <a:p>
            <a:pPr indent="0" marL="0">
              <a:buNone/>
            </a:pPr>
            <a:r>
              <a:rPr lang="en-US" sz="6400" b="1" dirty="0">
                <a:solidFill>
                  <a:schemeClr val="accent2"/>
                </a:solidFill>
              </a:rPr>
              <a:t>3</a:t>
            </a:r>
            <a:endParaRPr lang="en-US" sz="6400" dirty="0"/>
          </a:p>
        </p:txBody>
      </p:sp>
      <p:pic>
        <p:nvPicPr>
          <p:cNvPr id="16" name="a3|cas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37469" y="1965960"/>
            <a:ext cx="502920" cy="502920"/>
          </a:xfrm>
          <a:prstGeom prst="rect">
            <a:avLst/>
          </a:prstGeom>
        </p:spPr>
      </p:pic>
      <p:sp>
        <p:nvSpPr>
          <p:cNvPr id="17" name="a3|titre"/>
          <p:cNvSpPr txBox="1"/>
          <p:nvPr/>
        </p:nvSpPr>
        <p:spPr>
          <a:xfrm>
            <a:off x="8368589" y="2880360"/>
            <a:ext cx="3017520" cy="914400"/>
          </a:xfrm>
          <a:prstGeom prst="rect">
            <a:avLst/>
          </a:prstGeom>
          <a:noFill/>
          <a:ln/>
        </p:spPr>
        <p:txBody>
          <a:bodyPr wrap="square" lIns="0" tIns="0" rIns="0" bIns="0" rtlCol="0" anchor="t"/>
          <a:lstStyle/>
          <a:p>
            <a:pPr indent="0" marL="0">
              <a:buNone/>
            </a:pPr>
            <a:r>
              <a:rPr lang="en-US" sz="1900" b="1" dirty="0">
                <a:solidFill>
                  <a:schemeClr val="tx2"/>
                </a:solidFill>
              </a:rPr>
              <a:t>Lancer le programme de sensibilisation</a:t>
            </a:r>
            <a:endParaRPr lang="en-US" sz="1900" dirty="0"/>
          </a:p>
        </p:txBody>
      </p:sp>
      <p:sp>
        <p:nvSpPr>
          <p:cNvPr id="18" name="a3|texte"/>
          <p:cNvSpPr txBox="1"/>
          <p:nvPr/>
        </p:nvSpPr>
        <p:spPr>
          <a:xfrm>
            <a:off x="8368589" y="3886200"/>
            <a:ext cx="3017520" cy="1097280"/>
          </a:xfrm>
          <a:prstGeom prst="rect">
            <a:avLst/>
          </a:prstGeom>
          <a:noFill/>
          <a:ln/>
        </p:spPr>
        <p:txBody>
          <a:bodyPr wrap="square" lIns="0" tIns="0" rIns="0" bIns="0" rtlCol="0" anchor="t"/>
          <a:lstStyle/>
          <a:p>
            <a:pPr indent="0" marL="0">
              <a:buNone/>
            </a:pPr>
            <a:r>
              <a:rPr lang="en-US" sz="1400" dirty="0">
                <a:solidFill>
                  <a:schemeClr val="tx1"/>
                </a:solidFill>
              </a:rPr>
              <a:t>1 h par personne et par an, simulations trimestrielles, tableau de bord à la direction.</a:t>
            </a:r>
            <a:endParaRPr lang="en-US" sz="1400" dirty="0"/>
          </a:p>
        </p:txBody>
      </p:sp>
      <p:sp>
        <p:nvSpPr>
          <p:cNvPr id="19" name="a4|bandeau"/>
          <p:cNvSpPr/>
          <p:nvPr/>
        </p:nvSpPr>
        <p:spPr>
          <a:xfrm>
            <a:off x="548640" y="5394960"/>
            <a:ext cx="11094415" cy="548640"/>
          </a:xfrm>
          <a:prstGeom prst="roundRect">
            <a:avLst>
              <a:gd name="adj" fmla="val 16667"/>
            </a:avLst>
          </a:prstGeom>
          <a:solidFill>
            <a:schemeClr val="tx2"/>
          </a:solidFill>
          <a:ln/>
        </p:spPr>
      </p:sp>
      <p:sp>
        <p:nvSpPr>
          <p:cNvPr id="20" name="a4|texte"/>
          <p:cNvSpPr txBox="1"/>
          <p:nvPr/>
        </p:nvSpPr>
        <p:spPr>
          <a:xfrm>
            <a:off x="822960" y="5394960"/>
            <a:ext cx="10545775" cy="548640"/>
          </a:xfrm>
          <a:prstGeom prst="rect">
            <a:avLst/>
          </a:prstGeom>
          <a:noFill/>
          <a:ln/>
        </p:spPr>
        <p:txBody>
          <a:bodyPr wrap="square" lIns="0" tIns="0" rIns="0" bIns="0" rtlCol="0" anchor="ctr"/>
          <a:lstStyle/>
          <a:p>
            <a:pPr indent="0" marL="0">
              <a:buNone/>
            </a:pPr>
            <a:r>
              <a:rPr lang="en-US" sz="1500" b="1" dirty="0">
                <a:solidFill>
                  <a:schemeClr val="accent4"/>
                </a:solidFill>
              </a:rPr>
              <a:t>Pilote proposé : </a:t>
            </a:r>
            <a:pPr indent="0" marL="0">
              <a:buNone/>
            </a:pPr>
            <a:r>
              <a:rPr lang="en-US" sz="1500" dirty="0">
                <a:solidFill>
                  <a:schemeClr val="bg1"/>
                </a:solidFill>
              </a:rPr>
              <a:t>le service informatique, avec un premier point d'étape à 90 jours.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7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CONCLUSION</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bg1"/>
                </a:solidFill>
              </a:rPr>
              <a:t>À retenir</a:t>
            </a:r>
            <a:endParaRPr lang="en-US" sz="3600" dirty="0"/>
          </a:p>
        </p:txBody>
      </p:sp>
      <p:sp>
        <p:nvSpPr>
          <p:cNvPr id="4" name="a1|carte"/>
          <p:cNvSpPr/>
          <p:nvPr/>
        </p:nvSpPr>
        <p:spPr>
          <a:xfrm>
            <a:off x="548640" y="1691640"/>
            <a:ext cx="3547872" cy="3246120"/>
          </a:xfrm>
          <a:prstGeom prst="roundRect">
            <a:avLst>
              <a:gd name="adj" fmla="val 2817"/>
            </a:avLst>
          </a:prstGeom>
          <a:solidFill>
            <a:schemeClr val="bg1">
              <a:alpha val="9000"/>
            </a:schemeClr>
          </a:solidFill>
          <a:ln/>
        </p:spPr>
      </p:sp>
      <p:sp>
        <p:nvSpPr>
          <p:cNvPr id="5" name="a1|icône"/>
          <p:cNvSpPr/>
          <p:nvPr/>
        </p:nvSpPr>
        <p:spPr>
          <a:xfrm>
            <a:off x="868680" y="2011680"/>
            <a:ext cx="731520" cy="731520"/>
          </a:xfrm>
          <a:prstGeom prst="ellipse">
            <a:avLst/>
          </a:prstGeom>
          <a:solidFill>
            <a:schemeClr val="accent1"/>
          </a:solidFill>
          <a:ln/>
        </p:spPr>
      </p:sp>
      <p:pic>
        <p:nvPicPr>
          <p:cNvPr id="6" name="a1|icône"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51560" y="2194560"/>
            <a:ext cx="365760" cy="365760"/>
          </a:xfrm>
          <a:prstGeom prst="rect">
            <a:avLst/>
          </a:prstGeom>
        </p:spPr>
      </p:pic>
      <p:sp>
        <p:nvSpPr>
          <p:cNvPr id="7" name="a1|titre"/>
          <p:cNvSpPr txBox="1"/>
          <p:nvPr/>
        </p:nvSpPr>
        <p:spPr>
          <a:xfrm>
            <a:off x="868680" y="2971800"/>
            <a:ext cx="2926080" cy="411480"/>
          </a:xfrm>
          <a:prstGeom prst="rect">
            <a:avLst/>
          </a:prstGeom>
          <a:noFill/>
          <a:ln/>
        </p:spPr>
        <p:txBody>
          <a:bodyPr wrap="square" lIns="0" tIns="0" rIns="0" bIns="0" rtlCol="0" anchor="t"/>
          <a:lstStyle/>
          <a:p>
            <a:pPr indent="0" marL="0">
              <a:buNone/>
            </a:pPr>
            <a:r>
              <a:rPr lang="en-US" sz="2100" b="1" dirty="0">
                <a:solidFill>
                  <a:schemeClr val="bg1"/>
                </a:solidFill>
              </a:rPr>
              <a:t>S'arrêter et vérifier</a:t>
            </a:r>
            <a:endParaRPr lang="en-US" sz="2100" dirty="0"/>
          </a:p>
        </p:txBody>
      </p:sp>
      <p:sp>
        <p:nvSpPr>
          <p:cNvPr id="8" name="a1|texte"/>
          <p:cNvSpPr txBox="1"/>
          <p:nvPr/>
        </p:nvSpPr>
        <p:spPr>
          <a:xfrm>
            <a:off x="868680" y="3474720"/>
            <a:ext cx="2926080" cy="1280160"/>
          </a:xfrm>
          <a:prstGeom prst="rect">
            <a:avLst/>
          </a:prstGeom>
          <a:noFill/>
          <a:ln/>
        </p:spPr>
        <p:txBody>
          <a:bodyPr wrap="square" lIns="0" tIns="0" rIns="0" bIns="0" rtlCol="0" anchor="t"/>
          <a:lstStyle/>
          <a:p>
            <a:pPr indent="0" marL="0">
              <a:buNone/>
            </a:pPr>
            <a:r>
              <a:rPr lang="en-US" sz="1500" dirty="0">
                <a:solidFill>
                  <a:schemeClr val="bg2"/>
                </a:solidFill>
              </a:rPr>
              <a:t>Expéditeur, lien, demande : trois secondes de doute évitent des semaines de crise.</a:t>
            </a:r>
            <a:endParaRPr lang="en-US" sz="1500" dirty="0"/>
          </a:p>
        </p:txBody>
      </p:sp>
      <p:sp>
        <p:nvSpPr>
          <p:cNvPr id="9" name="a2|carte"/>
          <p:cNvSpPr/>
          <p:nvPr/>
        </p:nvSpPr>
        <p:spPr>
          <a:xfrm>
            <a:off x="4321454" y="1691640"/>
            <a:ext cx="3547872" cy="3246120"/>
          </a:xfrm>
          <a:prstGeom prst="roundRect">
            <a:avLst>
              <a:gd name="adj" fmla="val 2817"/>
            </a:avLst>
          </a:prstGeom>
          <a:solidFill>
            <a:schemeClr val="bg1">
              <a:alpha val="9000"/>
            </a:schemeClr>
          </a:solidFill>
          <a:ln/>
        </p:spPr>
      </p:sp>
      <p:sp>
        <p:nvSpPr>
          <p:cNvPr id="10" name="a2|icône"/>
          <p:cNvSpPr/>
          <p:nvPr/>
        </p:nvSpPr>
        <p:spPr>
          <a:xfrm>
            <a:off x="4641494" y="2011680"/>
            <a:ext cx="731520" cy="731520"/>
          </a:xfrm>
          <a:prstGeom prst="ellipse">
            <a:avLst/>
          </a:prstGeom>
          <a:solidFill>
            <a:schemeClr val="accent2"/>
          </a:solidFill>
          <a:ln/>
        </p:spPr>
      </p:sp>
      <p:pic>
        <p:nvPicPr>
          <p:cNvPr id="11" name="a2|icône"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824374" y="2194560"/>
            <a:ext cx="365760" cy="365760"/>
          </a:xfrm>
          <a:prstGeom prst="rect">
            <a:avLst/>
          </a:prstGeom>
        </p:spPr>
      </p:pic>
      <p:sp>
        <p:nvSpPr>
          <p:cNvPr id="12" name="a2|titre"/>
          <p:cNvSpPr txBox="1"/>
          <p:nvPr/>
        </p:nvSpPr>
        <p:spPr>
          <a:xfrm>
            <a:off x="4641494" y="2971800"/>
            <a:ext cx="2926080" cy="411480"/>
          </a:xfrm>
          <a:prstGeom prst="rect">
            <a:avLst/>
          </a:prstGeom>
          <a:noFill/>
          <a:ln/>
        </p:spPr>
        <p:txBody>
          <a:bodyPr wrap="square" lIns="0" tIns="0" rIns="0" bIns="0" rtlCol="0" anchor="t"/>
          <a:lstStyle/>
          <a:p>
            <a:pPr indent="0" marL="0">
              <a:buNone/>
            </a:pPr>
            <a:r>
              <a:rPr lang="en-US" sz="2100" b="1" dirty="0">
                <a:solidFill>
                  <a:schemeClr val="bg1"/>
                </a:solidFill>
              </a:rPr>
              <a:t>Protéger les accès</a:t>
            </a:r>
            <a:endParaRPr lang="en-US" sz="2100" dirty="0"/>
          </a:p>
        </p:txBody>
      </p:sp>
      <p:sp>
        <p:nvSpPr>
          <p:cNvPr id="13" name="a2|texte"/>
          <p:cNvSpPr txBox="1"/>
          <p:nvPr/>
        </p:nvSpPr>
        <p:spPr>
          <a:xfrm>
            <a:off x="4641494" y="3474720"/>
            <a:ext cx="2926080" cy="1280160"/>
          </a:xfrm>
          <a:prstGeom prst="rect">
            <a:avLst/>
          </a:prstGeom>
          <a:noFill/>
          <a:ln/>
        </p:spPr>
        <p:txBody>
          <a:bodyPr wrap="square" lIns="0" tIns="0" rIns="0" bIns="0" rtlCol="0" anchor="t"/>
          <a:lstStyle/>
          <a:p>
            <a:pPr indent="0" marL="0">
              <a:buNone/>
            </a:pPr>
            <a:r>
              <a:rPr lang="en-US" sz="1500" dirty="0">
                <a:solidFill>
                  <a:schemeClr val="bg2"/>
                </a:solidFill>
              </a:rPr>
              <a:t>MFA, filtrage des e-mails et double validation des virements.</a:t>
            </a:r>
            <a:endParaRPr lang="en-US" sz="1500" dirty="0"/>
          </a:p>
        </p:txBody>
      </p:sp>
      <p:sp>
        <p:nvSpPr>
          <p:cNvPr id="14" name="a3|carte"/>
          <p:cNvSpPr/>
          <p:nvPr/>
        </p:nvSpPr>
        <p:spPr>
          <a:xfrm>
            <a:off x="8094269" y="1691640"/>
            <a:ext cx="3547872" cy="3246120"/>
          </a:xfrm>
          <a:prstGeom prst="roundRect">
            <a:avLst>
              <a:gd name="adj" fmla="val 2817"/>
            </a:avLst>
          </a:prstGeom>
          <a:solidFill>
            <a:schemeClr val="bg1">
              <a:alpha val="9000"/>
            </a:schemeClr>
          </a:solidFill>
          <a:ln/>
        </p:spPr>
      </p:sp>
      <p:sp>
        <p:nvSpPr>
          <p:cNvPr id="15" name="a3|icône"/>
          <p:cNvSpPr/>
          <p:nvPr/>
        </p:nvSpPr>
        <p:spPr>
          <a:xfrm>
            <a:off x="8414309" y="2011680"/>
            <a:ext cx="731520" cy="731520"/>
          </a:xfrm>
          <a:prstGeom prst="ellipse">
            <a:avLst/>
          </a:prstGeom>
          <a:solidFill>
            <a:schemeClr val="accent2"/>
          </a:solidFill>
          <a:ln/>
        </p:spPr>
      </p:sp>
      <p:pic>
        <p:nvPicPr>
          <p:cNvPr id="16" name="a3|icône"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97189" y="2194560"/>
            <a:ext cx="365760" cy="365760"/>
          </a:xfrm>
          <a:prstGeom prst="rect">
            <a:avLst/>
          </a:prstGeom>
        </p:spPr>
      </p:pic>
      <p:sp>
        <p:nvSpPr>
          <p:cNvPr id="17" name="a3|titre"/>
          <p:cNvSpPr txBox="1"/>
          <p:nvPr/>
        </p:nvSpPr>
        <p:spPr>
          <a:xfrm>
            <a:off x="8414309" y="2971800"/>
            <a:ext cx="2926080" cy="411480"/>
          </a:xfrm>
          <a:prstGeom prst="rect">
            <a:avLst/>
          </a:prstGeom>
          <a:noFill/>
          <a:ln/>
        </p:spPr>
        <p:txBody>
          <a:bodyPr wrap="square" lIns="0" tIns="0" rIns="0" bIns="0" rtlCol="0" anchor="t"/>
          <a:lstStyle/>
          <a:p>
            <a:pPr indent="0" marL="0">
              <a:buNone/>
            </a:pPr>
            <a:r>
              <a:rPr lang="en-US" sz="2100" b="1" dirty="0">
                <a:solidFill>
                  <a:schemeClr val="bg1"/>
                </a:solidFill>
              </a:rPr>
              <a:t>Signaler vite</a:t>
            </a:r>
            <a:endParaRPr lang="en-US" sz="2100" dirty="0"/>
          </a:p>
        </p:txBody>
      </p:sp>
      <p:sp>
        <p:nvSpPr>
          <p:cNvPr id="18" name="a3|texte"/>
          <p:cNvSpPr txBox="1"/>
          <p:nvPr/>
        </p:nvSpPr>
        <p:spPr>
          <a:xfrm>
            <a:off x="8414309" y="3474720"/>
            <a:ext cx="2926080" cy="1280160"/>
          </a:xfrm>
          <a:prstGeom prst="rect">
            <a:avLst/>
          </a:prstGeom>
          <a:noFill/>
          <a:ln/>
        </p:spPr>
        <p:txBody>
          <a:bodyPr wrap="square" lIns="0" tIns="0" rIns="0" bIns="0" rtlCol="0" anchor="t"/>
          <a:lstStyle/>
          <a:p>
            <a:pPr indent="0" marL="0">
              <a:buNone/>
            </a:pPr>
            <a:r>
              <a:rPr lang="en-US" sz="1500" dirty="0">
                <a:solidFill>
                  <a:schemeClr val="bg2"/>
                </a:solidFill>
              </a:rPr>
              <a:t>Une alerte précoce limite les dégâts : signaler sans crainte, toujours.</a:t>
            </a:r>
            <a:endParaRPr lang="en-US" sz="1500" dirty="0"/>
          </a:p>
        </p:txBody>
      </p:sp>
      <p:sp>
        <p:nvSpPr>
          <p:cNvPr id="19" name="a4|devise"/>
          <p:cNvSpPr txBox="1"/>
          <p:nvPr/>
        </p:nvSpPr>
        <p:spPr>
          <a:xfrm>
            <a:off x="548640" y="5257800"/>
            <a:ext cx="11094415" cy="548640"/>
          </a:xfrm>
          <a:prstGeom prst="rect">
            <a:avLst/>
          </a:prstGeom>
          <a:noFill/>
          <a:ln/>
        </p:spPr>
        <p:txBody>
          <a:bodyPr wrap="square" lIns="0" tIns="0" rIns="0" bIns="0" rtlCol="0" anchor="ctr"/>
          <a:lstStyle/>
          <a:p>
            <a:pPr algn="ctr" indent="0" marL="0">
              <a:buNone/>
            </a:pPr>
            <a:r>
              <a:rPr lang="en-US" sz="2400" b="1" dirty="0">
                <a:solidFill>
                  <a:schemeClr val="accent4"/>
                </a:solidFill>
              </a:rPr>
              <a:t>Dans le doute : je ne clique pas, je vérifie, je signale.</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2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2651760"/>
            <a:ext cx="68580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MERCI</a:t>
            </a:r>
            <a:endParaRPr lang="en-US" sz="1400" dirty="0"/>
          </a:p>
        </p:txBody>
      </p:sp>
      <p:sp>
        <p:nvSpPr>
          <p:cNvPr id="3" name="Text 0"/>
          <p:cNvSpPr/>
          <p:nvPr>
            <p:ph idx="100" type="title" hasCustomPrompt="1"/>
          </p:nvPr>
        </p:nvSpPr>
        <p:spPr>
          <a:xfrm>
            <a:off x="731520" y="2011680"/>
            <a:ext cx="6400800" cy="1828800"/>
          </a:xfrm>
          <a:prstGeom prst="rect">
            <a:avLst/>
          </a:prstGeom>
          <a:noFill/>
          <a:ln/>
        </p:spPr>
        <p:txBody>
          <a:bodyPr wrap="square" lIns="0" tIns="0" rIns="0" bIns="0" rtlCol="0" anchor="b"/>
          <a:lstStyle/>
          <a:p>
            <a:pPr algn="l" indent="0" marL="0">
              <a:buNone/>
            </a:pPr>
            <a:r>
              <a:rPr lang="en-US" sz="4400" b="1" dirty="0">
                <a:solidFill>
                  <a:schemeClr val="bg1"/>
                </a:solidFill>
              </a:rPr>
              <a:t>Place à vos questions</a:t>
            </a:r>
            <a:endParaRPr lang="en-US" sz="4400" dirty="0"/>
          </a:p>
        </p:txBody>
      </p:sp>
      <p:sp>
        <p:nvSpPr>
          <p:cNvPr id="4" name="Text 0"/>
          <p:cNvSpPr/>
          <p:nvPr>
            <p:ph idx="101" type="body" hasCustomPrompt="1"/>
          </p:nvPr>
        </p:nvSpPr>
        <p:spPr>
          <a:xfrm>
            <a:off x="731520" y="4114800"/>
            <a:ext cx="6400800" cy="822960"/>
          </a:xfrm>
          <a:prstGeom prst="rect">
            <a:avLst/>
          </a:prstGeom>
          <a:noFill/>
          <a:ln/>
        </p:spPr>
        <p:txBody>
          <a:bodyPr wrap="square" lIns="0" tIns="0" rIns="0" bIns="0" rtlCol="0" anchor="t"/>
          <a:lstStyle/>
          <a:p>
            <a:pPr algn="l" indent="0" marL="0">
              <a:buNone/>
            </a:pPr>
            <a:r>
              <a:rPr lang="en-US" sz="2000" dirty="0">
                <a:solidFill>
                  <a:schemeClr val="bg2"/>
                </a:solidFill>
              </a:rPr>
              <a:t>Dans le doute : je ne clique pas, je vérifie, je signale.</a:t>
            </a:r>
            <a:endParaRPr lang="en-US" sz="2000" dirty="0"/>
          </a:p>
        </p:txBody>
      </p:sp>
      <p:sp>
        <p:nvSpPr>
          <p:cNvPr id="5" name="Text 3"/>
          <p:cNvSpPr txBox="1"/>
          <p:nvPr/>
        </p:nvSpPr>
        <p:spPr>
          <a:xfrm>
            <a:off x="731520" y="5074920"/>
            <a:ext cx="5943600" cy="594360"/>
          </a:xfrm>
          <a:prstGeom prst="rect">
            <a:avLst/>
          </a:prstGeom>
          <a:noFill/>
          <a:ln/>
        </p:spPr>
        <p:txBody>
          <a:bodyPr wrap="square" lIns="0" tIns="0" rIns="0" bIns="0" rtlCol="0" anchor="t"/>
          <a:lstStyle/>
          <a:p>
            <a:pPr indent="0" marL="0">
              <a:buNone/>
            </a:pPr>
            <a:r>
              <a:rPr lang="en-US" sz="1500" b="1" dirty="0">
                <a:solidFill>
                  <a:schemeClr val="bg1"/>
                </a:solidFill>
              </a:rPr>
              <a:t>Service informatique · Tafré Mefré</a:t>
            </a:r>
            <a:endParaRPr lang="en-US" sz="1500" dirty="0"/>
          </a:p>
          <a:p>
            <a:pPr indent="0" marL="0">
              <a:buNone/>
            </a:pPr>
            <a:r>
              <a:rPr lang="en-US" sz="1500" dirty="0">
                <a:solidFill>
                  <a:schemeClr val="bg2"/>
                </a:solidFill>
              </a:rPr>
              <a:t>17Cyber.gouv.fr · cybermalveillance.gouv.fr</a:t>
            </a:r>
            <a:endParaRPr lang="en-US" sz="1500" dirty="0"/>
          </a:p>
        </p:txBody>
      </p:sp>
      <p:sp>
        <p:nvSpPr>
          <p:cNvPr id="6" name="a1|disque"/>
          <p:cNvSpPr/>
          <p:nvPr/>
        </p:nvSpPr>
        <p:spPr>
          <a:xfrm>
            <a:off x="8275320" y="2057400"/>
            <a:ext cx="2743200" cy="2743200"/>
          </a:xfrm>
          <a:prstGeom prst="ellipse">
            <a:avLst/>
          </a:prstGeom>
          <a:solidFill>
            <a:schemeClr val="accent1"/>
          </a:solidFill>
          <a:ln/>
        </p:spPr>
      </p:sp>
      <p:pic>
        <p:nvPicPr>
          <p:cNvPr id="7" name="a1|hameçon" descr="Hameçon, symbole du phishing">    </p:cNvPr>
          <p:cNvPicPr>
            <a:picLocks noChangeAspect="1"/>
          </p:cNvPicPr>
          <p:nvPr/>
        </p:nvPicPr>
        <p:blipFill>
          <a:blip r:embed="rId1"/>
          <a:stretch>
            <a:fillRect/>
          </a:stretch>
        </p:blipFill>
        <p:spPr>
          <a:xfrm>
            <a:off x="8878824" y="2660904"/>
            <a:ext cx="1536192" cy="153619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ANNEXE</a:t>
            </a:r>
            <a:endParaRPr lang="en-US" sz="14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Sources</a:t>
            </a:r>
            <a:endParaRPr lang="en-US" sz="3600" dirty="0"/>
          </a:p>
        </p:txBody>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700784"/>
            <a:ext cx="274320" cy="274320"/>
          </a:xfrm>
          <a:prstGeom prst="rect">
            <a:avLst/>
          </a:prstGeom>
        </p:spPr>
      </p:pic>
      <p:sp>
        <p:nvSpPr>
          <p:cNvPr id="5" name="Text 2"/>
          <p:cNvSpPr txBox="1"/>
          <p:nvPr/>
        </p:nvSpPr>
        <p:spPr>
          <a:xfrm>
            <a:off x="1005840" y="1645920"/>
            <a:ext cx="10637215" cy="603504"/>
          </a:xfrm>
          <a:prstGeom prst="rect">
            <a:avLst/>
          </a:prstGeom>
          <a:noFill/>
          <a:ln/>
        </p:spPr>
        <p:txBody>
          <a:bodyPr wrap="square" lIns="0" tIns="0" rIns="0" bIns="0" rtlCol="0" anchor="t"/>
          <a:lstStyle/>
          <a:p>
            <a:pPr indent="0" marL="0">
              <a:buNone/>
            </a:pPr>
            <a:r>
              <a:rPr lang="en-US" sz="1400" b="1" dirty="0">
                <a:solidFill>
                  <a:schemeClr val="tx2"/>
                </a:solidFill>
              </a:rPr>
              <a:t>Cybermalveillance.gouv.fr / OpinionWay — </a:t>
            </a:r>
            <a:pPr indent="0" marL="0">
              <a:buNone/>
            </a:pPr>
            <a:r>
              <a:rPr lang="en-US" sz="1400" dirty="0">
                <a:solidFill>
                  <a:schemeClr val="tx1"/>
                </a:solidFill>
              </a:rPr>
              <a:t>Baromètre national de la maturité cyber des TPE-PME, 2e édition, octobre 2025. 588 entreprises de moins de 250 salariés, interrogées du 2 juin au 7 juillet 2025.</a:t>
            </a:r>
            <a:endParaRPr lang="en-US" sz="1400" dirty="0"/>
          </a:p>
        </p:txBody>
      </p:sp>
      <p:pic>
        <p:nvPicPr>
          <p:cNvPr id="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 y="2368296"/>
            <a:ext cx="274320" cy="274320"/>
          </a:xfrm>
          <a:prstGeom prst="rect">
            <a:avLst/>
          </a:prstGeom>
        </p:spPr>
      </p:pic>
      <p:sp>
        <p:nvSpPr>
          <p:cNvPr id="7" name="Text 3"/>
          <p:cNvSpPr txBox="1"/>
          <p:nvPr/>
        </p:nvSpPr>
        <p:spPr>
          <a:xfrm>
            <a:off x="1005840" y="2313432"/>
            <a:ext cx="10637215" cy="603504"/>
          </a:xfrm>
          <a:prstGeom prst="rect">
            <a:avLst/>
          </a:prstGeom>
          <a:noFill/>
          <a:ln/>
        </p:spPr>
        <p:txBody>
          <a:bodyPr wrap="square" lIns="0" tIns="0" rIns="0" bIns="0" rtlCol="0" anchor="t"/>
          <a:lstStyle/>
          <a:p>
            <a:pPr indent="0" marL="0">
              <a:buNone/>
            </a:pPr>
            <a:r>
              <a:rPr lang="en-US" sz="1400" b="1" dirty="0">
                <a:solidFill>
                  <a:schemeClr val="tx2"/>
                </a:solidFill>
              </a:rPr>
              <a:t>Cybermalveillance.gouv.fr — </a:t>
            </a:r>
            <a:pPr indent="0" marL="0">
              <a:buNone/>
            </a:pPr>
            <a:r>
              <a:rPr lang="en-US" sz="1400" dirty="0">
                <a:solidFill>
                  <a:schemeClr val="tx1"/>
                </a:solidFill>
              </a:rPr>
              <a:t>Rapport d'activité et état de la menace 2025, mars 2026 (504 810 demandes d'assistance, +73 % pour les entreprises et associations).</a:t>
            </a:r>
            <a:endParaRPr lang="en-US" sz="140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48640" y="3035808"/>
            <a:ext cx="274320" cy="274320"/>
          </a:xfrm>
          <a:prstGeom prst="rect">
            <a:avLst/>
          </a:prstGeom>
        </p:spPr>
      </p:pic>
      <p:sp>
        <p:nvSpPr>
          <p:cNvPr id="9" name="Text 4"/>
          <p:cNvSpPr txBox="1"/>
          <p:nvPr/>
        </p:nvSpPr>
        <p:spPr>
          <a:xfrm>
            <a:off x="1005840" y="2980944"/>
            <a:ext cx="10637215" cy="603504"/>
          </a:xfrm>
          <a:prstGeom prst="rect">
            <a:avLst/>
          </a:prstGeom>
          <a:noFill/>
          <a:ln/>
        </p:spPr>
        <p:txBody>
          <a:bodyPr wrap="square" lIns="0" tIns="0" rIns="0" bIns="0" rtlCol="0" anchor="t"/>
          <a:lstStyle/>
          <a:p>
            <a:pPr indent="0" marL="0">
              <a:buNone/>
            </a:pPr>
            <a:r>
              <a:rPr lang="en-US" sz="1400" b="1" dirty="0">
                <a:solidFill>
                  <a:schemeClr val="tx2"/>
                </a:solidFill>
              </a:rPr>
              <a:t>Verizon — </a:t>
            </a:r>
            <a:pPr indent="0" marL="0">
              <a:buNone/>
            </a:pPr>
            <a:r>
              <a:rPr lang="en-US" sz="1400" dirty="0">
                <a:solidFill>
                  <a:schemeClr val="tx1"/>
                </a:solidFill>
              </a:rPr>
              <a:t>Data Breach Investigations Report (DBIR) 2025 : facteur humain, vecteurs d'accès initial, effet de la formation sur les signalements.</a:t>
            </a:r>
            <a:endParaRPr lang="en-US" sz="1400" dirty="0"/>
          </a:p>
        </p:txBody>
      </p:sp>
      <p:pic>
        <p:nvPicPr>
          <p:cNvPr id="10"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48640" y="3703320"/>
            <a:ext cx="274320" cy="274320"/>
          </a:xfrm>
          <a:prstGeom prst="rect">
            <a:avLst/>
          </a:prstGeom>
        </p:spPr>
      </p:pic>
      <p:sp>
        <p:nvSpPr>
          <p:cNvPr id="11" name="Text 5"/>
          <p:cNvSpPr txBox="1"/>
          <p:nvPr/>
        </p:nvSpPr>
        <p:spPr>
          <a:xfrm>
            <a:off x="1005840" y="3648456"/>
            <a:ext cx="10637215" cy="603504"/>
          </a:xfrm>
          <a:prstGeom prst="rect">
            <a:avLst/>
          </a:prstGeom>
          <a:noFill/>
          <a:ln/>
        </p:spPr>
        <p:txBody>
          <a:bodyPr wrap="square" lIns="0" tIns="0" rIns="0" bIns="0" rtlCol="0" anchor="t"/>
          <a:lstStyle/>
          <a:p>
            <a:pPr indent="0" marL="0">
              <a:buNone/>
            </a:pPr>
            <a:r>
              <a:rPr lang="en-US" sz="1400" b="1" dirty="0">
                <a:solidFill>
                  <a:schemeClr val="tx2"/>
                </a:solidFill>
              </a:rPr>
              <a:t>Microsoft Research — </a:t>
            </a:r>
            <a:pPr indent="0" marL="0">
              <a:buNone/>
            </a:pPr>
            <a:r>
              <a:rPr lang="en-US" sz="1400" dirty="0">
                <a:solidFill>
                  <a:schemeClr val="tx1"/>
                </a:solidFill>
              </a:rPr>
              <a:t>« How effective is multifactor authentication at deterring cyberattacks? », 2023 : −99,2 % de risque de compromission avec MFA.</a:t>
            </a:r>
            <a:endParaRPr lang="en-US" sz="1400" dirty="0"/>
          </a:p>
        </p:txBody>
      </p:sp>
      <p:pic>
        <p:nvPicPr>
          <p:cNvPr id="12"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48640" y="4370832"/>
            <a:ext cx="274320" cy="274320"/>
          </a:xfrm>
          <a:prstGeom prst="rect">
            <a:avLst/>
          </a:prstGeom>
        </p:spPr>
      </p:pic>
      <p:sp>
        <p:nvSpPr>
          <p:cNvPr id="13" name="Text 6"/>
          <p:cNvSpPr txBox="1"/>
          <p:nvPr/>
        </p:nvSpPr>
        <p:spPr>
          <a:xfrm>
            <a:off x="1005840" y="4315968"/>
            <a:ext cx="10637215" cy="603504"/>
          </a:xfrm>
          <a:prstGeom prst="rect">
            <a:avLst/>
          </a:prstGeom>
          <a:noFill/>
          <a:ln/>
        </p:spPr>
        <p:txBody>
          <a:bodyPr wrap="square" lIns="0" tIns="0" rIns="0" bIns="0" rtlCol="0" anchor="t"/>
          <a:lstStyle/>
          <a:p>
            <a:pPr indent="0" marL="0">
              <a:buNone/>
            </a:pPr>
            <a:r>
              <a:rPr lang="en-US" sz="1400" b="1" dirty="0">
                <a:solidFill>
                  <a:schemeClr val="tx2"/>
                </a:solidFill>
              </a:rPr>
              <a:t>Textes de loi — </a:t>
            </a:r>
            <a:pPr indent="0" marL="0">
              <a:buNone/>
            </a:pPr>
            <a:r>
              <a:rPr lang="en-US" sz="1400" dirty="0">
                <a:solidFill>
                  <a:schemeClr val="tx1"/>
                </a:solidFill>
              </a:rPr>
              <a:t>Code des assurances, art. L12-10-1 (loi LOPMI du 24 janvier 2023) ; RGPD, art. 33 (notification à la CNIL sous 72 h).</a:t>
            </a:r>
            <a:endParaRPr lang="en-US" sz="1400" dirty="0"/>
          </a:p>
        </p:txBody>
      </p:sp>
      <p:pic>
        <p:nvPicPr>
          <p:cNvPr id="14"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48640" y="5038344"/>
            <a:ext cx="274320" cy="274320"/>
          </a:xfrm>
          <a:prstGeom prst="rect">
            <a:avLst/>
          </a:prstGeom>
        </p:spPr>
      </p:pic>
      <p:sp>
        <p:nvSpPr>
          <p:cNvPr id="15" name="Text 7"/>
          <p:cNvSpPr txBox="1"/>
          <p:nvPr/>
        </p:nvSpPr>
        <p:spPr>
          <a:xfrm>
            <a:off x="1005840" y="4983480"/>
            <a:ext cx="10637215" cy="603504"/>
          </a:xfrm>
          <a:prstGeom prst="rect">
            <a:avLst/>
          </a:prstGeom>
          <a:noFill/>
          <a:ln/>
        </p:spPr>
        <p:txBody>
          <a:bodyPr wrap="square" lIns="0" tIns="0" rIns="0" bIns="0" rtlCol="0" anchor="t"/>
          <a:lstStyle/>
          <a:p>
            <a:pPr indent="0" marL="0">
              <a:buNone/>
            </a:pPr>
            <a:r>
              <a:rPr lang="en-US" sz="1400" b="1" dirty="0">
                <a:solidFill>
                  <a:schemeClr val="tx2"/>
                </a:solidFill>
              </a:rPr>
              <a:t>Affaire Arup — </a:t>
            </a:r>
            <a:pPr indent="0" marL="0">
              <a:buNone/>
            </a:pPr>
            <a:r>
              <a:rPr lang="en-US" sz="1400" dirty="0">
                <a:solidFill>
                  <a:schemeClr val="tx1"/>
                </a:solidFill>
              </a:rPr>
              <a:t>Fraude par deepfake en visioconférence, Hong Kong, janvier 2024 (≈ 25 M$), confirmée par l'entreprise en mai 2024.</a:t>
            </a:r>
            <a:endParaRPr lang="en-US" sz="1400" dirty="0"/>
          </a:p>
        </p:txBody>
      </p:sp>
      <p:sp>
        <p:nvSpPr>
          <p:cNvPr id="16" name="Text 8"/>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200" i="1" dirty="0">
                <a:solidFill>
                  <a:schemeClr val="accent3"/>
                </a:solidFill>
              </a:rPr>
              <a:t>Chiffres arrondis tels que publiés ; ils peuvent évoluer d'une édition à l'autre. Le scénario du faux RIB et les e-mails du quiz sont fictifs.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transition spd="med">
    <p:fade/>
  </p:transition>
</p:sld>
</file>

<file path=ppt/theme/theme1.xml><?xml version="1.0" encoding="utf-8"?>
<a:theme xmlns:a="http://schemas.openxmlformats.org/drawingml/2006/main" name="Hameçon">
  <a:themeElements>
    <a:clrScheme name="Hameçon">
      <a:dk1>
        <a:srgbClr val="14212E"/>
      </a:dk1>
      <a:lt1>
        <a:srgbClr val="FFFFFF"/>
      </a:lt1>
      <a:dk2>
        <a:srgbClr val="0E2235"/>
      </a:dk2>
      <a:lt2>
        <a:srgbClr val="EEF3F7"/>
      </a:lt2>
      <a:accent1>
        <a:srgbClr val="E8531F"/>
      </a:accent1>
      <a:accent2>
        <a:srgbClr val="0F7C76"/>
      </a:accent2>
      <a:accent3>
        <a:srgbClr val="4E6A84"/>
      </a:accent3>
      <a:accent4>
        <a:srgbClr val="F2A900"/>
      </a:accent4>
      <a:accent5>
        <a:srgbClr val="C62F3B"/>
      </a:accent5>
      <a:accent6>
        <a:srgbClr val="2E9E5B"/>
      </a:accent6>
      <a:hlink>
        <a:srgbClr val="0F7C76"/>
      </a:hlink>
      <a:folHlink>
        <a:srgbClr val="4E6A84"/>
      </a:folHlink>
    </a:clrScheme>
    <a:fontScheme name="Hameç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 ne mordez pas à l'hameçon</dc:title>
  <dc:subject>Sensibilisation au phishing et plan d'action pour l'entreprise</dc:subject>
  <dc:creator>Tafré Mefré</dc:creator>
  <cp:lastModifiedBy>Tafré Mefré</cp:lastModifiedBy>
  <cp:revision>1</cp:revision>
  <dcterms:created xsi:type="dcterms:W3CDTF">2026-10-06T14:05:24Z</dcterms:created>
  <dcterms:modified xsi:type="dcterms:W3CDTF">2026-10-06T14:05:24Z</dcterms:modified>
</cp:coreProperties>
</file>